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0" i="0">
                <a:solidFill>
                  <a:srgbClr val="052F7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0">
                <a:solidFill>
                  <a:srgbClr val="052F7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25300" y="8242300"/>
            <a:ext cx="1016000" cy="9906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0500" y="6413500"/>
            <a:ext cx="3213100" cy="406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7200" y="3022600"/>
            <a:ext cx="4279900" cy="33147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80600" y="5905500"/>
            <a:ext cx="1651000" cy="12573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26600" y="3238500"/>
            <a:ext cx="1981200" cy="11176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014200" y="4483100"/>
            <a:ext cx="1422400" cy="1511300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256116" y="266700"/>
            <a:ext cx="0" cy="9343390"/>
          </a:xfrm>
          <a:custGeom>
            <a:avLst/>
            <a:gdLst/>
            <a:ahLst/>
            <a:cxnLst/>
            <a:rect l="l" t="t" r="r" b="b"/>
            <a:pathLst>
              <a:path w="0" h="9343390">
                <a:moveTo>
                  <a:pt x="0" y="9342967"/>
                </a:moveTo>
                <a:lnTo>
                  <a:pt x="0" y="0"/>
                </a:lnTo>
              </a:path>
            </a:pathLst>
          </a:custGeom>
          <a:ln w="21166">
            <a:solidFill>
              <a:srgbClr val="345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7159812" y="266700"/>
            <a:ext cx="0" cy="9165590"/>
          </a:xfrm>
          <a:custGeom>
            <a:avLst/>
            <a:gdLst/>
            <a:ahLst/>
            <a:cxnLst/>
            <a:rect l="l" t="t" r="r" b="b"/>
            <a:pathLst>
              <a:path w="0" h="9165590">
                <a:moveTo>
                  <a:pt x="0" y="9165167"/>
                </a:moveTo>
                <a:lnTo>
                  <a:pt x="0" y="0"/>
                </a:lnTo>
              </a:path>
            </a:pathLst>
          </a:custGeom>
          <a:ln w="21166">
            <a:solidFill>
              <a:srgbClr val="345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245533" y="277283"/>
            <a:ext cx="16925290" cy="0"/>
          </a:xfrm>
          <a:custGeom>
            <a:avLst/>
            <a:gdLst/>
            <a:ahLst/>
            <a:cxnLst/>
            <a:rect l="l" t="t" r="r" b="b"/>
            <a:pathLst>
              <a:path w="16925290" h="0">
                <a:moveTo>
                  <a:pt x="0" y="0"/>
                </a:moveTo>
                <a:lnTo>
                  <a:pt x="16924867" y="0"/>
                </a:lnTo>
              </a:path>
            </a:pathLst>
          </a:custGeom>
          <a:ln w="21166">
            <a:solidFill>
              <a:srgbClr val="345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245533" y="9599083"/>
            <a:ext cx="15756890" cy="0"/>
          </a:xfrm>
          <a:custGeom>
            <a:avLst/>
            <a:gdLst/>
            <a:ahLst/>
            <a:cxnLst/>
            <a:rect l="l" t="t" r="r" b="b"/>
            <a:pathLst>
              <a:path w="15756890" h="0">
                <a:moveTo>
                  <a:pt x="0" y="0"/>
                </a:moveTo>
                <a:lnTo>
                  <a:pt x="15756467" y="0"/>
                </a:lnTo>
              </a:path>
            </a:pathLst>
          </a:custGeom>
          <a:ln w="21166">
            <a:solidFill>
              <a:srgbClr val="345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245533" y="7863416"/>
            <a:ext cx="16925290" cy="0"/>
          </a:xfrm>
          <a:custGeom>
            <a:avLst/>
            <a:gdLst/>
            <a:ahLst/>
            <a:cxnLst/>
            <a:rect l="l" t="t" r="r" b="b"/>
            <a:pathLst>
              <a:path w="16925290" h="0">
                <a:moveTo>
                  <a:pt x="0" y="0"/>
                </a:moveTo>
                <a:lnTo>
                  <a:pt x="16924867" y="0"/>
                </a:lnTo>
              </a:path>
            </a:pathLst>
          </a:custGeom>
          <a:ln w="21166">
            <a:solidFill>
              <a:srgbClr val="34578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7" name="bg 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24900" y="2463800"/>
            <a:ext cx="25400" cy="11430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724900" y="4038600"/>
            <a:ext cx="25400" cy="11430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724900" y="4216400"/>
            <a:ext cx="25400" cy="114300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633200" y="8064500"/>
            <a:ext cx="38100" cy="1244600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724900" y="4394200"/>
            <a:ext cx="38100" cy="114300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724900" y="4914900"/>
            <a:ext cx="25400" cy="127000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724900" y="5092700"/>
            <a:ext cx="25400" cy="114300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724900" y="5448300"/>
            <a:ext cx="25400" cy="114300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724900" y="2641600"/>
            <a:ext cx="25400" cy="279400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724900" y="6858000"/>
            <a:ext cx="25400" cy="279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0">
                <a:solidFill>
                  <a:srgbClr val="052F7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2400300"/>
            <a:ext cx="15722600" cy="6108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0">
                <a:solidFill>
                  <a:srgbClr val="052F7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23900" y="277283"/>
            <a:ext cx="16044544" cy="0"/>
          </a:xfrm>
          <a:custGeom>
            <a:avLst/>
            <a:gdLst/>
            <a:ahLst/>
            <a:cxnLst/>
            <a:rect l="l" t="t" r="r" b="b"/>
            <a:pathLst>
              <a:path w="16044544" h="0">
                <a:moveTo>
                  <a:pt x="0" y="0"/>
                </a:moveTo>
                <a:lnTo>
                  <a:pt x="16044334" y="0"/>
                </a:lnTo>
              </a:path>
            </a:pathLst>
          </a:custGeom>
          <a:ln w="29633">
            <a:solidFill>
              <a:srgbClr val="6B7C83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0" y="0"/>
            <a:ext cx="17221200" cy="508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9182100"/>
            <a:ext cx="15938500" cy="5715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40100" y="8356600"/>
            <a:ext cx="1168400" cy="1041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9197" y="341841"/>
            <a:ext cx="15432036" cy="1893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0" i="0">
                <a:solidFill>
                  <a:srgbClr val="052F7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8441" y="3650837"/>
            <a:ext cx="13689965" cy="3675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26.jpg"/><Relationship Id="rId8" Type="http://schemas.openxmlformats.org/officeDocument/2006/relationships/image" Target="../media/image27.jpg"/><Relationship Id="rId9" Type="http://schemas.openxmlformats.org/officeDocument/2006/relationships/image" Target="../media/image28.jpg"/><Relationship Id="rId10" Type="http://schemas.openxmlformats.org/officeDocument/2006/relationships/image" Target="../media/image29.jpg"/><Relationship Id="rId11" Type="http://schemas.openxmlformats.org/officeDocument/2006/relationships/image" Target="../media/image30.png"/><Relationship Id="rId12" Type="http://schemas.openxmlformats.org/officeDocument/2006/relationships/image" Target="../media/image31.jpg"/><Relationship Id="rId13" Type="http://schemas.openxmlformats.org/officeDocument/2006/relationships/image" Target="../media/image32.jpg"/><Relationship Id="rId14" Type="http://schemas.openxmlformats.org/officeDocument/2006/relationships/image" Target="../media/image33.jpg"/><Relationship Id="rId15" Type="http://schemas.openxmlformats.org/officeDocument/2006/relationships/image" Target="../media/image34.jpg"/><Relationship Id="rId16" Type="http://schemas.openxmlformats.org/officeDocument/2006/relationships/image" Target="../media/image3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Relationship Id="rId7" Type="http://schemas.openxmlformats.org/officeDocument/2006/relationships/image" Target="../media/image42.jpg"/><Relationship Id="rId8" Type="http://schemas.openxmlformats.org/officeDocument/2006/relationships/image" Target="../media/image43.jp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jpg"/><Relationship Id="rId13" Type="http://schemas.openxmlformats.org/officeDocument/2006/relationships/image" Target="../media/image48.jpg"/><Relationship Id="rId14" Type="http://schemas.openxmlformats.org/officeDocument/2006/relationships/image" Target="../media/image49.png"/><Relationship Id="rId15" Type="http://schemas.openxmlformats.org/officeDocument/2006/relationships/image" Target="../media/image50.jpg"/><Relationship Id="rId16" Type="http://schemas.openxmlformats.org/officeDocument/2006/relationships/image" Target="../media/image51.jpg"/><Relationship Id="rId17" Type="http://schemas.openxmlformats.org/officeDocument/2006/relationships/image" Target="../media/image52.jpg"/><Relationship Id="rId18" Type="http://schemas.openxmlformats.org/officeDocument/2006/relationships/image" Target="../media/image5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jpg"/><Relationship Id="rId3" Type="http://schemas.openxmlformats.org/officeDocument/2006/relationships/image" Target="../media/image55.jp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jpg"/><Relationship Id="rId3" Type="http://schemas.openxmlformats.org/officeDocument/2006/relationships/image" Target="../media/image60.jpg"/><Relationship Id="rId4" Type="http://schemas.openxmlformats.org/officeDocument/2006/relationships/image" Target="../media/image61.jpg"/><Relationship Id="rId5" Type="http://schemas.openxmlformats.org/officeDocument/2006/relationships/image" Target="../media/image6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jpg"/><Relationship Id="rId3" Type="http://schemas.openxmlformats.org/officeDocument/2006/relationships/image" Target="../media/image6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jp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74.png"/><Relationship Id="rId11" Type="http://schemas.openxmlformats.org/officeDocument/2006/relationships/image" Target="../media/image7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jpg"/><Relationship Id="rId3" Type="http://schemas.openxmlformats.org/officeDocument/2006/relationships/image" Target="../media/image78.jpg"/><Relationship Id="rId4" Type="http://schemas.openxmlformats.org/officeDocument/2006/relationships/image" Target="../media/image79.jpg"/><Relationship Id="rId5" Type="http://schemas.openxmlformats.org/officeDocument/2006/relationships/image" Target="../media/image80.jpg"/><Relationship Id="rId6" Type="http://schemas.openxmlformats.org/officeDocument/2006/relationships/image" Target="../media/image81.jpg"/><Relationship Id="rId7" Type="http://schemas.openxmlformats.org/officeDocument/2006/relationships/image" Target="../media/image82.jpg"/><Relationship Id="rId8" Type="http://schemas.openxmlformats.org/officeDocument/2006/relationships/image" Target="../media/image83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jpg"/><Relationship Id="rId3" Type="http://schemas.openxmlformats.org/officeDocument/2006/relationships/image" Target="../media/image85.jpg"/><Relationship Id="rId4" Type="http://schemas.openxmlformats.org/officeDocument/2006/relationships/image" Target="../media/image86.png"/><Relationship Id="rId5" Type="http://schemas.openxmlformats.org/officeDocument/2006/relationships/image" Target="../media/image87.jpg"/><Relationship Id="rId6" Type="http://schemas.openxmlformats.org/officeDocument/2006/relationships/image" Target="../media/image88.jpg"/><Relationship Id="rId7" Type="http://schemas.openxmlformats.org/officeDocument/2006/relationships/image" Target="../media/image89.jpg"/><Relationship Id="rId8" Type="http://schemas.openxmlformats.org/officeDocument/2006/relationships/image" Target="../media/image90.jpg"/><Relationship Id="rId9" Type="http://schemas.openxmlformats.org/officeDocument/2006/relationships/image" Target="../media/image91.jpg"/><Relationship Id="rId10" Type="http://schemas.openxmlformats.org/officeDocument/2006/relationships/image" Target="../media/image92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jpg"/><Relationship Id="rId3" Type="http://schemas.openxmlformats.org/officeDocument/2006/relationships/image" Target="../media/image9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5641" rIns="0" bIns="0" rtlCol="0" vert="horz">
            <a:spAutoFit/>
          </a:bodyPr>
          <a:lstStyle/>
          <a:p>
            <a:pPr algn="ctr" marL="429259">
              <a:lnSpc>
                <a:spcPct val="100000"/>
              </a:lnSpc>
              <a:spcBef>
                <a:spcPts val="885"/>
              </a:spcBef>
            </a:pPr>
            <a:r>
              <a:rPr dirty="0" sz="5950" spc="-280">
                <a:solidFill>
                  <a:srgbClr val="0746A7"/>
                </a:solidFill>
              </a:rPr>
              <a:t>The</a:t>
            </a:r>
            <a:r>
              <a:rPr dirty="0" sz="5950" spc="-520">
                <a:solidFill>
                  <a:srgbClr val="0746A7"/>
                </a:solidFill>
              </a:rPr>
              <a:t> </a:t>
            </a:r>
            <a:r>
              <a:rPr dirty="0" sz="5950" spc="-114">
                <a:solidFill>
                  <a:srgbClr val="033D9C"/>
                </a:solidFill>
              </a:rPr>
              <a:t>Blueprint:</a:t>
            </a:r>
            <a:r>
              <a:rPr dirty="0" sz="5950" spc="-355">
                <a:solidFill>
                  <a:srgbClr val="033D9C"/>
                </a:solidFill>
              </a:rPr>
              <a:t> </a:t>
            </a:r>
            <a:r>
              <a:rPr dirty="0" sz="5950" spc="-200">
                <a:solidFill>
                  <a:srgbClr val="0844A5"/>
                </a:solidFill>
              </a:rPr>
              <a:t>Decoding</a:t>
            </a:r>
            <a:r>
              <a:rPr dirty="0" sz="5950" spc="-270">
                <a:solidFill>
                  <a:srgbClr val="0844A5"/>
                </a:solidFill>
              </a:rPr>
              <a:t> </a:t>
            </a:r>
            <a:r>
              <a:rPr dirty="0" sz="5950" spc="-140">
                <a:solidFill>
                  <a:srgbClr val="073F9C"/>
                </a:solidFill>
              </a:rPr>
              <a:t>Project</a:t>
            </a:r>
            <a:r>
              <a:rPr dirty="0" sz="5950" spc="-100">
                <a:solidFill>
                  <a:srgbClr val="073F9C"/>
                </a:solidFill>
              </a:rPr>
              <a:t> </a:t>
            </a:r>
            <a:r>
              <a:rPr dirty="0" sz="5950" spc="-150">
                <a:solidFill>
                  <a:srgbClr val="03419C"/>
                </a:solidFill>
              </a:rPr>
              <a:t>Documentation</a:t>
            </a:r>
            <a:endParaRPr sz="5950"/>
          </a:p>
          <a:p>
            <a:pPr algn="ctr" marL="516255">
              <a:lnSpc>
                <a:spcPct val="100000"/>
              </a:lnSpc>
              <a:spcBef>
                <a:spcPts val="360"/>
              </a:spcBef>
            </a:pPr>
            <a:r>
              <a:rPr dirty="0" sz="2700" spc="-254">
                <a:solidFill>
                  <a:srgbClr val="031331"/>
                </a:solidFill>
              </a:rPr>
              <a:t>A</a:t>
            </a:r>
            <a:r>
              <a:rPr dirty="0" sz="2700" spc="55">
                <a:solidFill>
                  <a:srgbClr val="031331"/>
                </a:solidFill>
              </a:rPr>
              <a:t> </a:t>
            </a:r>
            <a:r>
              <a:rPr dirty="0" sz="2700" spc="-60">
                <a:solidFill>
                  <a:srgbClr val="1A1A1A"/>
                </a:solidFill>
              </a:rPr>
              <a:t>visual</a:t>
            </a:r>
            <a:r>
              <a:rPr dirty="0" sz="2700" spc="-130">
                <a:solidFill>
                  <a:srgbClr val="1A1A1A"/>
                </a:solidFill>
              </a:rPr>
              <a:t> </a:t>
            </a:r>
            <a:r>
              <a:rPr dirty="0" sz="2700" spc="-20">
                <a:solidFill>
                  <a:srgbClr val="111111"/>
                </a:solidFill>
              </a:rPr>
              <a:t>guide</a:t>
            </a:r>
            <a:r>
              <a:rPr dirty="0" sz="2700" spc="-165">
                <a:solidFill>
                  <a:srgbClr val="111111"/>
                </a:solidFill>
              </a:rPr>
              <a:t> </a:t>
            </a:r>
            <a:r>
              <a:rPr dirty="0" sz="2700">
                <a:solidFill>
                  <a:srgbClr val="030F28"/>
                </a:solidFill>
              </a:rPr>
              <a:t>to</a:t>
            </a:r>
            <a:r>
              <a:rPr dirty="0" sz="2700" spc="-15">
                <a:solidFill>
                  <a:srgbClr val="030F28"/>
                </a:solidFill>
              </a:rPr>
              <a:t> </a:t>
            </a:r>
            <a:r>
              <a:rPr dirty="0" sz="2700" spc="-265">
                <a:solidFill>
                  <a:srgbClr val="1A1A1A"/>
                </a:solidFill>
              </a:rPr>
              <a:t>BRD,</a:t>
            </a:r>
            <a:r>
              <a:rPr dirty="0" sz="2700" spc="-5">
                <a:solidFill>
                  <a:srgbClr val="1A1A1A"/>
                </a:solidFill>
              </a:rPr>
              <a:t> </a:t>
            </a:r>
            <a:r>
              <a:rPr dirty="0" sz="2700" spc="-240">
                <a:solidFill>
                  <a:srgbClr val="1F1F1F"/>
                </a:solidFill>
              </a:rPr>
              <a:t>FRD,</a:t>
            </a:r>
            <a:r>
              <a:rPr dirty="0" sz="2700" spc="-20">
                <a:solidFill>
                  <a:srgbClr val="1F1F1F"/>
                </a:solidFill>
              </a:rPr>
              <a:t> </a:t>
            </a:r>
            <a:r>
              <a:rPr dirty="0" sz="2700" spc="-225">
                <a:solidFill>
                  <a:srgbClr val="00081C"/>
                </a:solidFill>
              </a:rPr>
              <a:t>FRS,</a:t>
            </a:r>
            <a:r>
              <a:rPr dirty="0" sz="2700" spc="-50">
                <a:solidFill>
                  <a:srgbClr val="00081C"/>
                </a:solidFill>
              </a:rPr>
              <a:t> </a:t>
            </a:r>
            <a:r>
              <a:rPr dirty="0" sz="2700" spc="-260">
                <a:solidFill>
                  <a:srgbClr val="07132A"/>
                </a:solidFill>
              </a:rPr>
              <a:t>SRS,</a:t>
            </a:r>
            <a:r>
              <a:rPr dirty="0" sz="2700" spc="-35">
                <a:solidFill>
                  <a:srgbClr val="07132A"/>
                </a:solidFill>
              </a:rPr>
              <a:t> </a:t>
            </a:r>
            <a:r>
              <a:rPr dirty="0" sz="2700" spc="-10">
                <a:solidFill>
                  <a:srgbClr val="051328"/>
                </a:solidFill>
              </a:rPr>
              <a:t>and</a:t>
            </a:r>
            <a:r>
              <a:rPr dirty="0" sz="2700" spc="-100">
                <a:solidFill>
                  <a:srgbClr val="051328"/>
                </a:solidFill>
              </a:rPr>
              <a:t> </a:t>
            </a:r>
            <a:r>
              <a:rPr dirty="0" sz="2700" spc="-215">
                <a:solidFill>
                  <a:srgbClr val="031328"/>
                </a:solidFill>
              </a:rPr>
              <a:t>SAD</a:t>
            </a:r>
            <a:r>
              <a:rPr dirty="0" sz="2700" spc="-10">
                <a:solidFill>
                  <a:srgbClr val="031328"/>
                </a:solidFill>
              </a:rPr>
              <a:t> </a:t>
            </a:r>
            <a:r>
              <a:rPr dirty="0" sz="2700">
                <a:solidFill>
                  <a:srgbClr val="0C1F41"/>
                </a:solidFill>
              </a:rPr>
              <a:t>for</a:t>
            </a:r>
            <a:r>
              <a:rPr dirty="0" sz="2700" spc="-110">
                <a:solidFill>
                  <a:srgbClr val="0C1F41"/>
                </a:solidFill>
              </a:rPr>
              <a:t> </a:t>
            </a:r>
            <a:r>
              <a:rPr dirty="0" sz="2700" spc="-50">
                <a:solidFill>
                  <a:srgbClr val="161616"/>
                </a:solidFill>
              </a:rPr>
              <a:t>Stakeholders,</a:t>
            </a:r>
            <a:r>
              <a:rPr dirty="0" sz="2700" spc="-55">
                <a:solidFill>
                  <a:srgbClr val="161616"/>
                </a:solidFill>
              </a:rPr>
              <a:t> </a:t>
            </a:r>
            <a:r>
              <a:rPr dirty="0" sz="2700" spc="-50">
                <a:solidFill>
                  <a:srgbClr val="131313"/>
                </a:solidFill>
              </a:rPr>
              <a:t>Developers,</a:t>
            </a:r>
            <a:r>
              <a:rPr dirty="0" sz="2700" spc="100">
                <a:solidFill>
                  <a:srgbClr val="131313"/>
                </a:solidFill>
              </a:rPr>
              <a:t> </a:t>
            </a:r>
            <a:r>
              <a:rPr dirty="0" sz="2700">
                <a:solidFill>
                  <a:srgbClr val="010F2A"/>
                </a:solidFill>
              </a:rPr>
              <a:t>and</a:t>
            </a:r>
            <a:r>
              <a:rPr dirty="0" sz="2700" spc="-75">
                <a:solidFill>
                  <a:srgbClr val="010F2A"/>
                </a:solidFill>
              </a:rPr>
              <a:t> </a:t>
            </a:r>
            <a:r>
              <a:rPr dirty="0" sz="2700" spc="-10">
                <a:solidFill>
                  <a:srgbClr val="01132F"/>
                </a:solidFill>
              </a:rPr>
              <a:t>Analysts.</a:t>
            </a:r>
            <a:endParaRPr sz="2700"/>
          </a:p>
        </p:txBody>
      </p:sp>
      <p:sp>
        <p:nvSpPr>
          <p:cNvPr id="3" name="object 3" descr=""/>
          <p:cNvSpPr txBox="1"/>
          <p:nvPr/>
        </p:nvSpPr>
        <p:spPr>
          <a:xfrm>
            <a:off x="5334659" y="8881533"/>
            <a:ext cx="677545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300">
                <a:solidFill>
                  <a:srgbClr val="112B60"/>
                </a:solidFill>
                <a:latin typeface="OCR A Extended"/>
                <a:cs typeface="OCR A Extended"/>
              </a:rPr>
              <a:t>FRON</a:t>
            </a:r>
            <a:r>
              <a:rPr dirty="0" sz="2900" spc="-500">
                <a:solidFill>
                  <a:srgbClr val="112B60"/>
                </a:solidFill>
                <a:latin typeface="OCR A Extended"/>
                <a:cs typeface="OCR A Extended"/>
              </a:rPr>
              <a:t> </a:t>
            </a:r>
            <a:r>
              <a:rPr dirty="0" sz="2900" spc="-265">
                <a:solidFill>
                  <a:srgbClr val="0A2F6E"/>
                </a:solidFill>
                <a:latin typeface="OCR A Extended"/>
                <a:cs typeface="OCR A Extended"/>
              </a:rPr>
              <a:t>TNE</a:t>
            </a:r>
            <a:r>
              <a:rPr dirty="0" sz="2900" spc="-434">
                <a:solidFill>
                  <a:srgbClr val="0A2F6E"/>
                </a:solidFill>
                <a:latin typeface="OCR A Extended"/>
                <a:cs typeface="OCR A Extended"/>
              </a:rPr>
              <a:t> </a:t>
            </a:r>
            <a:r>
              <a:rPr dirty="0" sz="2900" spc="-210">
                <a:solidFill>
                  <a:srgbClr val="0C2D6E"/>
                </a:solidFill>
                <a:latin typeface="OCR A Extended"/>
                <a:cs typeface="OCR A Extended"/>
              </a:rPr>
              <a:t>BOARDROOMTO</a:t>
            </a:r>
            <a:r>
              <a:rPr dirty="0" sz="2900" spc="-300">
                <a:solidFill>
                  <a:srgbClr val="0C2D6E"/>
                </a:solidFill>
                <a:latin typeface="OCR A Extended"/>
                <a:cs typeface="OCR A Extended"/>
              </a:rPr>
              <a:t> </a:t>
            </a:r>
            <a:r>
              <a:rPr dirty="0" sz="2900" spc="-235">
                <a:solidFill>
                  <a:srgbClr val="0C265E"/>
                </a:solidFill>
                <a:latin typeface="OCR A Extended"/>
                <a:cs typeface="OCR A Extended"/>
              </a:rPr>
              <a:t>THE</a:t>
            </a:r>
            <a:r>
              <a:rPr dirty="0" sz="2900" spc="-540">
                <a:solidFill>
                  <a:srgbClr val="0C265E"/>
                </a:solidFill>
                <a:latin typeface="OCR A Extended"/>
                <a:cs typeface="OCR A Extended"/>
              </a:rPr>
              <a:t> </a:t>
            </a:r>
            <a:r>
              <a:rPr dirty="0" sz="2900" spc="-300">
                <a:solidFill>
                  <a:srgbClr val="132F62"/>
                </a:solidFill>
                <a:latin typeface="OCR A Extended"/>
                <a:cs typeface="OCR A Extended"/>
              </a:rPr>
              <a:t>SERVER</a:t>
            </a:r>
            <a:r>
              <a:rPr dirty="0" sz="2900" spc="-420">
                <a:solidFill>
                  <a:srgbClr val="132F62"/>
                </a:solidFill>
                <a:latin typeface="OCR A Extended"/>
                <a:cs typeface="OCR A Extended"/>
              </a:rPr>
              <a:t> </a:t>
            </a:r>
            <a:r>
              <a:rPr dirty="0" sz="2900" spc="-320">
                <a:solidFill>
                  <a:srgbClr val="133167"/>
                </a:solidFill>
                <a:latin typeface="OCR A Extended"/>
                <a:cs typeface="OCR A Extended"/>
              </a:rPr>
              <a:t>ROOM</a:t>
            </a:r>
            <a:endParaRPr sz="2900">
              <a:latin typeface="OCR A Extended"/>
              <a:cs typeface="OCR A Extend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2700" y="7086600"/>
            <a:ext cx="12369800" cy="19685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90900" y="3619500"/>
            <a:ext cx="342900" cy="25273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22700" y="3619500"/>
            <a:ext cx="292100" cy="25273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3300" y="3111500"/>
            <a:ext cx="12649200" cy="34671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703300" y="3721100"/>
            <a:ext cx="1866900" cy="2286000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1143000" y="3606800"/>
            <a:ext cx="2679700" cy="2235200"/>
            <a:chOff x="1143000" y="3606800"/>
            <a:chExt cx="2679700" cy="2235200"/>
          </a:xfrm>
        </p:grpSpPr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3000" y="3606800"/>
              <a:ext cx="2679700" cy="17399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65300" y="4165600"/>
              <a:ext cx="762000" cy="52070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71600" y="5029200"/>
              <a:ext cx="1498600" cy="8128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57300" y="4038600"/>
              <a:ext cx="2451100" cy="1231900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445000" y="4940300"/>
            <a:ext cx="558800" cy="1168400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1765300" y="3721100"/>
            <a:ext cx="1460500" cy="965200"/>
            <a:chOff x="1765300" y="3721100"/>
            <a:chExt cx="1460500" cy="965200"/>
          </a:xfrm>
        </p:grpSpPr>
        <p:pic>
          <p:nvPicPr>
            <p:cNvPr id="14" name="object 1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97100" y="3721100"/>
              <a:ext cx="1028700" cy="40640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65300" y="4165600"/>
              <a:ext cx="762000" cy="520700"/>
            </a:xfrm>
            <a:prstGeom prst="rect">
              <a:avLst/>
            </a:prstGeom>
          </p:spPr>
        </p:pic>
      </p:grpSp>
      <p:pic>
        <p:nvPicPr>
          <p:cNvPr id="16" name="object 1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966200" y="3987800"/>
            <a:ext cx="2425700" cy="330200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7721600" y="3721100"/>
            <a:ext cx="8255000" cy="2082800"/>
            <a:chOff x="7721600" y="3721100"/>
            <a:chExt cx="8255000" cy="2082800"/>
          </a:xfrm>
        </p:grpSpPr>
        <p:pic>
          <p:nvPicPr>
            <p:cNvPr id="18" name="object 1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868400" y="3721100"/>
              <a:ext cx="2070100" cy="67310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721600" y="4406900"/>
              <a:ext cx="8255000" cy="78740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703300" y="5219700"/>
              <a:ext cx="2273300" cy="584200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696570" y="635352"/>
            <a:ext cx="14119860" cy="10312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600" spc="-350">
                <a:solidFill>
                  <a:srgbClr val="0349AE"/>
                </a:solidFill>
              </a:rPr>
              <a:t>From</a:t>
            </a:r>
            <a:r>
              <a:rPr dirty="0" sz="6600" spc="-315">
                <a:solidFill>
                  <a:srgbClr val="0349AE"/>
                </a:solidFill>
              </a:rPr>
              <a:t> </a:t>
            </a:r>
            <a:r>
              <a:rPr dirty="0" sz="6600" spc="-229">
                <a:solidFill>
                  <a:srgbClr val="054BB3"/>
                </a:solidFill>
              </a:rPr>
              <a:t>Abstract</a:t>
            </a:r>
            <a:r>
              <a:rPr dirty="0" sz="6600" spc="-254">
                <a:solidFill>
                  <a:srgbClr val="054BB3"/>
                </a:solidFill>
              </a:rPr>
              <a:t> </a:t>
            </a:r>
            <a:r>
              <a:rPr dirty="0" sz="6600" spc="-275">
                <a:solidFill>
                  <a:srgbClr val="0346AF"/>
                </a:solidFill>
              </a:rPr>
              <a:t>Vision</a:t>
            </a:r>
            <a:r>
              <a:rPr dirty="0" sz="6600" spc="-520">
                <a:solidFill>
                  <a:srgbClr val="0346AF"/>
                </a:solidFill>
              </a:rPr>
              <a:t> </a:t>
            </a:r>
            <a:r>
              <a:rPr dirty="0" sz="6600" spc="-10">
                <a:solidFill>
                  <a:srgbClr val="0346AE"/>
                </a:solidFill>
              </a:rPr>
              <a:t>to</a:t>
            </a:r>
            <a:r>
              <a:rPr dirty="0" sz="6600" spc="-710">
                <a:solidFill>
                  <a:srgbClr val="0346AE"/>
                </a:solidFill>
              </a:rPr>
              <a:t> </a:t>
            </a:r>
            <a:r>
              <a:rPr dirty="0" sz="6600" spc="-260">
                <a:solidFill>
                  <a:srgbClr val="0146AA"/>
                </a:solidFill>
              </a:rPr>
              <a:t>Technical</a:t>
            </a:r>
            <a:r>
              <a:rPr dirty="0" sz="6600" spc="-215">
                <a:solidFill>
                  <a:srgbClr val="0146AA"/>
                </a:solidFill>
              </a:rPr>
              <a:t> </a:t>
            </a:r>
            <a:r>
              <a:rPr dirty="0" sz="6600" spc="-75">
                <a:solidFill>
                  <a:srgbClr val="0146AC"/>
                </a:solidFill>
              </a:rPr>
              <a:t>Reality</a:t>
            </a:r>
            <a:endParaRPr sz="6600"/>
          </a:p>
        </p:txBody>
      </p:sp>
      <p:sp>
        <p:nvSpPr>
          <p:cNvPr id="22" name="object 22" descr=""/>
          <p:cNvSpPr txBox="1"/>
          <p:nvPr/>
        </p:nvSpPr>
        <p:spPr>
          <a:xfrm>
            <a:off x="1585484" y="6403975"/>
            <a:ext cx="1924050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-10">
                <a:solidFill>
                  <a:srgbClr val="033F9C"/>
                </a:solidFill>
                <a:latin typeface="OCR A Extended"/>
                <a:cs typeface="OCR A Extended"/>
              </a:rPr>
              <a:t>ABSTRACT</a:t>
            </a:r>
            <a:endParaRPr sz="3100">
              <a:latin typeface="OCR A Extended"/>
              <a:cs typeface="OCR A Extended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261397" y="1686983"/>
            <a:ext cx="4912995" cy="660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150">
                <a:solidFill>
                  <a:srgbClr val="113D85"/>
                </a:solidFill>
                <a:latin typeface="Arial"/>
                <a:cs typeface="Arial"/>
              </a:rPr>
              <a:t>The</a:t>
            </a:r>
            <a:r>
              <a:rPr dirty="0" sz="4150" spc="-210">
                <a:solidFill>
                  <a:srgbClr val="113D85"/>
                </a:solidFill>
                <a:latin typeface="Arial"/>
                <a:cs typeface="Arial"/>
              </a:rPr>
              <a:t> </a:t>
            </a:r>
            <a:r>
              <a:rPr dirty="0" sz="4150">
                <a:solidFill>
                  <a:srgbClr val="083885"/>
                </a:solidFill>
                <a:latin typeface="Arial"/>
                <a:cs typeface="Arial"/>
              </a:rPr>
              <a:t>Clarity</a:t>
            </a:r>
            <a:r>
              <a:rPr dirty="0" sz="4150" spc="-85">
                <a:solidFill>
                  <a:srgbClr val="083885"/>
                </a:solidFill>
                <a:latin typeface="Arial"/>
                <a:cs typeface="Arial"/>
              </a:rPr>
              <a:t> </a:t>
            </a:r>
            <a:r>
              <a:rPr dirty="0" sz="4150" spc="-30">
                <a:solidFill>
                  <a:srgbClr val="0F3D8E"/>
                </a:solidFill>
                <a:latin typeface="Arial"/>
                <a:cs typeface="Arial"/>
              </a:rPr>
              <a:t>Spectrum</a:t>
            </a:r>
            <a:endParaRPr sz="415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311853" y="2892777"/>
            <a:ext cx="1805939" cy="8210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17145">
              <a:lnSpc>
                <a:spcPts val="4020"/>
              </a:lnSpc>
              <a:spcBef>
                <a:spcPts val="120"/>
              </a:spcBef>
            </a:pPr>
            <a:r>
              <a:rPr dirty="0" sz="3450" spc="-565">
                <a:solidFill>
                  <a:srgbClr val="F46913"/>
                </a:solidFill>
                <a:latin typeface="Arial"/>
                <a:cs typeface="Arial"/>
              </a:rPr>
              <a:t>BRD</a:t>
            </a:r>
            <a:endParaRPr sz="3450">
              <a:latin typeface="Arial"/>
              <a:cs typeface="Arial"/>
            </a:endParaRPr>
          </a:p>
          <a:p>
            <a:pPr algn="ctr">
              <a:lnSpc>
                <a:spcPts val="2220"/>
              </a:lnSpc>
            </a:pPr>
            <a:r>
              <a:rPr dirty="0" sz="1950" spc="-195">
                <a:latin typeface="OCR A Extended"/>
                <a:cs typeface="OCR A Extended"/>
              </a:rPr>
              <a:t>JetBrains</a:t>
            </a:r>
            <a:r>
              <a:rPr dirty="0" sz="1950" spc="-125">
                <a:latin typeface="OCR A Extended"/>
                <a:cs typeface="OCR A Extended"/>
              </a:rPr>
              <a:t> </a:t>
            </a:r>
            <a:r>
              <a:rPr dirty="0" sz="1950" spc="-110">
                <a:latin typeface="OCR A Extended"/>
                <a:cs typeface="OCR A Extended"/>
              </a:rPr>
              <a:t>Nono</a:t>
            </a:r>
            <a:endParaRPr sz="1950">
              <a:latin typeface="OCR A Extended"/>
              <a:cs typeface="OCR A Extended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774326" y="2892777"/>
            <a:ext cx="1938020" cy="81724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4095"/>
              </a:lnSpc>
              <a:spcBef>
                <a:spcPts val="120"/>
              </a:spcBef>
              <a:tabLst>
                <a:tab pos="1193165" algn="l"/>
              </a:tabLst>
            </a:pPr>
            <a:r>
              <a:rPr dirty="0" sz="3450" spc="-455">
                <a:solidFill>
                  <a:srgbClr val="0F6D6B"/>
                </a:solidFill>
                <a:latin typeface="Arial"/>
                <a:cs typeface="Arial"/>
              </a:rPr>
              <a:t>FRD</a:t>
            </a:r>
            <a:r>
              <a:rPr dirty="0" sz="3450" spc="145">
                <a:solidFill>
                  <a:srgbClr val="0F6D6B"/>
                </a:solidFill>
                <a:latin typeface="Arial"/>
                <a:cs typeface="Arial"/>
              </a:rPr>
              <a:t> </a:t>
            </a:r>
            <a:r>
              <a:rPr dirty="0" sz="3450" spc="-50">
                <a:solidFill>
                  <a:srgbClr val="11706E"/>
                </a:solidFill>
                <a:latin typeface="Arial"/>
                <a:cs typeface="Arial"/>
              </a:rPr>
              <a:t>/</a:t>
            </a:r>
            <a:r>
              <a:rPr dirty="0" sz="3450">
                <a:solidFill>
                  <a:srgbClr val="11706E"/>
                </a:solidFill>
                <a:latin typeface="Arial"/>
                <a:cs typeface="Arial"/>
              </a:rPr>
              <a:t>	</a:t>
            </a:r>
            <a:r>
              <a:rPr dirty="0" sz="3450" spc="-425">
                <a:solidFill>
                  <a:srgbClr val="0A7570"/>
                </a:solidFill>
                <a:latin typeface="Arial"/>
                <a:cs typeface="Arial"/>
              </a:rPr>
              <a:t>FRS</a:t>
            </a:r>
            <a:endParaRPr sz="3450">
              <a:latin typeface="Arial"/>
              <a:cs typeface="Arial"/>
            </a:endParaRPr>
          </a:p>
          <a:p>
            <a:pPr marL="111125">
              <a:lnSpc>
                <a:spcPts val="2115"/>
              </a:lnSpc>
              <a:tabLst>
                <a:tab pos="1350010" algn="l"/>
              </a:tabLst>
            </a:pPr>
            <a:r>
              <a:rPr dirty="0" sz="1800" spc="155">
                <a:latin typeface="Calibri"/>
                <a:cs typeface="Calibri"/>
              </a:rPr>
              <a:t>JetBra1ns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I’lDno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0635490" y="2892777"/>
            <a:ext cx="1948180" cy="81724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4095"/>
              </a:lnSpc>
              <a:spcBef>
                <a:spcPts val="120"/>
              </a:spcBef>
              <a:tabLst>
                <a:tab pos="1218565" algn="l"/>
              </a:tabLst>
            </a:pPr>
            <a:r>
              <a:rPr dirty="0" sz="3450" spc="-500">
                <a:solidFill>
                  <a:srgbClr val="083D93"/>
                </a:solidFill>
                <a:latin typeface="Arial"/>
                <a:cs typeface="Arial"/>
              </a:rPr>
              <a:t>SRS</a:t>
            </a:r>
            <a:r>
              <a:rPr dirty="0" sz="3450" spc="260">
                <a:solidFill>
                  <a:srgbClr val="083D93"/>
                </a:solidFill>
                <a:latin typeface="Arial"/>
                <a:cs typeface="Arial"/>
              </a:rPr>
              <a:t> </a:t>
            </a:r>
            <a:r>
              <a:rPr dirty="0" sz="3450" spc="-50">
                <a:solidFill>
                  <a:srgbClr val="0F429C"/>
                </a:solidFill>
                <a:latin typeface="Arial"/>
                <a:cs typeface="Arial"/>
              </a:rPr>
              <a:t>/</a:t>
            </a:r>
            <a:r>
              <a:rPr dirty="0" sz="3450">
                <a:solidFill>
                  <a:srgbClr val="0F429C"/>
                </a:solidFill>
                <a:latin typeface="Arial"/>
                <a:cs typeface="Arial"/>
              </a:rPr>
              <a:t>	</a:t>
            </a:r>
            <a:r>
              <a:rPr dirty="0" sz="3450" spc="-530">
                <a:solidFill>
                  <a:srgbClr val="0E449E"/>
                </a:solidFill>
                <a:latin typeface="Arial"/>
                <a:cs typeface="Arial"/>
              </a:rPr>
              <a:t>SAD</a:t>
            </a:r>
            <a:endParaRPr sz="3450">
              <a:latin typeface="Arial"/>
              <a:cs typeface="Arial"/>
            </a:endParaRPr>
          </a:p>
          <a:p>
            <a:pPr marL="97155">
              <a:lnSpc>
                <a:spcPts val="2115"/>
              </a:lnSpc>
              <a:tabLst>
                <a:tab pos="1361440" algn="l"/>
              </a:tabLst>
            </a:pPr>
            <a:r>
              <a:rPr dirty="0" sz="1800" spc="140">
                <a:latin typeface="Calibri"/>
                <a:cs typeface="Calibri"/>
              </a:rPr>
              <a:t>3etBra1ns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fJano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607410" y="6154561"/>
            <a:ext cx="1218565" cy="108902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algn="ctr" marL="12065" marR="5080" indent="22860">
              <a:lnSpc>
                <a:spcPct val="90500"/>
              </a:lnSpc>
              <a:spcBef>
                <a:spcPts val="434"/>
              </a:spcBef>
            </a:pPr>
            <a:r>
              <a:rPr dirty="0" sz="2600" spc="-20">
                <a:latin typeface="Arial"/>
                <a:cs typeface="Arial"/>
              </a:rPr>
              <a:t>Why? </a:t>
            </a:r>
            <a:r>
              <a:rPr dirty="0" sz="2400" spc="-140">
                <a:latin typeface="Arial"/>
                <a:cs typeface="Arial"/>
              </a:rPr>
              <a:t>(Business </a:t>
            </a:r>
            <a:r>
              <a:rPr dirty="0" sz="2400" spc="-10">
                <a:latin typeface="Arial"/>
                <a:cs typeface="Arial"/>
              </a:rPr>
              <a:t>Ooals)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575910" y="6154561"/>
            <a:ext cx="2501900" cy="10890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687070">
              <a:lnSpc>
                <a:spcPts val="2960"/>
              </a:lnSpc>
              <a:spcBef>
                <a:spcPts val="135"/>
              </a:spcBef>
              <a:tabLst>
                <a:tab pos="2163445" algn="l"/>
              </a:tabLst>
            </a:pPr>
            <a:r>
              <a:rPr dirty="0" sz="2600" spc="-10">
                <a:latin typeface="Arial"/>
                <a:cs typeface="Arial"/>
              </a:rPr>
              <a:t>What?</a:t>
            </a:r>
            <a:r>
              <a:rPr dirty="0" sz="2600">
                <a:latin typeface="Arial"/>
                <a:cs typeface="Arial"/>
              </a:rPr>
              <a:t>	</a:t>
            </a:r>
            <a:r>
              <a:rPr dirty="0" sz="2600" spc="-25">
                <a:solidFill>
                  <a:srgbClr val="285E69"/>
                </a:solidFill>
                <a:latin typeface="Arial"/>
                <a:cs typeface="Arial"/>
              </a:rPr>
              <a:t>“““</a:t>
            </a:r>
            <a:endParaRPr sz="2600">
              <a:latin typeface="Arial"/>
              <a:cs typeface="Arial"/>
            </a:endParaRPr>
          </a:p>
          <a:p>
            <a:pPr marL="235585" marR="203200" indent="-223520">
              <a:lnSpc>
                <a:spcPts val="2650"/>
              </a:lnSpc>
              <a:spcBef>
                <a:spcPts val="120"/>
              </a:spcBef>
            </a:pPr>
            <a:r>
              <a:rPr dirty="0" sz="2400" spc="-125">
                <a:latin typeface="Arial"/>
                <a:cs typeface="Arial"/>
              </a:rPr>
              <a:t>(User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 spc="-305">
                <a:latin typeface="Arial"/>
                <a:cs typeface="Arial"/>
              </a:rPr>
              <a:t>&amp;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Functional </a:t>
            </a:r>
            <a:r>
              <a:rPr dirty="0" sz="2400" spc="-55">
                <a:latin typeface="Arial"/>
                <a:cs typeface="Arial"/>
              </a:rPr>
              <a:t>Requirements)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0535010" y="6154561"/>
            <a:ext cx="2161540" cy="108902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 marR="5080" indent="130175">
              <a:lnSpc>
                <a:spcPct val="90500"/>
              </a:lnSpc>
              <a:spcBef>
                <a:spcPts val="434"/>
              </a:spcBef>
              <a:tabLst>
                <a:tab pos="652145" algn="l"/>
              </a:tabLst>
            </a:pPr>
            <a:r>
              <a:rPr dirty="0" sz="2600" spc="-25">
                <a:solidFill>
                  <a:srgbClr val="0F3875"/>
                </a:solidFill>
                <a:latin typeface="Arial"/>
                <a:cs typeface="Arial"/>
              </a:rPr>
              <a:t>"”</a:t>
            </a:r>
            <a:r>
              <a:rPr dirty="0" sz="2600">
                <a:solidFill>
                  <a:srgbClr val="0F3875"/>
                </a:solidFill>
                <a:latin typeface="Arial"/>
                <a:cs typeface="Arial"/>
              </a:rPr>
              <a:t>	</a:t>
            </a:r>
            <a:r>
              <a:rPr dirty="0" sz="2600" spc="-20">
                <a:latin typeface="Arial"/>
                <a:cs typeface="Arial"/>
              </a:rPr>
              <a:t>How? </a:t>
            </a:r>
            <a:r>
              <a:rPr dirty="0" sz="2400" spc="-114">
                <a:latin typeface="Arial"/>
                <a:cs typeface="Arial"/>
              </a:rPr>
              <a:t>(Technical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Specs </a:t>
            </a:r>
            <a:r>
              <a:rPr dirty="0" sz="2400" spc="-305">
                <a:latin typeface="Arial"/>
                <a:cs typeface="Arial"/>
              </a:rPr>
              <a:t>&amp;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Architecture)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840816" y="8062383"/>
            <a:ext cx="7708900" cy="1066800"/>
          </a:xfrm>
          <a:prstGeom prst="rect">
            <a:avLst/>
          </a:prstGeom>
          <a:ln w="29633">
            <a:solidFill>
              <a:srgbClr val="E46018"/>
            </a:solidFill>
          </a:ln>
        </p:spPr>
        <p:txBody>
          <a:bodyPr wrap="square" lIns="0" tIns="132715" rIns="0" bIns="0" rtlCol="0" vert="horz">
            <a:spAutoFit/>
          </a:bodyPr>
          <a:lstStyle/>
          <a:p>
            <a:pPr marL="775970" marR="292735" indent="-436245">
              <a:lnSpc>
                <a:spcPts val="2900"/>
              </a:lnSpc>
              <a:spcBef>
                <a:spcPts val="1045"/>
              </a:spcBef>
            </a:pPr>
            <a:r>
              <a:rPr dirty="0" sz="2600">
                <a:latin typeface="Arial"/>
                <a:cs typeface="Arial"/>
              </a:rPr>
              <a:t>Projects</a:t>
            </a:r>
            <a:r>
              <a:rPr dirty="0" sz="2600" spc="-8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fail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when</a:t>
            </a:r>
            <a:r>
              <a:rPr dirty="0" sz="2600" spc="-7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we</a:t>
            </a:r>
            <a:r>
              <a:rPr dirty="0" sz="2600" spc="-13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skip</a:t>
            </a:r>
            <a:r>
              <a:rPr dirty="0" sz="2600" spc="-1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steps.</a:t>
            </a:r>
            <a:r>
              <a:rPr dirty="0" sz="2600" spc="-105">
                <a:latin typeface="Arial"/>
                <a:cs typeface="Arial"/>
              </a:rPr>
              <a:t> </a:t>
            </a:r>
            <a:r>
              <a:rPr dirty="0" sz="2600" spc="-65">
                <a:latin typeface="Arial"/>
                <a:cs typeface="Arial"/>
              </a:rPr>
              <a:t>Each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document </a:t>
            </a:r>
            <a:r>
              <a:rPr dirty="0" sz="2600">
                <a:latin typeface="Arial"/>
                <a:cs typeface="Arial"/>
              </a:rPr>
              <a:t>represents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</a:t>
            </a:r>
            <a:r>
              <a:rPr dirty="0" sz="2600" spc="-14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necessary</a:t>
            </a:r>
            <a:r>
              <a:rPr dirty="0" sz="2600" spc="-8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layer</a:t>
            </a:r>
            <a:r>
              <a:rPr dirty="0" sz="2600" spc="-2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of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resolution.</a:t>
            </a:r>
            <a:endParaRPr sz="260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3876222" y="6448072"/>
            <a:ext cx="1864360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120">
                <a:solidFill>
                  <a:srgbClr val="0F46A1"/>
                </a:solidFill>
                <a:latin typeface="Arial"/>
                <a:cs typeface="Arial"/>
              </a:rPr>
              <a:t>CONCRETE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8500" y="1612900"/>
            <a:ext cx="14097000" cy="80137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801416" y="261408"/>
            <a:ext cx="11868150" cy="946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-5050" sz="9075" spc="-232">
                <a:solidFill>
                  <a:srgbClr val="0344BF"/>
                </a:solidFill>
                <a:latin typeface="Arial"/>
                <a:cs typeface="Arial"/>
              </a:rPr>
              <a:t>T</a:t>
            </a:r>
            <a:r>
              <a:rPr dirty="0" baseline="2754" sz="9075" spc="-232">
                <a:solidFill>
                  <a:srgbClr val="0344BF"/>
                </a:solidFill>
                <a:latin typeface="Arial"/>
                <a:cs typeface="Arial"/>
              </a:rPr>
              <a:t>he</a:t>
            </a:r>
            <a:r>
              <a:rPr dirty="0" sz="6050" spc="-155">
                <a:solidFill>
                  <a:srgbClr val="0349BF"/>
                </a:solidFill>
                <a:latin typeface="Arial"/>
                <a:cs typeface="Arial"/>
              </a:rPr>
              <a:t>Master</a:t>
            </a:r>
            <a:r>
              <a:rPr dirty="0" sz="6050" spc="-145">
                <a:solidFill>
                  <a:srgbClr val="0349BF"/>
                </a:solidFill>
                <a:latin typeface="Arial"/>
                <a:cs typeface="Arial"/>
              </a:rPr>
              <a:t> </a:t>
            </a:r>
            <a:r>
              <a:rPr dirty="0" sz="6050" spc="-270">
                <a:solidFill>
                  <a:srgbClr val="0148BD"/>
                </a:solidFill>
                <a:latin typeface="Arial"/>
                <a:cs typeface="Arial"/>
              </a:rPr>
              <a:t>Analogy:</a:t>
            </a:r>
            <a:r>
              <a:rPr dirty="0" sz="6050" spc="-535">
                <a:solidFill>
                  <a:srgbClr val="0148BD"/>
                </a:solidFill>
                <a:latin typeface="Arial"/>
                <a:cs typeface="Arial"/>
              </a:rPr>
              <a:t> </a:t>
            </a:r>
            <a:r>
              <a:rPr dirty="0" sz="6050" spc="-200">
                <a:solidFill>
                  <a:srgbClr val="0144BD"/>
                </a:solidFill>
                <a:latin typeface="Arial"/>
                <a:cs typeface="Arial"/>
              </a:rPr>
              <a:t>Building</a:t>
            </a:r>
            <a:r>
              <a:rPr dirty="0" sz="6050" spc="-560">
                <a:solidFill>
                  <a:srgbClr val="0144BD"/>
                </a:solidFill>
                <a:latin typeface="Arial"/>
                <a:cs typeface="Arial"/>
              </a:rPr>
              <a:t> </a:t>
            </a:r>
            <a:r>
              <a:rPr dirty="0" sz="6050" spc="-305">
                <a:solidFill>
                  <a:srgbClr val="DADADA"/>
                </a:solidFill>
                <a:latin typeface="Arial"/>
                <a:cs typeface="Arial"/>
              </a:rPr>
              <a:t>a</a:t>
            </a:r>
            <a:r>
              <a:rPr dirty="0" sz="6050" spc="-740">
                <a:solidFill>
                  <a:srgbClr val="DADADA"/>
                </a:solidFill>
                <a:latin typeface="Arial"/>
                <a:cs typeface="Arial"/>
              </a:rPr>
              <a:t> </a:t>
            </a:r>
            <a:r>
              <a:rPr dirty="0" sz="6050" spc="-365">
                <a:solidFill>
                  <a:srgbClr val="0344BC"/>
                </a:solidFill>
                <a:latin typeface="Arial"/>
                <a:cs typeface="Arial"/>
              </a:rPr>
              <a:t>House</a:t>
            </a:r>
            <a:endParaRPr sz="60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77199" y="1542344"/>
            <a:ext cx="1465580" cy="10629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35">
                <a:solidFill>
                  <a:srgbClr val="DFDFDF"/>
                </a:solidFill>
              </a:rPr>
              <a:t>FRO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393125" y="2566811"/>
            <a:ext cx="4076700" cy="325627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386965">
              <a:lnSpc>
                <a:spcPts val="2960"/>
              </a:lnSpc>
              <a:spcBef>
                <a:spcPts val="135"/>
              </a:spcBef>
            </a:pPr>
            <a:r>
              <a:rPr dirty="0" sz="2600" spc="-254">
                <a:latin typeface="Arial"/>
                <a:cs typeface="Arial"/>
              </a:rPr>
              <a:t>What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rooms</a:t>
            </a:r>
            <a:endParaRPr sz="2600">
              <a:latin typeface="Arial"/>
              <a:cs typeface="Arial"/>
            </a:endParaRPr>
          </a:p>
          <a:p>
            <a:pPr marL="2380615">
              <a:lnSpc>
                <a:spcPts val="2720"/>
              </a:lnSpc>
            </a:pPr>
            <a:r>
              <a:rPr dirty="0" sz="2400" spc="-70">
                <a:latin typeface="Arial"/>
                <a:cs typeface="Arial"/>
              </a:rPr>
              <a:t>does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it</a:t>
            </a:r>
            <a:r>
              <a:rPr dirty="0" sz="2400" spc="40">
                <a:latin typeface="Arial"/>
                <a:cs typeface="Arial"/>
              </a:rPr>
              <a:t> </a:t>
            </a:r>
            <a:r>
              <a:rPr dirty="0" sz="2400" spc="-135">
                <a:latin typeface="Arial"/>
                <a:cs typeface="Arial"/>
              </a:rPr>
              <a:t>have?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2400">
              <a:latin typeface="Arial"/>
              <a:cs typeface="Arial"/>
            </a:endParaRPr>
          </a:p>
          <a:p>
            <a:pPr marL="233679">
              <a:lnSpc>
                <a:spcPts val="7965"/>
              </a:lnSpc>
              <a:spcBef>
                <a:spcPts val="5"/>
              </a:spcBef>
            </a:pPr>
            <a:r>
              <a:rPr dirty="0" sz="6650" spc="-969">
                <a:solidFill>
                  <a:srgbClr val="0142BA"/>
                </a:solidFill>
                <a:latin typeface="Arial"/>
                <a:cs typeface="Arial"/>
              </a:rPr>
              <a:t>BRD</a:t>
            </a:r>
            <a:endParaRPr sz="6650">
              <a:latin typeface="Arial"/>
              <a:cs typeface="Arial"/>
            </a:endParaRPr>
          </a:p>
          <a:p>
            <a:pPr marL="22225" marR="1469390" indent="-10160">
              <a:lnSpc>
                <a:spcPts val="2600"/>
              </a:lnSpc>
              <a:spcBef>
                <a:spcPts val="405"/>
              </a:spcBef>
            </a:pPr>
            <a:r>
              <a:rPr dirty="0" sz="2500" spc="-220">
                <a:latin typeface="Arial"/>
                <a:cs typeface="Arial"/>
              </a:rPr>
              <a:t>Why</a:t>
            </a:r>
            <a:r>
              <a:rPr dirty="0" sz="2500" spc="20">
                <a:latin typeface="Arial"/>
                <a:cs typeface="Arial"/>
              </a:rPr>
              <a:t> </a:t>
            </a:r>
            <a:r>
              <a:rPr dirty="0" sz="2500" spc="-90">
                <a:latin typeface="Arial"/>
                <a:cs typeface="Arial"/>
              </a:rPr>
              <a:t>do</a:t>
            </a:r>
            <a:r>
              <a:rPr dirty="0" sz="2500" spc="-150">
                <a:latin typeface="Arial"/>
                <a:cs typeface="Arial"/>
              </a:rPr>
              <a:t> </a:t>
            </a:r>
            <a:r>
              <a:rPr dirty="0" sz="2500" spc="-120">
                <a:latin typeface="Arial"/>
                <a:cs typeface="Arial"/>
              </a:rPr>
              <a:t>you</a:t>
            </a:r>
            <a:r>
              <a:rPr dirty="0" sz="2500" spc="-50">
                <a:latin typeface="Arial"/>
                <a:cs typeface="Arial"/>
              </a:rPr>
              <a:t> </a:t>
            </a:r>
            <a:r>
              <a:rPr dirty="0" sz="2500" spc="-130">
                <a:latin typeface="Arial"/>
                <a:cs typeface="Arial"/>
              </a:rPr>
              <a:t>wañt</a:t>
            </a:r>
            <a:r>
              <a:rPr dirty="0" sz="2500" spc="-35">
                <a:latin typeface="Arial"/>
                <a:cs typeface="Arial"/>
              </a:rPr>
              <a:t> </a:t>
            </a:r>
            <a:r>
              <a:rPr dirty="0" sz="2500" spc="-90">
                <a:latin typeface="Arial"/>
                <a:cs typeface="Arial"/>
              </a:rPr>
              <a:t>it7 </a:t>
            </a:r>
            <a:r>
              <a:rPr dirty="0" sz="2500" spc="-160">
                <a:latin typeface="Arial"/>
                <a:cs typeface="Arial"/>
              </a:rPr>
              <a:t>(Family</a:t>
            </a:r>
            <a:r>
              <a:rPr dirty="0" sz="2500" spc="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needs)</a:t>
            </a:r>
            <a:endParaRPr sz="25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86265" y="7446433"/>
            <a:ext cx="1962150" cy="17513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650" spc="-810">
                <a:solidFill>
                  <a:srgbClr val="054BC3"/>
                </a:solidFill>
                <a:latin typeface="Arial"/>
                <a:cs typeface="Arial"/>
              </a:rPr>
              <a:t>SRS</a:t>
            </a:r>
            <a:endParaRPr sz="6650">
              <a:latin typeface="Arial"/>
              <a:cs typeface="Arial"/>
            </a:endParaRPr>
          </a:p>
          <a:p>
            <a:pPr marL="62865" marR="5080" indent="-3810">
              <a:lnSpc>
                <a:spcPts val="2700"/>
              </a:lnSpc>
              <a:spcBef>
                <a:spcPts val="260"/>
              </a:spcBef>
            </a:pPr>
            <a:r>
              <a:rPr dirty="0" sz="2350" spc="-50">
                <a:latin typeface="Arial"/>
                <a:cs typeface="Arial"/>
              </a:rPr>
              <a:t>What</a:t>
            </a:r>
            <a:r>
              <a:rPr dirty="0" sz="2350" spc="-100">
                <a:latin typeface="Arial"/>
                <a:cs typeface="Arial"/>
              </a:rPr>
              <a:t> </a:t>
            </a:r>
            <a:r>
              <a:rPr dirty="0" sz="2350" spc="-70">
                <a:latin typeface="Arial"/>
                <a:cs typeface="Arial"/>
              </a:rPr>
              <a:t>materials </a:t>
            </a:r>
            <a:r>
              <a:rPr dirty="0" sz="2350" spc="-165">
                <a:latin typeface="Arial"/>
                <a:cs typeface="Arial"/>
              </a:rPr>
              <a:t>&amp;</a:t>
            </a:r>
            <a:r>
              <a:rPr dirty="0" sz="2350" spc="-40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standards†</a:t>
            </a:r>
            <a:endParaRPr sz="23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022553" y="1675694"/>
            <a:ext cx="2428875" cy="175831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ts val="8155"/>
              </a:lnSpc>
              <a:spcBef>
                <a:spcPts val="105"/>
              </a:spcBef>
            </a:pPr>
            <a:r>
              <a:rPr dirty="0" sz="6800" spc="-765">
                <a:solidFill>
                  <a:srgbClr val="0148C3"/>
                </a:solidFill>
                <a:latin typeface="Arial"/>
                <a:cs typeface="Arial"/>
              </a:rPr>
              <a:t>FRS</a:t>
            </a:r>
            <a:endParaRPr sz="6800">
              <a:latin typeface="Arial"/>
              <a:cs typeface="Arial"/>
            </a:endParaRPr>
          </a:p>
          <a:p>
            <a:pPr marL="12700" marR="5080" indent="3810">
              <a:lnSpc>
                <a:spcPts val="2600"/>
              </a:lnSpc>
              <a:spcBef>
                <a:spcPts val="315"/>
              </a:spcBef>
            </a:pPr>
            <a:r>
              <a:rPr dirty="0" sz="2400" spc="-95">
                <a:latin typeface="Arial"/>
                <a:cs typeface="Arial"/>
              </a:rPr>
              <a:t>What</a:t>
            </a:r>
            <a:r>
              <a:rPr dirty="0" sz="2400" spc="-20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are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195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exact </a:t>
            </a:r>
            <a:r>
              <a:rPr dirty="0" sz="2400" spc="-60">
                <a:latin typeface="Arial"/>
                <a:cs typeface="Arial"/>
              </a:rPr>
              <a:t>measurements7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004774" y="5784144"/>
            <a:ext cx="2442210" cy="1766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0330">
              <a:lnSpc>
                <a:spcPts val="8130"/>
              </a:lnSpc>
              <a:spcBef>
                <a:spcPts val="105"/>
              </a:spcBef>
            </a:pPr>
            <a:r>
              <a:rPr dirty="0" sz="6800" spc="-919">
                <a:solidFill>
                  <a:srgbClr val="0148C1"/>
                </a:solidFill>
                <a:latin typeface="Arial"/>
                <a:cs typeface="Arial"/>
              </a:rPr>
              <a:t>SAD</a:t>
            </a:r>
            <a:endParaRPr sz="6800">
              <a:latin typeface="Arial"/>
              <a:cs typeface="Arial"/>
            </a:endParaRPr>
          </a:p>
          <a:p>
            <a:pPr marL="17145" marR="5080" indent="-5080">
              <a:lnSpc>
                <a:spcPts val="2600"/>
              </a:lnSpc>
              <a:spcBef>
                <a:spcPts val="390"/>
              </a:spcBef>
            </a:pPr>
            <a:r>
              <a:rPr dirty="0" sz="2500" spc="-145">
                <a:latin typeface="Arial"/>
                <a:cs typeface="Arial"/>
              </a:rPr>
              <a:t>How</a:t>
            </a:r>
            <a:r>
              <a:rPr dirty="0" sz="2500" spc="-70">
                <a:latin typeface="Arial"/>
                <a:cs typeface="Arial"/>
              </a:rPr>
              <a:t> </a:t>
            </a:r>
            <a:r>
              <a:rPr dirty="0" sz="2500" spc="-110">
                <a:latin typeface="Arial"/>
                <a:cs typeface="Arial"/>
              </a:rPr>
              <a:t>does</a:t>
            </a:r>
            <a:r>
              <a:rPr dirty="0" sz="2500" spc="-130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the </a:t>
            </a:r>
            <a:r>
              <a:rPr dirty="0" sz="2500" spc="-110">
                <a:latin typeface="Arial"/>
                <a:cs typeface="Arial"/>
              </a:rPr>
              <a:t>plumbing</a:t>
            </a:r>
            <a:r>
              <a:rPr dirty="0" sz="2500" spc="-30">
                <a:latin typeface="Arial"/>
                <a:cs typeface="Arial"/>
              </a:rPr>
              <a:t> </a:t>
            </a:r>
            <a:r>
              <a:rPr dirty="0" sz="2500" spc="-185">
                <a:latin typeface="Arial"/>
                <a:cs typeface="Arial"/>
              </a:rPr>
              <a:t>con'nect†</a:t>
            </a:r>
            <a:endParaRPr sz="25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726405" y="8508647"/>
            <a:ext cx="5087620" cy="62674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 marR="5080" indent="6985">
              <a:lnSpc>
                <a:spcPts val="2150"/>
              </a:lnSpc>
              <a:spcBef>
                <a:spcPts val="530"/>
              </a:spcBef>
            </a:pPr>
            <a:r>
              <a:rPr dirty="0" sz="2150" spc="-240">
                <a:latin typeface="Arial"/>
                <a:cs typeface="Arial"/>
              </a:rPr>
              <a:t>You</a:t>
            </a:r>
            <a:r>
              <a:rPr dirty="0" sz="2150" spc="-80">
                <a:latin typeface="Arial"/>
                <a:cs typeface="Arial"/>
              </a:rPr>
              <a:t> </a:t>
            </a:r>
            <a:r>
              <a:rPr dirty="0" sz="2150" spc="-95">
                <a:latin typeface="Arial"/>
                <a:cs typeface="Arial"/>
              </a:rPr>
              <a:t>wouldn't</a:t>
            </a:r>
            <a:r>
              <a:rPr dirty="0" sz="2150" spc="-35">
                <a:latin typeface="Arial"/>
                <a:cs typeface="Arial"/>
              </a:rPr>
              <a:t> </a:t>
            </a:r>
            <a:r>
              <a:rPr dirty="0" sz="2150" spc="-80">
                <a:latin typeface="Arial"/>
                <a:cs typeface="Arial"/>
              </a:rPr>
              <a:t>build</a:t>
            </a:r>
            <a:r>
              <a:rPr dirty="0" sz="2150" spc="-25">
                <a:latin typeface="Arial"/>
                <a:cs typeface="Arial"/>
              </a:rPr>
              <a:t> </a:t>
            </a:r>
            <a:r>
              <a:rPr dirty="0" sz="2150" spc="-180">
                <a:latin typeface="Arial"/>
                <a:cs typeface="Arial"/>
              </a:rPr>
              <a:t>a</a:t>
            </a:r>
            <a:r>
              <a:rPr dirty="0" sz="2150" spc="-195">
                <a:latin typeface="Arial"/>
                <a:cs typeface="Arial"/>
              </a:rPr>
              <a:t> </a:t>
            </a:r>
            <a:r>
              <a:rPr dirty="0" sz="2150" spc="-145">
                <a:latin typeface="Arial"/>
                <a:cs typeface="Arial"/>
              </a:rPr>
              <a:t>home</a:t>
            </a:r>
            <a:r>
              <a:rPr dirty="0" sz="2150" spc="-65">
                <a:latin typeface="Arial"/>
                <a:cs typeface="Arial"/>
              </a:rPr>
              <a:t> without</a:t>
            </a:r>
            <a:r>
              <a:rPr dirty="0" sz="2150" spc="25">
                <a:latin typeface="Arial"/>
                <a:cs typeface="Arial"/>
              </a:rPr>
              <a:t> </a:t>
            </a:r>
            <a:r>
              <a:rPr dirty="0" sz="2150" spc="-180">
                <a:latin typeface="Arial"/>
                <a:cs typeface="Arial"/>
              </a:rPr>
              <a:t>a</a:t>
            </a:r>
            <a:r>
              <a:rPr dirty="0" sz="2150" spc="-200">
                <a:latin typeface="Arial"/>
                <a:cs typeface="Arial"/>
              </a:rPr>
              <a:t> </a:t>
            </a:r>
            <a:r>
              <a:rPr dirty="0" sz="2150" spc="-40">
                <a:latin typeface="Arial"/>
                <a:cs typeface="Arial"/>
              </a:rPr>
              <a:t>blueprlnh </a:t>
            </a:r>
            <a:r>
              <a:rPr dirty="0" sz="2150" spc="-60">
                <a:latin typeface="Arial"/>
                <a:cs typeface="Arial"/>
              </a:rPr>
              <a:t>Don1build</a:t>
            </a:r>
            <a:r>
              <a:rPr dirty="0" sz="2150" spc="-100">
                <a:latin typeface="Arial"/>
                <a:cs typeface="Arial"/>
              </a:rPr>
              <a:t> </a:t>
            </a:r>
            <a:r>
              <a:rPr dirty="0" sz="2150" spc="-85">
                <a:latin typeface="Arial"/>
                <a:cs typeface="Arial"/>
              </a:rPr>
              <a:t>software</a:t>
            </a:r>
            <a:r>
              <a:rPr dirty="0" sz="2150" spc="55">
                <a:latin typeface="Arial"/>
                <a:cs typeface="Arial"/>
              </a:rPr>
              <a:t> </a:t>
            </a:r>
            <a:r>
              <a:rPr dirty="0" sz="2150" spc="-80">
                <a:latin typeface="Arial"/>
                <a:cs typeface="Arial"/>
              </a:rPr>
              <a:t>without</a:t>
            </a:r>
            <a:r>
              <a:rPr dirty="0" sz="2150" spc="-70">
                <a:latin typeface="Arial"/>
                <a:cs typeface="Arial"/>
              </a:rPr>
              <a:t> </a:t>
            </a:r>
            <a:r>
              <a:rPr dirty="0" sz="2150" spc="-20">
                <a:latin typeface="Arial"/>
                <a:cs typeface="Arial"/>
              </a:rPr>
              <a:t>one.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00100" y="7480300"/>
            <a:ext cx="16535400" cy="2146300"/>
            <a:chOff x="800100" y="7480300"/>
            <a:chExt cx="16535400" cy="21463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00" y="7480300"/>
              <a:ext cx="16535400" cy="21463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38100" y="7645400"/>
              <a:ext cx="1295400" cy="1676400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81200" y="3276600"/>
            <a:ext cx="2971800" cy="29464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40900" y="3683000"/>
            <a:ext cx="2768600" cy="22352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52600" y="3429000"/>
            <a:ext cx="1663700" cy="1549400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4826000" y="2451100"/>
            <a:ext cx="3175000" cy="2324100"/>
            <a:chOff x="4826000" y="2451100"/>
            <a:chExt cx="3175000" cy="2324100"/>
          </a:xfrm>
        </p:grpSpPr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26000" y="2451100"/>
              <a:ext cx="3175000" cy="232410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70500" y="2603500"/>
              <a:ext cx="2374900" cy="2019300"/>
            </a:xfrm>
            <a:prstGeom prst="rect">
              <a:avLst/>
            </a:prstGeom>
          </p:spPr>
        </p:pic>
      </p:grpSp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020300" y="4305300"/>
            <a:ext cx="266700" cy="2794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9400" y="9105900"/>
            <a:ext cx="12700" cy="4191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068300" y="7975600"/>
            <a:ext cx="635000" cy="635000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11912600" y="3708400"/>
            <a:ext cx="4089400" cy="2133600"/>
            <a:chOff x="11912600" y="3708400"/>
            <a:chExt cx="4089400" cy="2133600"/>
          </a:xfrm>
        </p:grpSpPr>
        <p:pic>
          <p:nvPicPr>
            <p:cNvPr id="15" name="object 1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912600" y="4102100"/>
              <a:ext cx="4089400" cy="173990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566900" y="3708400"/>
              <a:ext cx="1435100" cy="711200"/>
            </a:xfrm>
            <a:prstGeom prst="rect">
              <a:avLst/>
            </a:prstGeom>
          </p:spPr>
        </p:pic>
      </p:grpSp>
      <p:pic>
        <p:nvPicPr>
          <p:cNvPr id="17" name="object 17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183100" y="8864600"/>
            <a:ext cx="12700" cy="53340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111500" y="3149600"/>
            <a:ext cx="4064000" cy="1892300"/>
          </a:xfrm>
          <a:prstGeom prst="rect">
            <a:avLst/>
          </a:prstGeom>
        </p:spPr>
      </p:pic>
      <p:grpSp>
        <p:nvGrpSpPr>
          <p:cNvPr id="19" name="object 19" descr=""/>
          <p:cNvGrpSpPr/>
          <p:nvPr/>
        </p:nvGrpSpPr>
        <p:grpSpPr>
          <a:xfrm>
            <a:off x="9690100" y="3378200"/>
            <a:ext cx="2717800" cy="1447800"/>
            <a:chOff x="9690100" y="3378200"/>
            <a:chExt cx="2717800" cy="1447800"/>
          </a:xfrm>
        </p:grpSpPr>
        <p:pic>
          <p:nvPicPr>
            <p:cNvPr id="20" name="object 2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690100" y="4114800"/>
              <a:ext cx="711200" cy="71120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842500" y="3378200"/>
              <a:ext cx="2565400" cy="106680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442700" y="4457700"/>
              <a:ext cx="279400" cy="127000"/>
            </a:xfrm>
            <a:prstGeom prst="rect">
              <a:avLst/>
            </a:prstGeom>
          </p:spPr>
        </p:pic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61088" y="526697"/>
            <a:ext cx="14725650" cy="92519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900" spc="-290">
                <a:solidFill>
                  <a:srgbClr val="0E5297"/>
                </a:solidFill>
              </a:rPr>
              <a:t>BRD:</a:t>
            </a:r>
            <a:r>
              <a:rPr dirty="0" sz="5900" spc="-165">
                <a:solidFill>
                  <a:srgbClr val="0E5297"/>
                </a:solidFill>
              </a:rPr>
              <a:t> </a:t>
            </a:r>
            <a:r>
              <a:rPr dirty="0" sz="5900">
                <a:solidFill>
                  <a:srgbClr val="11569C"/>
                </a:solidFill>
              </a:rPr>
              <a:t>The</a:t>
            </a:r>
            <a:r>
              <a:rPr dirty="0" sz="5900" spc="-265">
                <a:solidFill>
                  <a:srgbClr val="11569C"/>
                </a:solidFill>
              </a:rPr>
              <a:t> </a:t>
            </a:r>
            <a:r>
              <a:rPr dirty="0" sz="5900">
                <a:solidFill>
                  <a:srgbClr val="11569C"/>
                </a:solidFill>
              </a:rPr>
              <a:t>Business</a:t>
            </a:r>
            <a:r>
              <a:rPr dirty="0" sz="5900" spc="50">
                <a:solidFill>
                  <a:srgbClr val="11569C"/>
                </a:solidFill>
              </a:rPr>
              <a:t> </a:t>
            </a:r>
            <a:r>
              <a:rPr dirty="0" sz="5900">
                <a:solidFill>
                  <a:srgbClr val="135BA3"/>
                </a:solidFill>
              </a:rPr>
              <a:t>Requirement</a:t>
            </a:r>
            <a:r>
              <a:rPr dirty="0" sz="5900" spc="345">
                <a:solidFill>
                  <a:srgbClr val="135BA3"/>
                </a:solidFill>
              </a:rPr>
              <a:t> </a:t>
            </a:r>
            <a:r>
              <a:rPr dirty="0" sz="5900" spc="45">
                <a:solidFill>
                  <a:srgbClr val="0C59A3"/>
                </a:solidFill>
              </a:rPr>
              <a:t>Document</a:t>
            </a:r>
            <a:endParaRPr sz="5900"/>
          </a:p>
        </p:txBody>
      </p:sp>
      <p:sp>
        <p:nvSpPr>
          <p:cNvPr id="24" name="object 24" descr=""/>
          <p:cNvSpPr txBox="1"/>
          <p:nvPr/>
        </p:nvSpPr>
        <p:spPr>
          <a:xfrm>
            <a:off x="980058" y="1455208"/>
            <a:ext cx="13689965" cy="1498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50" spc="-25">
                <a:latin typeface="Arial"/>
                <a:cs typeface="Arial"/>
              </a:rPr>
              <a:t>The</a:t>
            </a:r>
            <a:r>
              <a:rPr dirty="0" sz="3550" spc="-225">
                <a:latin typeface="Arial"/>
                <a:cs typeface="Arial"/>
              </a:rPr>
              <a:t> </a:t>
            </a:r>
            <a:r>
              <a:rPr dirty="0" sz="3550" spc="-35">
                <a:latin typeface="Arial"/>
                <a:cs typeface="Arial"/>
              </a:rPr>
              <a:t>Vision</a:t>
            </a:r>
            <a:r>
              <a:rPr dirty="0" sz="3550" spc="-110">
                <a:latin typeface="Arial"/>
                <a:cs typeface="Arial"/>
              </a:rPr>
              <a:t> </a:t>
            </a:r>
            <a:r>
              <a:rPr dirty="0" sz="3550" spc="-55">
                <a:latin typeface="Arial"/>
                <a:cs typeface="Arial"/>
              </a:rPr>
              <a:t>(“Why</a:t>
            </a:r>
            <a:r>
              <a:rPr dirty="0" sz="3550" spc="-155">
                <a:latin typeface="Arial"/>
                <a:cs typeface="Arial"/>
              </a:rPr>
              <a:t> </a:t>
            </a:r>
            <a:r>
              <a:rPr dirty="0" sz="3550" spc="-10">
                <a:latin typeface="Arial"/>
                <a:cs typeface="Arial"/>
              </a:rPr>
              <a:t>are</a:t>
            </a:r>
            <a:r>
              <a:rPr dirty="0" sz="3550" spc="-204">
                <a:latin typeface="Arial"/>
                <a:cs typeface="Arial"/>
              </a:rPr>
              <a:t> </a:t>
            </a:r>
            <a:r>
              <a:rPr dirty="0" sz="3550">
                <a:latin typeface="Arial"/>
                <a:cs typeface="Arial"/>
              </a:rPr>
              <a:t>we</a:t>
            </a:r>
            <a:r>
              <a:rPr dirty="0" sz="3550" spc="-250">
                <a:latin typeface="Arial"/>
                <a:cs typeface="Arial"/>
              </a:rPr>
              <a:t> </a:t>
            </a:r>
            <a:r>
              <a:rPr dirty="0" sz="3550">
                <a:latin typeface="Arial"/>
                <a:cs typeface="Arial"/>
              </a:rPr>
              <a:t>building</a:t>
            </a:r>
            <a:r>
              <a:rPr dirty="0" sz="3550" spc="-175">
                <a:latin typeface="Arial"/>
                <a:cs typeface="Arial"/>
              </a:rPr>
              <a:t> </a:t>
            </a:r>
            <a:r>
              <a:rPr dirty="0" sz="3550" spc="-10">
                <a:latin typeface="Arial"/>
                <a:cs typeface="Arial"/>
              </a:rPr>
              <a:t>this?”)</a:t>
            </a:r>
            <a:endParaRPr sz="3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90"/>
              </a:spcBef>
              <a:tabLst>
                <a:tab pos="8509000" algn="l"/>
              </a:tabLst>
            </a:pPr>
            <a:r>
              <a:rPr dirty="0" sz="3550" spc="-20">
                <a:solidFill>
                  <a:srgbClr val="134F8E"/>
                </a:solidFill>
                <a:latin typeface="Arial"/>
                <a:cs typeface="Arial"/>
              </a:rPr>
              <a:t>The</a:t>
            </a:r>
            <a:r>
              <a:rPr dirty="0" sz="3550" spc="-215">
                <a:solidFill>
                  <a:srgbClr val="134F8E"/>
                </a:solidFill>
                <a:latin typeface="Arial"/>
                <a:cs typeface="Arial"/>
              </a:rPr>
              <a:t> </a:t>
            </a:r>
            <a:r>
              <a:rPr dirty="0" sz="3550" spc="-10">
                <a:solidFill>
                  <a:srgbClr val="0A4D95"/>
                </a:solidFill>
                <a:latin typeface="Arial"/>
                <a:cs typeface="Arial"/>
              </a:rPr>
              <a:t>Analogy</a:t>
            </a:r>
            <a:r>
              <a:rPr dirty="0" sz="3550">
                <a:solidFill>
                  <a:srgbClr val="0A4D95"/>
                </a:solidFill>
                <a:latin typeface="Arial"/>
                <a:cs typeface="Arial"/>
              </a:rPr>
              <a:t>	</a:t>
            </a:r>
            <a:r>
              <a:rPr dirty="0" sz="3450">
                <a:solidFill>
                  <a:srgbClr val="1A528C"/>
                </a:solidFill>
                <a:latin typeface="Arial"/>
                <a:cs typeface="Arial"/>
              </a:rPr>
              <a:t>The</a:t>
            </a:r>
            <a:r>
              <a:rPr dirty="0" sz="3450" spc="-240">
                <a:solidFill>
                  <a:srgbClr val="1A528C"/>
                </a:solidFill>
                <a:latin typeface="Arial"/>
                <a:cs typeface="Arial"/>
              </a:rPr>
              <a:t> </a:t>
            </a:r>
            <a:r>
              <a:rPr dirty="0" sz="3450">
                <a:solidFill>
                  <a:srgbClr val="135493"/>
                </a:solidFill>
                <a:latin typeface="Arial"/>
                <a:cs typeface="Arial"/>
              </a:rPr>
              <a:t>Reality</a:t>
            </a:r>
            <a:r>
              <a:rPr dirty="0" sz="3450" spc="185">
                <a:solidFill>
                  <a:srgbClr val="135493"/>
                </a:solidFill>
                <a:latin typeface="Arial"/>
                <a:cs typeface="Arial"/>
              </a:rPr>
              <a:t> </a:t>
            </a:r>
            <a:r>
              <a:rPr dirty="0" sz="3450">
                <a:solidFill>
                  <a:srgbClr val="135089"/>
                </a:solidFill>
                <a:latin typeface="Arial"/>
                <a:cs typeface="Arial"/>
              </a:rPr>
              <a:t>(Grocery</a:t>
            </a:r>
            <a:r>
              <a:rPr dirty="0" sz="3450" spc="335">
                <a:solidFill>
                  <a:srgbClr val="135089"/>
                </a:solidFill>
                <a:latin typeface="Arial"/>
                <a:cs typeface="Arial"/>
              </a:rPr>
              <a:t> </a:t>
            </a:r>
            <a:r>
              <a:rPr dirty="0" sz="3450" spc="-20">
                <a:solidFill>
                  <a:srgbClr val="15549A"/>
                </a:solidFill>
                <a:latin typeface="Arial"/>
                <a:cs typeface="Arial"/>
              </a:rPr>
              <a:t>App)</a:t>
            </a:r>
            <a:endParaRPr sz="345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916917" y="6295672"/>
            <a:ext cx="5338445" cy="842644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698500" marR="5080" indent="-686435">
              <a:lnSpc>
                <a:spcPts val="3100"/>
              </a:lnSpc>
              <a:spcBef>
                <a:spcPts val="395"/>
              </a:spcBef>
            </a:pPr>
            <a:r>
              <a:rPr dirty="0" sz="2750">
                <a:latin typeface="Arial"/>
                <a:cs typeface="Arial"/>
              </a:rPr>
              <a:t>My</a:t>
            </a:r>
            <a:r>
              <a:rPr dirty="0" sz="2750" spc="-7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family</a:t>
            </a:r>
            <a:r>
              <a:rPr dirty="0" sz="2750" spc="-9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has</a:t>
            </a:r>
            <a:r>
              <a:rPr dirty="0" sz="2750" spc="-10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grown;</a:t>
            </a:r>
            <a:r>
              <a:rPr dirty="0" sz="2750" spc="-13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renting</a:t>
            </a:r>
            <a:r>
              <a:rPr dirty="0" sz="2750" spc="-11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is</a:t>
            </a:r>
            <a:r>
              <a:rPr dirty="0" sz="2750" spc="-185">
                <a:latin typeface="Arial"/>
                <a:cs typeface="Arial"/>
              </a:rPr>
              <a:t> </a:t>
            </a:r>
            <a:r>
              <a:rPr dirty="0" sz="2750" spc="-25">
                <a:latin typeface="Arial"/>
                <a:cs typeface="Arial"/>
              </a:rPr>
              <a:t>too </a:t>
            </a:r>
            <a:r>
              <a:rPr dirty="0" sz="2750" spc="-35">
                <a:latin typeface="Arial"/>
                <a:cs typeface="Arial"/>
              </a:rPr>
              <a:t>expensive.</a:t>
            </a:r>
            <a:r>
              <a:rPr dirty="0" sz="2750" spc="-13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</a:t>
            </a:r>
            <a:r>
              <a:rPr dirty="0" sz="2750" spc="-15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need</a:t>
            </a:r>
            <a:r>
              <a:rPr dirty="0" sz="2750" spc="-18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</a:t>
            </a:r>
            <a:r>
              <a:rPr dirty="0" sz="2750" spc="-18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home.</a:t>
            </a:r>
            <a:endParaRPr sz="275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997044" y="7528811"/>
            <a:ext cx="9680575" cy="179832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3400" spc="-45">
                <a:solidFill>
                  <a:srgbClr val="0C4D9C"/>
                </a:solidFill>
                <a:latin typeface="Arial"/>
                <a:cs typeface="Arial"/>
              </a:rPr>
              <a:t>Key</a:t>
            </a:r>
            <a:r>
              <a:rPr dirty="0" sz="3400" spc="-30">
                <a:solidFill>
                  <a:srgbClr val="0C4D9C"/>
                </a:solidFill>
                <a:latin typeface="Arial"/>
                <a:cs typeface="Arial"/>
              </a:rPr>
              <a:t> </a:t>
            </a:r>
            <a:r>
              <a:rPr dirty="0" sz="3400">
                <a:solidFill>
                  <a:srgbClr val="0F4F95"/>
                </a:solidFill>
                <a:latin typeface="Arial"/>
                <a:cs typeface="Arial"/>
              </a:rPr>
              <a:t>Sections</a:t>
            </a:r>
            <a:r>
              <a:rPr dirty="0" sz="3400" spc="150">
                <a:solidFill>
                  <a:srgbClr val="0F4F95"/>
                </a:solidFill>
                <a:latin typeface="Arial"/>
                <a:cs typeface="Arial"/>
              </a:rPr>
              <a:t> </a:t>
            </a:r>
            <a:r>
              <a:rPr dirty="0" sz="3400">
                <a:solidFill>
                  <a:srgbClr val="0C488E"/>
                </a:solidFill>
                <a:latin typeface="Arial"/>
                <a:cs typeface="Arial"/>
              </a:rPr>
              <a:t>&amp;</a:t>
            </a:r>
            <a:r>
              <a:rPr dirty="0" sz="3400" spc="45">
                <a:solidFill>
                  <a:srgbClr val="0C488E"/>
                </a:solidFill>
                <a:latin typeface="Arial"/>
                <a:cs typeface="Arial"/>
              </a:rPr>
              <a:t> </a:t>
            </a:r>
            <a:r>
              <a:rPr dirty="0" sz="3400">
                <a:solidFill>
                  <a:srgbClr val="0A4991"/>
                </a:solidFill>
                <a:latin typeface="Arial"/>
                <a:cs typeface="Arial"/>
              </a:rPr>
              <a:t>Audience</a:t>
            </a:r>
            <a:r>
              <a:rPr dirty="0" sz="3400" spc="200">
                <a:solidFill>
                  <a:srgbClr val="0A4991"/>
                </a:solidFill>
                <a:latin typeface="Arial"/>
                <a:cs typeface="Arial"/>
              </a:rPr>
              <a:t> </a:t>
            </a:r>
            <a:r>
              <a:rPr dirty="0" sz="3400" spc="-10">
                <a:latin typeface="Arial"/>
                <a:cs typeface="Arial"/>
              </a:rPr>
              <a:t>Inter</a:t>
            </a:r>
            <a:endParaRPr sz="3400">
              <a:latin typeface="Arial"/>
              <a:cs typeface="Arial"/>
            </a:endParaRPr>
          </a:p>
          <a:p>
            <a:pPr marL="450850" indent="-285115">
              <a:lnSpc>
                <a:spcPts val="3170"/>
              </a:lnSpc>
              <a:spcBef>
                <a:spcPts val="220"/>
              </a:spcBef>
              <a:buChar char="•"/>
              <a:tabLst>
                <a:tab pos="450850" algn="l"/>
              </a:tabLst>
            </a:pPr>
            <a:r>
              <a:rPr dirty="0" sz="2700" spc="-60">
                <a:latin typeface="Arial"/>
                <a:cs typeface="Arial"/>
              </a:rPr>
              <a:t>Business</a:t>
            </a:r>
            <a:r>
              <a:rPr dirty="0" sz="2700" spc="-130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Background</a:t>
            </a:r>
            <a:r>
              <a:rPr dirty="0" sz="2700" spc="50">
                <a:latin typeface="Arial"/>
                <a:cs typeface="Arial"/>
              </a:rPr>
              <a:t> </a:t>
            </a:r>
            <a:r>
              <a:rPr dirty="0" sz="2700" spc="-180">
                <a:latin typeface="Arial"/>
                <a:cs typeface="Arial"/>
              </a:rPr>
              <a:t>&amp;</a:t>
            </a:r>
            <a:r>
              <a:rPr dirty="0" sz="2700" spc="-9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Objectives</a:t>
            </a:r>
            <a:endParaRPr sz="2700">
              <a:latin typeface="Arial"/>
              <a:cs typeface="Arial"/>
            </a:endParaRPr>
          </a:p>
          <a:p>
            <a:pPr marL="447675" indent="-281940">
              <a:lnSpc>
                <a:spcPts val="3075"/>
              </a:lnSpc>
              <a:buChar char="•"/>
              <a:tabLst>
                <a:tab pos="447675" algn="l"/>
              </a:tabLst>
            </a:pPr>
            <a:r>
              <a:rPr dirty="0" sz="2700" spc="-35">
                <a:latin typeface="Arial"/>
                <a:cs typeface="Arial"/>
              </a:rPr>
              <a:t>Success</a:t>
            </a:r>
            <a:r>
              <a:rPr dirty="0" sz="2700" spc="1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Metrics</a:t>
            </a:r>
            <a:r>
              <a:rPr dirty="0" sz="2700" spc="20">
                <a:latin typeface="Arial"/>
                <a:cs typeface="Arial"/>
              </a:rPr>
              <a:t> </a:t>
            </a:r>
            <a:r>
              <a:rPr dirty="0" sz="2700" spc="-40">
                <a:latin typeface="Arial"/>
                <a:cs typeface="Arial"/>
              </a:rPr>
              <a:t>(e.g.,</a:t>
            </a:r>
            <a:r>
              <a:rPr dirty="0" sz="2700" spc="-50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“Orders</a:t>
            </a:r>
            <a:r>
              <a:rPr dirty="0" sz="2700" spc="2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delivered</a:t>
            </a:r>
            <a:r>
              <a:rPr dirty="0" sz="2700" spc="12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within</a:t>
            </a:r>
            <a:r>
              <a:rPr dirty="0" sz="2700" spc="-15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90</a:t>
            </a:r>
            <a:r>
              <a:rPr dirty="0" sz="2700" spc="-13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minutes”)</a:t>
            </a:r>
            <a:endParaRPr sz="2700">
              <a:latin typeface="Arial"/>
              <a:cs typeface="Arial"/>
            </a:endParaRPr>
          </a:p>
          <a:p>
            <a:pPr marL="443865" indent="-278130">
              <a:lnSpc>
                <a:spcPts val="3145"/>
              </a:lnSpc>
              <a:buChar char="•"/>
              <a:tabLst>
                <a:tab pos="443865" algn="l"/>
              </a:tabLst>
            </a:pPr>
            <a:r>
              <a:rPr dirty="0" sz="2700" spc="-35">
                <a:latin typeface="Arial"/>
                <a:cs typeface="Arial"/>
              </a:rPr>
              <a:t>In-</a:t>
            </a:r>
            <a:r>
              <a:rPr dirty="0" sz="2700">
                <a:latin typeface="Arial"/>
                <a:cs typeface="Arial"/>
              </a:rPr>
              <a:t>Scope</a:t>
            </a:r>
            <a:r>
              <a:rPr dirty="0" sz="2700" spc="-110">
                <a:latin typeface="Arial"/>
                <a:cs typeface="Arial"/>
              </a:rPr>
              <a:t> </a:t>
            </a:r>
            <a:r>
              <a:rPr dirty="0" sz="2700" spc="-50">
                <a:latin typeface="Arial"/>
                <a:cs typeface="Arial"/>
              </a:rPr>
              <a:t>(Online</a:t>
            </a:r>
            <a:r>
              <a:rPr dirty="0" sz="2700" spc="-35">
                <a:latin typeface="Arial"/>
                <a:cs typeface="Arial"/>
              </a:rPr>
              <a:t> </a:t>
            </a:r>
            <a:r>
              <a:rPr dirty="0" sz="2700">
                <a:latin typeface="Arial"/>
                <a:cs typeface="Arial"/>
              </a:rPr>
              <a:t>ordering)</a:t>
            </a:r>
            <a:r>
              <a:rPr dirty="0" sz="2700" spc="11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vs.</a:t>
            </a:r>
            <a:r>
              <a:rPr dirty="0" sz="2700" spc="-165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Out-of-</a:t>
            </a:r>
            <a:r>
              <a:rPr dirty="0" sz="2700">
                <a:latin typeface="Arial"/>
                <a:cs typeface="Arial"/>
              </a:rPr>
              <a:t>Scope</a:t>
            </a:r>
            <a:r>
              <a:rPr dirty="0" sz="2700" spc="45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(Store</a:t>
            </a:r>
            <a:r>
              <a:rPr dirty="0" sz="2700" spc="-110">
                <a:latin typeface="Arial"/>
                <a:cs typeface="Arial"/>
              </a:rPr>
              <a:t> </a:t>
            </a:r>
            <a:r>
              <a:rPr dirty="0" sz="2700" spc="-10">
                <a:latin typeface="Arial"/>
                <a:cs typeface="Arial"/>
              </a:rPr>
              <a:t>inventory)</a:t>
            </a:r>
            <a:endParaRPr sz="270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9501161" y="6286852"/>
            <a:ext cx="6621780" cy="853440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12700" marR="5080" indent="285115">
              <a:lnSpc>
                <a:spcPts val="3100"/>
              </a:lnSpc>
              <a:spcBef>
                <a:spcPts val="465"/>
              </a:spcBef>
            </a:pPr>
            <a:r>
              <a:rPr dirty="0" sz="2850" spc="-95">
                <a:latin typeface="Arial"/>
                <a:cs typeface="Arial"/>
              </a:rPr>
              <a:t>Customers</a:t>
            </a:r>
            <a:r>
              <a:rPr dirty="0" sz="2850" spc="-105">
                <a:latin typeface="Arial"/>
                <a:cs typeface="Arial"/>
              </a:rPr>
              <a:t> </a:t>
            </a:r>
            <a:r>
              <a:rPr dirty="0" sz="2850" spc="-114">
                <a:latin typeface="Arial"/>
                <a:cs typeface="Arial"/>
              </a:rPr>
              <a:t>need</a:t>
            </a:r>
            <a:r>
              <a:rPr dirty="0" sz="2850" spc="-85">
                <a:latin typeface="Arial"/>
                <a:cs typeface="Arial"/>
              </a:rPr>
              <a:t> </a:t>
            </a:r>
            <a:r>
              <a:rPr dirty="0" sz="2850" spc="-20">
                <a:latin typeface="Arial"/>
                <a:cs typeface="Arial"/>
              </a:rPr>
              <a:t>faster</a:t>
            </a:r>
            <a:r>
              <a:rPr dirty="0" sz="2850" spc="-70">
                <a:latin typeface="Arial"/>
                <a:cs typeface="Arial"/>
              </a:rPr>
              <a:t> </a:t>
            </a:r>
            <a:r>
              <a:rPr dirty="0" sz="2850" spc="-65">
                <a:latin typeface="Arial"/>
                <a:cs typeface="Arial"/>
              </a:rPr>
              <a:t>delivery;</a:t>
            </a:r>
            <a:r>
              <a:rPr dirty="0" sz="2850" spc="-105">
                <a:latin typeface="Arial"/>
                <a:cs typeface="Arial"/>
              </a:rPr>
              <a:t> </a:t>
            </a:r>
            <a:r>
              <a:rPr dirty="0" sz="2850" spc="-10">
                <a:latin typeface="Arial"/>
                <a:cs typeface="Arial"/>
              </a:rPr>
              <a:t>current </a:t>
            </a:r>
            <a:r>
              <a:rPr dirty="0" sz="2850" spc="-85">
                <a:latin typeface="Arial"/>
                <a:cs typeface="Arial"/>
              </a:rPr>
              <a:t>phone</a:t>
            </a:r>
            <a:r>
              <a:rPr dirty="0" sz="2850" spc="-114">
                <a:latin typeface="Arial"/>
                <a:cs typeface="Arial"/>
              </a:rPr>
              <a:t> </a:t>
            </a:r>
            <a:r>
              <a:rPr dirty="0" sz="2850" spc="-75">
                <a:latin typeface="Arial"/>
                <a:cs typeface="Arial"/>
              </a:rPr>
              <a:t>ordering</a:t>
            </a:r>
            <a:r>
              <a:rPr dirty="0" sz="2850" spc="-70">
                <a:latin typeface="Arial"/>
                <a:cs typeface="Arial"/>
              </a:rPr>
              <a:t> </a:t>
            </a:r>
            <a:r>
              <a:rPr dirty="0" sz="2850">
                <a:latin typeface="Arial"/>
                <a:cs typeface="Arial"/>
              </a:rPr>
              <a:t>is</a:t>
            </a:r>
            <a:r>
              <a:rPr dirty="0" sz="2850" spc="-135">
                <a:latin typeface="Arial"/>
                <a:cs typeface="Arial"/>
              </a:rPr>
              <a:t> </a:t>
            </a:r>
            <a:r>
              <a:rPr dirty="0" sz="2850">
                <a:latin typeface="Arial"/>
                <a:cs typeface="Arial"/>
              </a:rPr>
              <a:t>too</a:t>
            </a:r>
            <a:r>
              <a:rPr dirty="0" sz="2850" spc="-135">
                <a:latin typeface="Arial"/>
                <a:cs typeface="Arial"/>
              </a:rPr>
              <a:t> </a:t>
            </a:r>
            <a:r>
              <a:rPr dirty="0" sz="2850" spc="-95">
                <a:latin typeface="Arial"/>
                <a:cs typeface="Arial"/>
              </a:rPr>
              <a:t>slow</a:t>
            </a:r>
            <a:r>
              <a:rPr dirty="0" sz="2850" spc="-35">
                <a:latin typeface="Arial"/>
                <a:cs typeface="Arial"/>
              </a:rPr>
              <a:t> </a:t>
            </a:r>
            <a:r>
              <a:rPr dirty="0" sz="2850" spc="-110">
                <a:latin typeface="Arial"/>
                <a:cs typeface="Arial"/>
              </a:rPr>
              <a:t>and</a:t>
            </a:r>
            <a:r>
              <a:rPr dirty="0" sz="2850" spc="-90">
                <a:latin typeface="Arial"/>
                <a:cs typeface="Arial"/>
              </a:rPr>
              <a:t> </a:t>
            </a:r>
            <a:r>
              <a:rPr dirty="0" sz="2850" spc="-80">
                <a:latin typeface="Arial"/>
                <a:cs typeface="Arial"/>
              </a:rPr>
              <a:t>error-</a:t>
            </a:r>
            <a:r>
              <a:rPr dirty="0" sz="2850" spc="-10">
                <a:latin typeface="Arial"/>
                <a:cs typeface="Arial"/>
              </a:rPr>
              <a:t>prone.</a:t>
            </a:r>
            <a:endParaRPr sz="285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4240777" y="7616472"/>
            <a:ext cx="2145030" cy="170497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 marR="5080" indent="2540">
              <a:lnSpc>
                <a:spcPct val="91200"/>
              </a:lnSpc>
              <a:spcBef>
                <a:spcPts val="415"/>
              </a:spcBef>
              <a:tabLst>
                <a:tab pos="1499870" algn="l"/>
              </a:tabLst>
            </a:pPr>
            <a:r>
              <a:rPr dirty="0" sz="2750" spc="180">
                <a:solidFill>
                  <a:srgbClr val="0C498C"/>
                </a:solidFill>
                <a:latin typeface="Calibri"/>
                <a:cs typeface="Calibri"/>
              </a:rPr>
              <a:t>Audience </a:t>
            </a:r>
            <a:r>
              <a:rPr dirty="0" sz="2300" spc="-120">
                <a:latin typeface="Arial"/>
                <a:cs typeface="Arial"/>
              </a:rPr>
              <a:t>Business</a:t>
            </a:r>
            <a:r>
              <a:rPr dirty="0" sz="2300" spc="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Users, </a:t>
            </a:r>
            <a:r>
              <a:rPr dirty="0" sz="2350" spc="-145">
                <a:latin typeface="Arial"/>
                <a:cs typeface="Arial"/>
              </a:rPr>
              <a:t>Sponsors,</a:t>
            </a:r>
            <a:r>
              <a:rPr dirty="0" sz="2350" spc="10">
                <a:latin typeface="Arial"/>
                <a:cs typeface="Arial"/>
              </a:rPr>
              <a:t> </a:t>
            </a:r>
            <a:r>
              <a:rPr dirty="0" sz="2350" spc="-100">
                <a:latin typeface="Arial"/>
                <a:cs typeface="Arial"/>
              </a:rPr>
              <a:t>Project </a:t>
            </a:r>
            <a:r>
              <a:rPr dirty="0" sz="2200" spc="-50">
                <a:latin typeface="Arial"/>
                <a:cs typeface="Arial"/>
              </a:rPr>
              <a:t>Managers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 spc="-25">
                <a:latin typeface="Arial"/>
                <a:cs typeface="Arial"/>
              </a:rPr>
              <a:t>in </a:t>
            </a:r>
            <a:r>
              <a:rPr dirty="0" sz="2200" spc="-10">
                <a:latin typeface="Arial"/>
                <a:cs typeface="Arial"/>
              </a:rPr>
              <a:t>JetBra1ns</a:t>
            </a:r>
            <a:r>
              <a:rPr dirty="0" sz="2200">
                <a:latin typeface="Arial"/>
                <a:cs typeface="Arial"/>
              </a:rPr>
              <a:t>	</a:t>
            </a:r>
            <a:r>
              <a:rPr dirty="0" sz="2200" spc="-275">
                <a:latin typeface="Arial"/>
                <a:cs typeface="Arial"/>
              </a:rPr>
              <a:t>mono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39600" y="7581900"/>
            <a:ext cx="1295400" cy="1612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3400" y="2565400"/>
            <a:ext cx="10858500" cy="3784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" y="1739900"/>
            <a:ext cx="17272000" cy="16510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872066" y="7258050"/>
            <a:ext cx="15722600" cy="0"/>
          </a:xfrm>
          <a:custGeom>
            <a:avLst/>
            <a:gdLst/>
            <a:ahLst/>
            <a:cxnLst/>
            <a:rect l="l" t="t" r="r" b="b"/>
            <a:pathLst>
              <a:path w="15722600" h="0">
                <a:moveTo>
                  <a:pt x="0" y="0"/>
                </a:moveTo>
                <a:lnTo>
                  <a:pt x="15722600" y="0"/>
                </a:lnTo>
              </a:path>
            </a:pathLst>
          </a:custGeom>
          <a:ln w="12700">
            <a:solidFill>
              <a:srgbClr val="1A3D6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24900" y="6464300"/>
            <a:ext cx="25400" cy="1651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24900" y="2006600"/>
            <a:ext cx="25400" cy="4445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696168" y="162983"/>
            <a:ext cx="14054455" cy="85090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5400" spc="-260">
                <a:solidFill>
                  <a:srgbClr val="0A52BA"/>
                </a:solidFill>
              </a:rPr>
              <a:t>FRD:</a:t>
            </a:r>
            <a:r>
              <a:rPr dirty="0" sz="5400" spc="-90">
                <a:solidFill>
                  <a:srgbClr val="0A52BA"/>
                </a:solidFill>
              </a:rPr>
              <a:t> </a:t>
            </a:r>
            <a:r>
              <a:rPr dirty="0" sz="5400" spc="55">
                <a:solidFill>
                  <a:srgbClr val="0854BC"/>
                </a:solidFill>
              </a:rPr>
              <a:t>The</a:t>
            </a:r>
            <a:r>
              <a:rPr dirty="0" sz="5400" spc="-229">
                <a:solidFill>
                  <a:srgbClr val="0854BC"/>
                </a:solidFill>
              </a:rPr>
              <a:t> </a:t>
            </a:r>
            <a:r>
              <a:rPr dirty="0" sz="5400" spc="95">
                <a:solidFill>
                  <a:srgbClr val="084FB5"/>
                </a:solidFill>
              </a:rPr>
              <a:t>Functional</a:t>
            </a:r>
            <a:r>
              <a:rPr dirty="0" sz="5400" spc="-55">
                <a:solidFill>
                  <a:srgbClr val="084FB5"/>
                </a:solidFill>
              </a:rPr>
              <a:t> </a:t>
            </a:r>
            <a:r>
              <a:rPr dirty="0" sz="5400" spc="50">
                <a:solidFill>
                  <a:srgbClr val="0856C3"/>
                </a:solidFill>
              </a:rPr>
              <a:t>Requirement</a:t>
            </a:r>
            <a:r>
              <a:rPr dirty="0" sz="5400" spc="535">
                <a:solidFill>
                  <a:srgbClr val="0856C3"/>
                </a:solidFill>
              </a:rPr>
              <a:t> </a:t>
            </a:r>
            <a:r>
              <a:rPr dirty="0" sz="5400" spc="105">
                <a:solidFill>
                  <a:srgbClr val="0856BF"/>
                </a:solidFill>
              </a:rPr>
              <a:t>Document</a:t>
            </a:r>
            <a:endParaRPr sz="5400"/>
          </a:p>
        </p:txBody>
      </p:sp>
      <p:sp>
        <p:nvSpPr>
          <p:cNvPr id="9" name="object 9" descr=""/>
          <p:cNvSpPr txBox="1"/>
          <p:nvPr/>
        </p:nvSpPr>
        <p:spPr>
          <a:xfrm>
            <a:off x="3368691" y="977547"/>
            <a:ext cx="12022455" cy="144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  <a:tabLst>
                <a:tab pos="4402455" algn="l"/>
              </a:tabLst>
            </a:pPr>
            <a:r>
              <a:rPr dirty="0" sz="3400">
                <a:latin typeface="Arial"/>
                <a:cs typeface="Arial"/>
              </a:rPr>
              <a:t>The</a:t>
            </a:r>
            <a:r>
              <a:rPr dirty="0" sz="3400" spc="-195">
                <a:latin typeface="Arial"/>
                <a:cs typeface="Arial"/>
              </a:rPr>
              <a:t> </a:t>
            </a:r>
            <a:r>
              <a:rPr dirty="0" sz="3400" spc="-10">
                <a:latin typeface="Arial"/>
                <a:cs typeface="Arial"/>
              </a:rPr>
              <a:t>User</a:t>
            </a:r>
            <a:r>
              <a:rPr dirty="0" sz="3400" spc="-105">
                <a:latin typeface="Arial"/>
                <a:cs typeface="Arial"/>
              </a:rPr>
              <a:t> </a:t>
            </a:r>
            <a:r>
              <a:rPr dirty="0" sz="3400" spc="-10">
                <a:latin typeface="Arial"/>
                <a:cs typeface="Arial"/>
              </a:rPr>
              <a:t>Experience</a:t>
            </a:r>
            <a:r>
              <a:rPr dirty="0" sz="3400">
                <a:latin typeface="Arial"/>
                <a:cs typeface="Arial"/>
              </a:rPr>
              <a:t>	</a:t>
            </a:r>
            <a:r>
              <a:rPr dirty="0" sz="3400" spc="-25">
                <a:latin typeface="Arial"/>
                <a:cs typeface="Arial"/>
              </a:rPr>
              <a:t>("What</a:t>
            </a:r>
            <a:r>
              <a:rPr dirty="0" sz="3400" spc="65">
                <a:latin typeface="Arial"/>
                <a:cs typeface="Arial"/>
              </a:rPr>
              <a:t> </a:t>
            </a:r>
            <a:r>
              <a:rPr dirty="0" sz="3400">
                <a:latin typeface="Arial"/>
                <a:cs typeface="Arial"/>
              </a:rPr>
              <a:t>should</a:t>
            </a:r>
            <a:r>
              <a:rPr dirty="0" sz="3400" spc="55">
                <a:latin typeface="Arial"/>
                <a:cs typeface="Arial"/>
              </a:rPr>
              <a:t> </a:t>
            </a:r>
            <a:r>
              <a:rPr dirty="0" sz="3400">
                <a:latin typeface="Arial"/>
                <a:cs typeface="Arial"/>
              </a:rPr>
              <a:t>the</a:t>
            </a:r>
            <a:r>
              <a:rPr dirty="0" sz="3400" spc="-105">
                <a:latin typeface="Arial"/>
                <a:cs typeface="Arial"/>
              </a:rPr>
              <a:t> </a:t>
            </a:r>
            <a:r>
              <a:rPr dirty="0" sz="3400">
                <a:latin typeface="Arial"/>
                <a:cs typeface="Arial"/>
              </a:rPr>
              <a:t>system</a:t>
            </a:r>
            <a:r>
              <a:rPr dirty="0" sz="3400" spc="-25">
                <a:latin typeface="Arial"/>
                <a:cs typeface="Arial"/>
              </a:rPr>
              <a:t> </a:t>
            </a:r>
            <a:r>
              <a:rPr dirty="0" sz="3400" spc="-10">
                <a:latin typeface="Arial"/>
                <a:cs typeface="Arial"/>
              </a:rPr>
              <a:t>do?")</a:t>
            </a:r>
            <a:endParaRPr sz="3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20"/>
              </a:spcBef>
              <a:tabLst>
                <a:tab pos="7200265" algn="l"/>
              </a:tabLst>
            </a:pPr>
            <a:r>
              <a:rPr dirty="0" sz="3200">
                <a:solidFill>
                  <a:srgbClr val="05182F"/>
                </a:solidFill>
                <a:latin typeface="Arial"/>
                <a:cs typeface="Arial"/>
              </a:rPr>
              <a:t>The</a:t>
            </a:r>
            <a:r>
              <a:rPr dirty="0" sz="3200" spc="75">
                <a:solidFill>
                  <a:srgbClr val="05182F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011128"/>
                </a:solidFill>
                <a:latin typeface="Arial"/>
                <a:cs typeface="Arial"/>
              </a:rPr>
              <a:t>Analogy</a:t>
            </a:r>
            <a:r>
              <a:rPr dirty="0" sz="3200">
                <a:solidFill>
                  <a:srgbClr val="011128"/>
                </a:solidFill>
                <a:latin typeface="Arial"/>
                <a:cs typeface="Arial"/>
              </a:rPr>
              <a:t>	</a:t>
            </a:r>
            <a:r>
              <a:rPr dirty="0" sz="3200">
                <a:solidFill>
                  <a:srgbClr val="05132D"/>
                </a:solidFill>
                <a:latin typeface="Arial"/>
                <a:cs typeface="Arial"/>
              </a:rPr>
              <a:t>The</a:t>
            </a:r>
            <a:r>
              <a:rPr dirty="0" sz="3200" spc="-155">
                <a:solidFill>
                  <a:srgbClr val="05132D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05162A"/>
                </a:solidFill>
                <a:latin typeface="Arial"/>
                <a:cs typeface="Arial"/>
              </a:rPr>
              <a:t>Reality</a:t>
            </a:r>
            <a:r>
              <a:rPr dirty="0" sz="3200" spc="245">
                <a:solidFill>
                  <a:srgbClr val="05162A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011128"/>
                </a:solidFill>
                <a:latin typeface="Arial"/>
                <a:cs typeface="Arial"/>
              </a:rPr>
              <a:t>(Grocery</a:t>
            </a:r>
            <a:r>
              <a:rPr dirty="0" sz="3200" spc="305">
                <a:solidFill>
                  <a:srgbClr val="011128"/>
                </a:solidFill>
                <a:latin typeface="Arial"/>
                <a:cs typeface="Arial"/>
              </a:rPr>
              <a:t> </a:t>
            </a:r>
            <a:r>
              <a:rPr dirty="0" sz="3200" spc="-20">
                <a:solidFill>
                  <a:srgbClr val="03132B"/>
                </a:solidFill>
                <a:latin typeface="Arial"/>
                <a:cs typeface="Arial"/>
              </a:rPr>
              <a:t>App)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557718" y="3221919"/>
            <a:ext cx="664845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-10">
                <a:solidFill>
                  <a:srgbClr val="5D6E80"/>
                </a:solidFill>
                <a:latin typeface="Arial"/>
                <a:cs typeface="Arial"/>
              </a:rPr>
              <a:t>Be</a:t>
            </a:r>
            <a:r>
              <a:rPr dirty="0" sz="1150" spc="-100">
                <a:solidFill>
                  <a:srgbClr val="5D6E80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32323"/>
                </a:solidFill>
                <a:latin typeface="Arial"/>
                <a:cs typeface="Arial"/>
              </a:rPr>
              <a:t>d</a:t>
            </a:r>
            <a:r>
              <a:rPr dirty="0" sz="1150">
                <a:solidFill>
                  <a:srgbClr val="3F3F3F"/>
                </a:solidFill>
                <a:latin typeface="Arial"/>
                <a:cs typeface="Arial"/>
              </a:rPr>
              <a:t>roo</a:t>
            </a:r>
            <a:r>
              <a:rPr dirty="0" sz="1150" spc="-155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150" spc="-50">
                <a:solidFill>
                  <a:srgbClr val="70808E"/>
                </a:solidFill>
                <a:latin typeface="Arial"/>
                <a:cs typeface="Arial"/>
              </a:rPr>
              <a:t>m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480872" y="4330700"/>
            <a:ext cx="65722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3A3A3A"/>
                </a:solidFill>
                <a:latin typeface="Arial"/>
                <a:cs typeface="Arial"/>
              </a:rPr>
              <a:t>Bedroom</a:t>
            </a:r>
            <a:endParaRPr sz="12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40418" y="4339519"/>
            <a:ext cx="560705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-10">
                <a:solidFill>
                  <a:srgbClr val="333333"/>
                </a:solidFill>
                <a:latin typeface="Arial"/>
                <a:cs typeface="Arial"/>
              </a:rPr>
              <a:t>Kitchen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541132" y="6371872"/>
            <a:ext cx="5888355" cy="77914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556260" marR="5080" indent="-544195">
              <a:lnSpc>
                <a:spcPct val="78800"/>
              </a:lnSpc>
              <a:spcBef>
                <a:spcPts val="825"/>
              </a:spcBef>
            </a:pPr>
            <a:r>
              <a:rPr dirty="0" sz="2750" spc="-120">
                <a:latin typeface="Arial"/>
                <a:cs typeface="Arial"/>
              </a:rPr>
              <a:t>The</a:t>
            </a:r>
            <a:r>
              <a:rPr dirty="0" sz="2750" spc="-70">
                <a:latin typeface="Arial"/>
                <a:cs typeface="Arial"/>
              </a:rPr>
              <a:t> </a:t>
            </a:r>
            <a:r>
              <a:rPr dirty="0" sz="2750" spc="-120">
                <a:latin typeface="Arial"/>
                <a:cs typeface="Arial"/>
              </a:rPr>
              <a:t>house</a:t>
            </a:r>
            <a:r>
              <a:rPr dirty="0" sz="2750" spc="-70">
                <a:latin typeface="Arial"/>
                <a:cs typeface="Arial"/>
              </a:rPr>
              <a:t> </a:t>
            </a:r>
            <a:r>
              <a:rPr dirty="0" sz="2750" spc="-75">
                <a:latin typeface="Arial"/>
                <a:cs typeface="Arial"/>
              </a:rPr>
              <a:t>needs</a:t>
            </a:r>
            <a:r>
              <a:rPr dirty="0" sz="2750" spc="-20">
                <a:latin typeface="Arial"/>
                <a:cs typeface="Arial"/>
              </a:rPr>
              <a:t> </a:t>
            </a:r>
            <a:r>
              <a:rPr dirty="0" sz="2750" spc="-260">
                <a:latin typeface="Arial"/>
                <a:cs typeface="Arial"/>
              </a:rPr>
              <a:t>2</a:t>
            </a:r>
            <a:r>
              <a:rPr dirty="0" sz="2750" spc="-35">
                <a:latin typeface="Arial"/>
                <a:cs typeface="Arial"/>
              </a:rPr>
              <a:t> </a:t>
            </a:r>
            <a:r>
              <a:rPr dirty="0" sz="2750" spc="-105">
                <a:latin typeface="Arial"/>
                <a:cs typeface="Arial"/>
              </a:rPr>
              <a:t>bedrooms,</a:t>
            </a:r>
            <a:r>
              <a:rPr dirty="0" sz="2750" spc="-90">
                <a:latin typeface="Arial"/>
                <a:cs typeface="Arial"/>
              </a:rPr>
              <a:t> </a:t>
            </a:r>
            <a:r>
              <a:rPr dirty="0" sz="2750" spc="-85">
                <a:latin typeface="Arial"/>
                <a:cs typeface="Arial"/>
              </a:rPr>
              <a:t>1</a:t>
            </a:r>
            <a:r>
              <a:rPr dirty="0" sz="2750" spc="-300">
                <a:latin typeface="Arial"/>
                <a:cs typeface="Arial"/>
              </a:rPr>
              <a:t> </a:t>
            </a:r>
            <a:r>
              <a:rPr dirty="0" sz="2750" spc="-55">
                <a:latin typeface="Arial"/>
                <a:cs typeface="Arial"/>
              </a:rPr>
              <a:t>kitchen, </a:t>
            </a:r>
            <a:r>
              <a:rPr dirty="0" sz="2750" spc="-160">
                <a:latin typeface="Arial"/>
                <a:cs typeface="Arial"/>
              </a:rPr>
              <a:t>2</a:t>
            </a:r>
            <a:r>
              <a:rPr dirty="0" sz="2750" spc="-40">
                <a:latin typeface="Arial"/>
                <a:cs typeface="Arial"/>
              </a:rPr>
              <a:t> </a:t>
            </a:r>
            <a:r>
              <a:rPr dirty="0" sz="2750" spc="-75">
                <a:latin typeface="Arial"/>
                <a:cs typeface="Arial"/>
              </a:rPr>
              <a:t>bathrooms,</a:t>
            </a:r>
            <a:r>
              <a:rPr dirty="0" sz="2750" spc="-120">
                <a:latin typeface="Arial"/>
                <a:cs typeface="Arial"/>
              </a:rPr>
              <a:t> </a:t>
            </a:r>
            <a:r>
              <a:rPr dirty="0" sz="2750" spc="-90">
                <a:latin typeface="Arial"/>
                <a:cs typeface="Arial"/>
              </a:rPr>
              <a:t>and</a:t>
            </a:r>
            <a:r>
              <a:rPr dirty="0" sz="2750" spc="-100">
                <a:latin typeface="Arial"/>
                <a:cs typeface="Arial"/>
              </a:rPr>
              <a:t> </a:t>
            </a:r>
            <a:r>
              <a:rPr dirty="0" sz="2750" spc="-275">
                <a:latin typeface="Arial"/>
                <a:cs typeface="Arial"/>
              </a:rPr>
              <a:t>a</a:t>
            </a:r>
            <a:r>
              <a:rPr dirty="0" sz="2750" spc="5">
                <a:latin typeface="Arial"/>
                <a:cs typeface="Arial"/>
              </a:rPr>
              <a:t> </a:t>
            </a:r>
            <a:r>
              <a:rPr dirty="0" sz="2750" spc="-55">
                <a:latin typeface="Arial"/>
                <a:cs typeface="Arial"/>
              </a:rPr>
              <a:t>parking</a:t>
            </a:r>
            <a:r>
              <a:rPr dirty="0" sz="2750" spc="-9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spot.</a:t>
            </a:r>
            <a:endParaRPr sz="27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97690" y="7355416"/>
            <a:ext cx="9041130" cy="19202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3754"/>
              </a:lnSpc>
              <a:spcBef>
                <a:spcPts val="130"/>
              </a:spcBef>
            </a:pPr>
            <a:r>
              <a:rPr dirty="0" sz="3300" spc="-70">
                <a:solidFill>
                  <a:srgbClr val="031634"/>
                </a:solidFill>
                <a:latin typeface="Arial"/>
                <a:cs typeface="Arial"/>
              </a:rPr>
              <a:t>Key</a:t>
            </a:r>
            <a:r>
              <a:rPr dirty="0" sz="3300" spc="-135">
                <a:solidFill>
                  <a:srgbClr val="031634"/>
                </a:solidFill>
                <a:latin typeface="Arial"/>
                <a:cs typeface="Arial"/>
              </a:rPr>
              <a:t> </a:t>
            </a:r>
            <a:r>
              <a:rPr dirty="0" sz="3300">
                <a:solidFill>
                  <a:srgbClr val="05162F"/>
                </a:solidFill>
                <a:latin typeface="Arial"/>
                <a:cs typeface="Arial"/>
              </a:rPr>
              <a:t>Sections</a:t>
            </a:r>
            <a:r>
              <a:rPr dirty="0" sz="3300" spc="-220">
                <a:solidFill>
                  <a:srgbClr val="05162F"/>
                </a:solidFill>
                <a:latin typeface="Arial"/>
                <a:cs typeface="Arial"/>
              </a:rPr>
              <a:t> </a:t>
            </a:r>
            <a:r>
              <a:rPr dirty="0" sz="3300">
                <a:solidFill>
                  <a:srgbClr val="051C3B"/>
                </a:solidFill>
                <a:latin typeface="Arial"/>
                <a:cs typeface="Arial"/>
              </a:rPr>
              <a:t>&amp;</a:t>
            </a:r>
            <a:r>
              <a:rPr dirty="0" sz="3300" spc="-190">
                <a:solidFill>
                  <a:srgbClr val="051C3B"/>
                </a:solidFill>
                <a:latin typeface="Arial"/>
                <a:cs typeface="Arial"/>
              </a:rPr>
              <a:t> </a:t>
            </a:r>
            <a:r>
              <a:rPr dirty="0" sz="3300" spc="-10">
                <a:solidFill>
                  <a:srgbClr val="071C3B"/>
                </a:solidFill>
                <a:latin typeface="Arial"/>
                <a:cs typeface="Arial"/>
              </a:rPr>
              <a:t>Audience</a:t>
            </a:r>
            <a:endParaRPr sz="3300">
              <a:latin typeface="Arial"/>
              <a:cs typeface="Arial"/>
            </a:endParaRPr>
          </a:p>
          <a:p>
            <a:pPr marL="280670" indent="-248920">
              <a:lnSpc>
                <a:spcPts val="2805"/>
              </a:lnSpc>
              <a:buChar char="-"/>
              <a:tabLst>
                <a:tab pos="280670" algn="l"/>
              </a:tabLst>
            </a:pPr>
            <a:r>
              <a:rPr dirty="0" sz="2850" spc="-30">
                <a:latin typeface="Arial"/>
                <a:cs typeface="Arial"/>
              </a:rPr>
              <a:t>User</a:t>
            </a:r>
            <a:r>
              <a:rPr dirty="0" sz="2850" spc="-150">
                <a:latin typeface="Arial"/>
                <a:cs typeface="Arial"/>
              </a:rPr>
              <a:t> </a:t>
            </a:r>
            <a:r>
              <a:rPr dirty="0" sz="2850" spc="-10">
                <a:latin typeface="Arial"/>
                <a:cs typeface="Arial"/>
              </a:rPr>
              <a:t>Roles</a:t>
            </a:r>
            <a:endParaRPr sz="2850">
              <a:latin typeface="Arial"/>
              <a:cs typeface="Arial"/>
            </a:endParaRPr>
          </a:p>
          <a:p>
            <a:pPr marL="278130" indent="-246379">
              <a:lnSpc>
                <a:spcPts val="2630"/>
              </a:lnSpc>
              <a:buChar char="-"/>
              <a:tabLst>
                <a:tab pos="278130" algn="l"/>
              </a:tabLst>
            </a:pPr>
            <a:r>
              <a:rPr dirty="0" sz="2900" spc="-35">
                <a:latin typeface="Arial"/>
                <a:cs typeface="Arial"/>
              </a:rPr>
              <a:t>Functional</a:t>
            </a:r>
            <a:r>
              <a:rPr dirty="0" sz="2900" spc="-135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Modules</a:t>
            </a:r>
            <a:endParaRPr sz="2900">
              <a:latin typeface="Arial"/>
              <a:cs typeface="Arial"/>
            </a:endParaRPr>
          </a:p>
          <a:p>
            <a:pPr marL="280035" indent="-279400">
              <a:lnSpc>
                <a:spcPts val="2625"/>
              </a:lnSpc>
              <a:buSzPct val="72413"/>
              <a:buChar char="—"/>
              <a:tabLst>
                <a:tab pos="280035" algn="l"/>
              </a:tabLst>
            </a:pPr>
            <a:r>
              <a:rPr dirty="0" sz="2900" spc="-60">
                <a:latin typeface="Arial"/>
                <a:cs typeface="Arial"/>
              </a:rPr>
              <a:t>Process</a:t>
            </a:r>
            <a:r>
              <a:rPr dirty="0" sz="2900" spc="-135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Flows</a:t>
            </a:r>
            <a:endParaRPr sz="2900">
              <a:latin typeface="Arial"/>
              <a:cs typeface="Arial"/>
            </a:endParaRPr>
          </a:p>
          <a:p>
            <a:pPr marL="281305" indent="-279400">
              <a:lnSpc>
                <a:spcPts val="3065"/>
              </a:lnSpc>
              <a:buSzPct val="72413"/>
              <a:buChar char="—"/>
              <a:tabLst>
                <a:tab pos="281305" algn="l"/>
              </a:tabLst>
            </a:pPr>
            <a:r>
              <a:rPr dirty="0" sz="2900" spc="-70">
                <a:latin typeface="Arial"/>
                <a:cs typeface="Arial"/>
              </a:rPr>
              <a:t>Business </a:t>
            </a:r>
            <a:r>
              <a:rPr dirty="0" sz="2900" spc="-110">
                <a:latin typeface="Arial"/>
                <a:cs typeface="Arial"/>
              </a:rPr>
              <a:t>Rules</a:t>
            </a:r>
            <a:r>
              <a:rPr dirty="0" sz="2900" spc="-30">
                <a:latin typeface="Arial"/>
                <a:cs typeface="Arial"/>
              </a:rPr>
              <a:t> </a:t>
            </a:r>
            <a:r>
              <a:rPr dirty="0" sz="2900" spc="-25">
                <a:latin typeface="Arial"/>
                <a:cs typeface="Arial"/>
              </a:rPr>
              <a:t>(e.g.,</a:t>
            </a:r>
            <a:r>
              <a:rPr dirty="0" sz="2900" spc="-160">
                <a:latin typeface="Arial"/>
                <a:cs typeface="Arial"/>
              </a:rPr>
              <a:t> </a:t>
            </a:r>
            <a:r>
              <a:rPr dirty="0" sz="2900" spc="-35">
                <a:latin typeface="Arial"/>
                <a:cs typeface="Arial"/>
              </a:rPr>
              <a:t>"System</a:t>
            </a:r>
            <a:r>
              <a:rPr dirty="0" sz="2900" spc="-45">
                <a:latin typeface="Arial"/>
                <a:cs typeface="Arial"/>
              </a:rPr>
              <a:t> </a:t>
            </a:r>
            <a:r>
              <a:rPr dirty="0" sz="2900" spc="-25">
                <a:latin typeface="Arial"/>
                <a:cs typeface="Arial"/>
              </a:rPr>
              <a:t>calculates</a:t>
            </a:r>
            <a:r>
              <a:rPr dirty="0" sz="2900" spc="-1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final</a:t>
            </a:r>
            <a:r>
              <a:rPr dirty="0" sz="2900" spc="-20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amount")</a:t>
            </a:r>
            <a:endParaRPr sz="29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687522" y="6625166"/>
            <a:ext cx="98425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-50">
                <a:solidFill>
                  <a:srgbClr val="3D5D75"/>
                </a:solidFill>
                <a:latin typeface="Arial"/>
                <a:cs typeface="Arial"/>
              </a:rPr>
              <a:t>I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690235" y="6790266"/>
            <a:ext cx="91440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-50">
                <a:solidFill>
                  <a:srgbClr val="3F6079"/>
                </a:solidFill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376341" y="6407150"/>
            <a:ext cx="4987290" cy="738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775"/>
              </a:lnSpc>
              <a:spcBef>
                <a:spcPts val="100"/>
              </a:spcBef>
            </a:pPr>
            <a:r>
              <a:rPr dirty="0" sz="2500">
                <a:latin typeface="Arial"/>
                <a:cs typeface="Arial"/>
              </a:rPr>
              <a:t>User</a:t>
            </a:r>
            <a:r>
              <a:rPr dirty="0" sz="2500" spc="114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Login,</a:t>
            </a:r>
            <a:r>
              <a:rPr dirty="0" sz="2500" spc="9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Product</a:t>
            </a:r>
            <a:r>
              <a:rPr dirty="0" sz="2500" spc="17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Search,</a:t>
            </a:r>
            <a:r>
              <a:rPr dirty="0" sz="2500" spc="13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Order</a:t>
            </a:r>
            <a:endParaRPr sz="2500">
              <a:latin typeface="Arial"/>
              <a:cs typeface="Arial"/>
            </a:endParaRPr>
          </a:p>
          <a:p>
            <a:pPr algn="ctr" marR="4445">
              <a:lnSpc>
                <a:spcPts val="2835"/>
              </a:lnSpc>
            </a:pPr>
            <a:r>
              <a:rPr dirty="0" sz="2550" spc="-10">
                <a:latin typeface="Arial"/>
                <a:cs typeface="Arial"/>
              </a:rPr>
              <a:t>Placement,</a:t>
            </a:r>
            <a:r>
              <a:rPr dirty="0" sz="2550" spc="-7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Delivery</a:t>
            </a:r>
            <a:r>
              <a:rPr dirty="0" sz="2550" spc="2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Tracking.</a:t>
            </a:r>
            <a:endParaRPr sz="25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960822" y="7501466"/>
            <a:ext cx="98425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-50">
                <a:solidFill>
                  <a:srgbClr val="284F80"/>
                </a:solidFill>
                <a:latin typeface="Arial"/>
                <a:cs typeface="Arial"/>
              </a:rPr>
              <a:t>I</a:t>
            </a:r>
            <a:endParaRPr sz="20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960822" y="8060266"/>
            <a:ext cx="98425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-50">
                <a:solidFill>
                  <a:srgbClr val="1D497E"/>
                </a:solidFill>
                <a:latin typeface="Arial"/>
                <a:cs typeface="Arial"/>
              </a:rPr>
              <a:t>I</a:t>
            </a:r>
            <a:endParaRPr sz="205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960902" y="8805333"/>
            <a:ext cx="88265" cy="6565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3465"/>
              </a:lnSpc>
              <a:spcBef>
                <a:spcPts val="114"/>
              </a:spcBef>
            </a:pPr>
            <a:r>
              <a:rPr dirty="0" sz="2900" spc="-105">
                <a:solidFill>
                  <a:srgbClr val="24497E"/>
                </a:solidFill>
                <a:latin typeface="Arial"/>
                <a:cs typeface="Arial"/>
              </a:rPr>
              <a:t>i</a:t>
            </a:r>
            <a:endParaRPr sz="2900">
              <a:latin typeface="Arial"/>
              <a:cs typeface="Arial"/>
            </a:endParaRPr>
          </a:p>
          <a:p>
            <a:pPr marL="19685">
              <a:lnSpc>
                <a:spcPts val="1485"/>
              </a:lnSpc>
            </a:pPr>
            <a:r>
              <a:rPr dirty="0" sz="1250" spc="-345">
                <a:solidFill>
                  <a:srgbClr val="3D597E"/>
                </a:solidFill>
                <a:latin typeface="Arial"/>
                <a:cs typeface="Arial"/>
              </a:rPr>
              <a:t>1</a:t>
            </a:r>
            <a:endParaRPr sz="125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3523684" y="7806972"/>
            <a:ext cx="3078480" cy="112204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 marR="5080" indent="1905">
              <a:lnSpc>
                <a:spcPct val="80300"/>
              </a:lnSpc>
              <a:spcBef>
                <a:spcPts val="775"/>
              </a:spcBef>
            </a:pPr>
            <a:r>
              <a:rPr dirty="0" sz="2750" spc="270">
                <a:solidFill>
                  <a:srgbClr val="011631"/>
                </a:solidFill>
                <a:latin typeface="Arial"/>
                <a:cs typeface="Arial"/>
              </a:rPr>
              <a:t>Audience </a:t>
            </a:r>
            <a:r>
              <a:rPr dirty="0" sz="2750" spc="-25">
                <a:latin typeface="Arial"/>
                <a:cs typeface="Arial"/>
              </a:rPr>
              <a:t>Business</a:t>
            </a:r>
            <a:r>
              <a:rPr dirty="0" sz="2750" spc="-114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Analysts, </a:t>
            </a:r>
            <a:r>
              <a:rPr dirty="0" sz="2750" spc="-20">
                <a:latin typeface="Arial"/>
                <a:cs typeface="Arial"/>
              </a:rPr>
              <a:t>Developers,</a:t>
            </a:r>
            <a:r>
              <a:rPr dirty="0" sz="2750" spc="-95">
                <a:latin typeface="Arial"/>
                <a:cs typeface="Arial"/>
              </a:rPr>
              <a:t> </a:t>
            </a:r>
            <a:r>
              <a:rPr dirty="0" sz="2750" spc="-45">
                <a:latin typeface="Arial"/>
                <a:cs typeface="Arial"/>
              </a:rPr>
              <a:t>Testers</a:t>
            </a:r>
            <a:endParaRPr sz="275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"/>
                <a:cs typeface="Arial"/>
              </a:rPr>
              <a:t>G</a:t>
            </a:r>
            <a:r>
              <a:rPr dirty="0" sz="1300" spc="484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01600" y="8204200"/>
            <a:ext cx="1143000" cy="1155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01600" y="2425700"/>
            <a:ext cx="3962400" cy="53975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83300" y="7150100"/>
            <a:ext cx="939800" cy="5842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81600" y="3632200"/>
            <a:ext cx="1016000" cy="5334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964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110"/>
              </a:spcBef>
            </a:pPr>
            <a:r>
              <a:rPr dirty="0" sz="5750" spc="-465">
                <a:solidFill>
                  <a:srgbClr val="014BB8"/>
                </a:solidFill>
              </a:rPr>
              <a:t>FRS:</a:t>
            </a:r>
            <a:r>
              <a:rPr dirty="0" sz="5750" spc="-140">
                <a:solidFill>
                  <a:srgbClr val="014BB8"/>
                </a:solidFill>
              </a:rPr>
              <a:t> </a:t>
            </a:r>
            <a:r>
              <a:rPr dirty="0" sz="5750" spc="-175">
                <a:solidFill>
                  <a:srgbClr val="074DBA"/>
                </a:solidFill>
              </a:rPr>
              <a:t>The</a:t>
            </a:r>
            <a:r>
              <a:rPr dirty="0" sz="5750" spc="-370">
                <a:solidFill>
                  <a:srgbClr val="074DBA"/>
                </a:solidFill>
              </a:rPr>
              <a:t> </a:t>
            </a:r>
            <a:r>
              <a:rPr dirty="0" sz="5750" spc="-10">
                <a:solidFill>
                  <a:srgbClr val="084FB8"/>
                </a:solidFill>
              </a:rPr>
              <a:t>Functional</a:t>
            </a:r>
            <a:r>
              <a:rPr dirty="0" sz="5750" spc="-390">
                <a:solidFill>
                  <a:srgbClr val="084FB8"/>
                </a:solidFill>
              </a:rPr>
              <a:t> </a:t>
            </a:r>
            <a:r>
              <a:rPr dirty="0" sz="5750" spc="-70">
                <a:solidFill>
                  <a:srgbClr val="074FBD"/>
                </a:solidFill>
              </a:rPr>
              <a:t>Requirement</a:t>
            </a:r>
            <a:r>
              <a:rPr dirty="0" sz="5750" spc="-130">
                <a:solidFill>
                  <a:srgbClr val="074FBD"/>
                </a:solidFill>
              </a:rPr>
              <a:t> </a:t>
            </a:r>
            <a:r>
              <a:rPr dirty="0" sz="5750" spc="-10">
                <a:solidFill>
                  <a:srgbClr val="054FBC"/>
                </a:solidFill>
              </a:rPr>
              <a:t>Specification</a:t>
            </a:r>
            <a:endParaRPr sz="5750"/>
          </a:p>
          <a:p>
            <a:pPr marL="105410">
              <a:lnSpc>
                <a:spcPct val="100000"/>
              </a:lnSpc>
              <a:spcBef>
                <a:spcPts val="100"/>
              </a:spcBef>
            </a:pPr>
            <a:r>
              <a:rPr dirty="0" sz="3650">
                <a:solidFill>
                  <a:srgbClr val="0C2649"/>
                </a:solidFill>
              </a:rPr>
              <a:t>The</a:t>
            </a:r>
            <a:r>
              <a:rPr dirty="0" sz="3650" spc="-5">
                <a:solidFill>
                  <a:srgbClr val="0C2649"/>
                </a:solidFill>
              </a:rPr>
              <a:t> </a:t>
            </a:r>
            <a:r>
              <a:rPr dirty="0" sz="3650" spc="60">
                <a:solidFill>
                  <a:srgbClr val="0F2846"/>
                </a:solidFill>
              </a:rPr>
              <a:t>Specifics</a:t>
            </a:r>
            <a:r>
              <a:rPr dirty="0" sz="3650" spc="235">
                <a:solidFill>
                  <a:srgbClr val="0F2846"/>
                </a:solidFill>
              </a:rPr>
              <a:t> </a:t>
            </a:r>
            <a:r>
              <a:rPr dirty="0" sz="3650">
                <a:solidFill>
                  <a:srgbClr val="183354"/>
                </a:solidFill>
              </a:rPr>
              <a:t>("Exactly</a:t>
            </a:r>
            <a:r>
              <a:rPr dirty="0" sz="3650" spc="150">
                <a:solidFill>
                  <a:srgbClr val="183354"/>
                </a:solidFill>
              </a:rPr>
              <a:t> </a:t>
            </a:r>
            <a:r>
              <a:rPr dirty="0" sz="3650" spc="105">
                <a:solidFill>
                  <a:srgbClr val="152F48"/>
                </a:solidFill>
              </a:rPr>
              <a:t>how</a:t>
            </a:r>
            <a:r>
              <a:rPr dirty="0" sz="3650" spc="85">
                <a:solidFill>
                  <a:srgbClr val="152F48"/>
                </a:solidFill>
              </a:rPr>
              <a:t> </a:t>
            </a:r>
            <a:r>
              <a:rPr dirty="0" sz="3650" spc="75">
                <a:solidFill>
                  <a:srgbClr val="133154"/>
                </a:solidFill>
              </a:rPr>
              <a:t>does</a:t>
            </a:r>
            <a:r>
              <a:rPr dirty="0" sz="3650" spc="-65">
                <a:solidFill>
                  <a:srgbClr val="133154"/>
                </a:solidFill>
              </a:rPr>
              <a:t> </a:t>
            </a:r>
            <a:r>
              <a:rPr dirty="0" sz="3650">
                <a:solidFill>
                  <a:srgbClr val="183350"/>
                </a:solidFill>
              </a:rPr>
              <a:t>it</a:t>
            </a:r>
            <a:r>
              <a:rPr dirty="0" sz="3650" spc="440">
                <a:solidFill>
                  <a:srgbClr val="183350"/>
                </a:solidFill>
              </a:rPr>
              <a:t> </a:t>
            </a:r>
            <a:r>
              <a:rPr dirty="0" sz="3650" spc="-10">
                <a:solidFill>
                  <a:srgbClr val="082444"/>
                </a:solidFill>
              </a:rPr>
              <a:t>behave?")</a:t>
            </a:r>
            <a:endParaRPr sz="3650"/>
          </a:p>
        </p:txBody>
      </p:sp>
      <p:sp>
        <p:nvSpPr>
          <p:cNvPr id="7" name="object 7" descr=""/>
          <p:cNvSpPr txBox="1"/>
          <p:nvPr/>
        </p:nvSpPr>
        <p:spPr>
          <a:xfrm>
            <a:off x="841974" y="2548148"/>
            <a:ext cx="1871980" cy="2755265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4500" spc="-495">
                <a:solidFill>
                  <a:srgbClr val="0348AF"/>
                </a:solidFill>
                <a:latin typeface="Arial"/>
                <a:cs typeface="Arial"/>
              </a:rPr>
              <a:t>FRD</a:t>
            </a:r>
            <a:endParaRPr sz="4500">
              <a:latin typeface="Arial"/>
              <a:cs typeface="Arial"/>
            </a:endParaRPr>
          </a:p>
          <a:p>
            <a:pPr marL="17780" marR="5080" indent="13335">
              <a:lnSpc>
                <a:spcPct val="85500"/>
              </a:lnSpc>
              <a:spcBef>
                <a:spcPts val="1045"/>
              </a:spcBef>
            </a:pPr>
            <a:r>
              <a:rPr dirty="0" sz="2850" spc="-55">
                <a:latin typeface="Calibri"/>
                <a:cs typeface="Calibri"/>
              </a:rPr>
              <a:t>The</a:t>
            </a:r>
            <a:r>
              <a:rPr dirty="0" sz="2850" spc="-210">
                <a:latin typeface="Calibri"/>
                <a:cs typeface="Calibri"/>
              </a:rPr>
              <a:t> </a:t>
            </a:r>
            <a:r>
              <a:rPr dirty="0" sz="2850" spc="-10">
                <a:latin typeface="Calibri"/>
                <a:cs typeface="Calibri"/>
              </a:rPr>
              <a:t>Feature: </a:t>
            </a:r>
            <a:r>
              <a:rPr dirty="0" sz="2750" spc="-210">
                <a:latin typeface="Arial"/>
                <a:cs typeface="Arial"/>
              </a:rPr>
              <a:t>"The</a:t>
            </a:r>
            <a:r>
              <a:rPr dirty="0" sz="2750" spc="-140">
                <a:latin typeface="Arial"/>
                <a:cs typeface="Arial"/>
              </a:rPr>
              <a:t> </a:t>
            </a:r>
            <a:r>
              <a:rPr dirty="0" sz="2750" spc="-229">
                <a:latin typeface="Arial"/>
                <a:cs typeface="Arial"/>
              </a:rPr>
              <a:t>car</a:t>
            </a:r>
            <a:r>
              <a:rPr dirty="0" sz="2750" spc="10">
                <a:latin typeface="Arial"/>
                <a:cs typeface="Arial"/>
              </a:rPr>
              <a:t> </a:t>
            </a:r>
            <a:r>
              <a:rPr dirty="0" sz="2750" spc="-225">
                <a:latin typeface="Arial"/>
                <a:cs typeface="Arial"/>
              </a:rPr>
              <a:t>must </a:t>
            </a:r>
            <a:r>
              <a:rPr dirty="0" sz="2700" spc="-245">
                <a:latin typeface="Arial"/>
                <a:cs typeface="Arial"/>
              </a:rPr>
              <a:t>have</a:t>
            </a:r>
            <a:r>
              <a:rPr dirty="0" sz="2700" spc="-60">
                <a:latin typeface="Arial"/>
                <a:cs typeface="Arial"/>
              </a:rPr>
              <a:t> </a:t>
            </a:r>
            <a:r>
              <a:rPr dirty="0" sz="2700" spc="-120">
                <a:latin typeface="Arial"/>
                <a:cs typeface="Arial"/>
              </a:rPr>
              <a:t>brakes." </a:t>
            </a:r>
            <a:r>
              <a:rPr dirty="0" sz="2750" spc="-265">
                <a:latin typeface="Arial"/>
                <a:cs typeface="Arial"/>
              </a:rPr>
              <a:t>(Focus: </a:t>
            </a:r>
            <a:r>
              <a:rPr dirty="0" sz="2750" spc="-150">
                <a:latin typeface="Arial"/>
                <a:cs typeface="Arial"/>
              </a:rPr>
              <a:t>Existence)</a:t>
            </a:r>
            <a:endParaRPr sz="27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378850" y="5165372"/>
            <a:ext cx="1577975" cy="436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46405">
              <a:lnSpc>
                <a:spcPts val="1600"/>
              </a:lnSpc>
              <a:spcBef>
                <a:spcPts val="125"/>
              </a:spcBef>
            </a:pPr>
            <a:r>
              <a:rPr dirty="0" sz="1500" spc="-10">
                <a:solidFill>
                  <a:srgbClr val="111111"/>
                </a:solidFill>
                <a:latin typeface="Arial"/>
                <a:cs typeface="Arial"/>
              </a:rPr>
              <a:t>i0mph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ts val="1600"/>
              </a:lnSpc>
              <a:tabLst>
                <a:tab pos="360045" algn="l"/>
                <a:tab pos="1297940" algn="l"/>
              </a:tabLst>
            </a:pPr>
            <a:r>
              <a:rPr dirty="0" sz="1500" spc="-50">
                <a:solidFill>
                  <a:srgbClr val="6D7C8C"/>
                </a:solidFill>
                <a:latin typeface="Arial"/>
                <a:cs typeface="Arial"/>
              </a:rPr>
              <a:t>E</a:t>
            </a:r>
            <a:r>
              <a:rPr dirty="0" sz="1500">
                <a:solidFill>
                  <a:srgbClr val="6D7C8C"/>
                </a:solidFill>
                <a:latin typeface="Arial"/>
                <a:cs typeface="Arial"/>
              </a:rPr>
              <a:t>	</a:t>
            </a:r>
            <a:r>
              <a:rPr dirty="0" sz="1500" spc="55">
                <a:solidFill>
                  <a:srgbClr val="0F3156"/>
                </a:solidFill>
                <a:latin typeface="Arial"/>
                <a:cs typeface="Arial"/>
              </a:rPr>
              <a:t>••••••••0•</a:t>
            </a:r>
            <a:r>
              <a:rPr dirty="0" sz="1500">
                <a:solidFill>
                  <a:srgbClr val="0F3156"/>
                </a:solidFill>
                <a:latin typeface="Arial"/>
                <a:cs typeface="Arial"/>
              </a:rPr>
              <a:t>	</a:t>
            </a:r>
            <a:r>
              <a:rPr dirty="0" sz="1500" spc="-540">
                <a:solidFill>
                  <a:srgbClr val="9A9A9A"/>
                </a:solidFill>
                <a:latin typeface="Arial"/>
                <a:cs typeface="Arial"/>
              </a:rPr>
              <a:t>—</a:t>
            </a:r>
            <a:r>
              <a:rPr dirty="0" sz="1500" spc="2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dirty="0" sz="1500" spc="-860">
                <a:solidFill>
                  <a:srgbClr val="707070"/>
                </a:solidFill>
                <a:latin typeface="Arial"/>
                <a:cs typeface="Arial"/>
              </a:rPr>
              <a:t>—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340739" y="2922763"/>
            <a:ext cx="420370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60">
                <a:solidFill>
                  <a:srgbClr val="111111"/>
                </a:solidFill>
                <a:latin typeface="Arial"/>
                <a:cs typeface="Arial"/>
              </a:rPr>
              <a:t>30m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370086" y="3316463"/>
            <a:ext cx="603885" cy="50609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5080" indent="6350">
              <a:lnSpc>
                <a:spcPts val="1700"/>
              </a:lnSpc>
              <a:spcBef>
                <a:spcPts val="475"/>
              </a:spcBef>
            </a:pPr>
            <a:r>
              <a:rPr dirty="0" sz="1700" spc="-10">
                <a:solidFill>
                  <a:srgbClr val="1D1D1D"/>
                </a:solidFill>
                <a:latin typeface="Arial"/>
                <a:cs typeface="Arial"/>
              </a:rPr>
              <a:t>brake </a:t>
            </a:r>
            <a:r>
              <a:rPr dirty="0" sz="1700" spc="-80">
                <a:solidFill>
                  <a:srgbClr val="0C0C0C"/>
                </a:solidFill>
                <a:latin typeface="Arial"/>
                <a:cs typeface="Arial"/>
              </a:rPr>
              <a:t>callper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465872" y="4522963"/>
            <a:ext cx="516255" cy="50609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9050" marR="5080" indent="-6985">
              <a:lnSpc>
                <a:spcPts val="1700"/>
              </a:lnSpc>
              <a:spcBef>
                <a:spcPts val="475"/>
              </a:spcBef>
            </a:pPr>
            <a:r>
              <a:rPr dirty="0" sz="1700" spc="-95">
                <a:solidFill>
                  <a:srgbClr val="414141"/>
                </a:solidFill>
                <a:latin typeface="Arial"/>
                <a:cs typeface="Arial"/>
              </a:rPr>
              <a:t>brake </a:t>
            </a:r>
            <a:r>
              <a:rPr dirty="0" sz="1700" spc="-20">
                <a:solidFill>
                  <a:srgbClr val="242424"/>
                </a:solidFill>
                <a:latin typeface="Arial"/>
                <a:cs typeface="Arial"/>
              </a:rPr>
              <a:t>disc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453172" y="6313663"/>
            <a:ext cx="516255" cy="51879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9050" marR="5080" indent="-6985">
              <a:lnSpc>
                <a:spcPts val="1800"/>
              </a:lnSpc>
              <a:spcBef>
                <a:spcPts val="395"/>
              </a:spcBef>
            </a:pPr>
            <a:r>
              <a:rPr dirty="0" sz="1700" spc="-95">
                <a:solidFill>
                  <a:srgbClr val="181818"/>
                </a:solidFill>
                <a:latin typeface="Arial"/>
                <a:cs typeface="Arial"/>
              </a:rPr>
              <a:t>brake </a:t>
            </a:r>
            <a:r>
              <a:rPr dirty="0" sz="1700" spc="-25">
                <a:solidFill>
                  <a:srgbClr val="1F1F1F"/>
                </a:solidFill>
                <a:latin typeface="Arial"/>
                <a:cs typeface="Arial"/>
              </a:rPr>
              <a:t>dsc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353144" y="2469052"/>
            <a:ext cx="2903220" cy="3136265"/>
          </a:xfrm>
          <a:prstGeom prst="rect">
            <a:avLst/>
          </a:prstGeom>
        </p:spPr>
        <p:txBody>
          <a:bodyPr wrap="square" lIns="0" tIns="229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dirty="0" sz="4300" spc="-345">
                <a:solidFill>
                  <a:srgbClr val="054DB1"/>
                </a:solidFill>
                <a:latin typeface="Arial"/>
                <a:cs typeface="Arial"/>
              </a:rPr>
              <a:t>FRS</a:t>
            </a:r>
            <a:endParaRPr sz="4300">
              <a:latin typeface="Arial"/>
              <a:cs typeface="Arial"/>
            </a:endParaRPr>
          </a:p>
          <a:p>
            <a:pPr marL="24130">
              <a:lnSpc>
                <a:spcPts val="2875"/>
              </a:lnSpc>
              <a:spcBef>
                <a:spcPts val="990"/>
              </a:spcBef>
            </a:pPr>
            <a:r>
              <a:rPr dirty="0" sz="2500" spc="-55">
                <a:latin typeface="Arial"/>
                <a:cs typeface="Arial"/>
              </a:rPr>
              <a:t>The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Logic:</a:t>
            </a:r>
            <a:endParaRPr sz="2500">
              <a:latin typeface="Arial"/>
              <a:cs typeface="Arial"/>
            </a:endParaRPr>
          </a:p>
          <a:p>
            <a:pPr marL="31750" marR="5080" indent="-1905">
              <a:lnSpc>
                <a:spcPct val="94300"/>
              </a:lnSpc>
              <a:spcBef>
                <a:spcPts val="50"/>
              </a:spcBef>
            </a:pPr>
            <a:r>
              <a:rPr dirty="0" sz="2500" spc="-95">
                <a:latin typeface="Arial"/>
                <a:cs typeface="Arial"/>
              </a:rPr>
              <a:t>"The</a:t>
            </a:r>
            <a:r>
              <a:rPr dirty="0" sz="2500" spc="-80">
                <a:latin typeface="Arial"/>
                <a:cs typeface="Arial"/>
              </a:rPr>
              <a:t> </a:t>
            </a:r>
            <a:r>
              <a:rPr dirty="0" sz="2500" spc="-90">
                <a:latin typeface="Arial"/>
                <a:cs typeface="Arial"/>
              </a:rPr>
              <a:t>brakes</a:t>
            </a:r>
            <a:r>
              <a:rPr dirty="0" sz="2500" spc="-55">
                <a:latin typeface="Arial"/>
                <a:cs typeface="Arial"/>
              </a:rPr>
              <a:t> </a:t>
            </a:r>
            <a:r>
              <a:rPr dirty="0" sz="2500" spc="-20">
                <a:latin typeface="Arial"/>
                <a:cs typeface="Arial"/>
              </a:rPr>
              <a:t>must </a:t>
            </a:r>
            <a:r>
              <a:rPr dirty="0" sz="2350">
                <a:latin typeface="Arial"/>
                <a:cs typeface="Arial"/>
              </a:rPr>
              <a:t>stop</a:t>
            </a:r>
            <a:r>
              <a:rPr dirty="0" sz="2350" spc="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the</a:t>
            </a:r>
            <a:r>
              <a:rPr dirty="0" sz="2350" spc="1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car</a:t>
            </a:r>
            <a:r>
              <a:rPr dirty="0" sz="2350" spc="140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within</a:t>
            </a:r>
            <a:r>
              <a:rPr dirty="0" sz="2350" spc="585">
                <a:latin typeface="Arial"/>
                <a:cs typeface="Arial"/>
              </a:rPr>
              <a:t> </a:t>
            </a:r>
            <a:r>
              <a:rPr dirty="0" sz="2400" spc="50">
                <a:latin typeface="Arial"/>
                <a:cs typeface="Arial"/>
              </a:rPr>
              <a:t>30</a:t>
            </a:r>
            <a:r>
              <a:rPr dirty="0" sz="2400" spc="-1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meters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at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45">
                <a:latin typeface="Arial"/>
                <a:cs typeface="Arial"/>
              </a:rPr>
              <a:t>60mph." </a:t>
            </a:r>
            <a:r>
              <a:rPr dirty="0" sz="2500" spc="-125">
                <a:latin typeface="Arial"/>
                <a:cs typeface="Arial"/>
              </a:rPr>
              <a:t>(Focus:</a:t>
            </a:r>
            <a:r>
              <a:rPr dirty="0" sz="2500" spc="-1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Behavior</a:t>
            </a:r>
            <a:endParaRPr sz="2500">
              <a:latin typeface="Arial"/>
              <a:cs typeface="Arial"/>
            </a:endParaRPr>
          </a:p>
          <a:p>
            <a:pPr marL="31115">
              <a:lnSpc>
                <a:spcPts val="2680"/>
              </a:lnSpc>
            </a:pPr>
            <a:r>
              <a:rPr dirty="0" sz="2400" spc="-200">
                <a:latin typeface="Arial"/>
                <a:cs typeface="Arial"/>
              </a:rPr>
              <a:t>&amp;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Constraints)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040563" y="2587272"/>
            <a:ext cx="3203575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250">
                <a:solidFill>
                  <a:srgbClr val="08213D"/>
                </a:solidFill>
                <a:latin typeface="Arial"/>
                <a:cs typeface="Arial"/>
              </a:rPr>
              <a:t>Real</a:t>
            </a:r>
            <a:r>
              <a:rPr dirty="0" sz="2750" spc="-95">
                <a:solidFill>
                  <a:srgbClr val="08213D"/>
                </a:solidFill>
                <a:latin typeface="Arial"/>
                <a:cs typeface="Arial"/>
              </a:rPr>
              <a:t> </a:t>
            </a:r>
            <a:r>
              <a:rPr dirty="0" sz="2750" spc="-140">
                <a:solidFill>
                  <a:srgbClr val="072446"/>
                </a:solidFill>
                <a:latin typeface="Arial"/>
                <a:cs typeface="Arial"/>
              </a:rPr>
              <a:t>World</a:t>
            </a:r>
            <a:r>
              <a:rPr dirty="0" sz="2750" spc="-204">
                <a:solidFill>
                  <a:srgbClr val="072446"/>
                </a:solidFill>
                <a:latin typeface="Arial"/>
                <a:cs typeface="Arial"/>
              </a:rPr>
              <a:t> </a:t>
            </a:r>
            <a:r>
              <a:rPr dirty="0" sz="2750" spc="-75">
                <a:solidFill>
                  <a:srgbClr val="0A284D"/>
                </a:solidFill>
                <a:latin typeface="Arial"/>
                <a:cs typeface="Arial"/>
              </a:rPr>
              <a:t>Application</a:t>
            </a:r>
            <a:endParaRPr sz="27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042379" y="5840175"/>
            <a:ext cx="3509645" cy="175069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2150" spc="-20">
                <a:latin typeface="Arial"/>
                <a:cs typeface="Arial"/>
              </a:rPr>
              <a:t>Input:</a:t>
            </a:r>
            <a:r>
              <a:rPr dirty="0" sz="2150" spc="-140">
                <a:latin typeface="Arial"/>
                <a:cs typeface="Arial"/>
              </a:rPr>
              <a:t> </a:t>
            </a:r>
            <a:r>
              <a:rPr dirty="0" sz="2150" spc="-85">
                <a:latin typeface="Arial"/>
                <a:cs typeface="Arial"/>
              </a:rPr>
              <a:t>Password</a:t>
            </a:r>
            <a:r>
              <a:rPr dirty="0" sz="2150" spc="-20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field.</a:t>
            </a:r>
            <a:endParaRPr sz="2150">
              <a:latin typeface="Arial"/>
              <a:cs typeface="Arial"/>
            </a:endParaRPr>
          </a:p>
          <a:p>
            <a:pPr marL="15875">
              <a:lnSpc>
                <a:spcPts val="2640"/>
              </a:lnSpc>
              <a:spcBef>
                <a:spcPts val="270"/>
              </a:spcBef>
            </a:pPr>
            <a:r>
              <a:rPr dirty="0" sz="2400" spc="-150">
                <a:latin typeface="Arial"/>
                <a:cs typeface="Arial"/>
              </a:rPr>
              <a:t>Logic:</a:t>
            </a:r>
            <a:r>
              <a:rPr dirty="0" sz="2400" spc="-185">
                <a:latin typeface="Arial"/>
                <a:cs typeface="Arial"/>
              </a:rPr>
              <a:t> </a:t>
            </a:r>
            <a:r>
              <a:rPr dirty="0" sz="2400" spc="-245">
                <a:latin typeface="Arial"/>
                <a:cs typeface="Arial"/>
              </a:rPr>
              <a:t>Min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8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95">
                <a:latin typeface="Arial"/>
                <a:cs typeface="Arial"/>
              </a:rPr>
              <a:t>chars;</a:t>
            </a:r>
            <a:r>
              <a:rPr dirty="0" sz="2400" spc="45">
                <a:latin typeface="Arial"/>
                <a:cs typeface="Arial"/>
              </a:rPr>
              <a:t> </a:t>
            </a:r>
            <a:r>
              <a:rPr dirty="0" sz="2400" spc="-85">
                <a:latin typeface="Arial"/>
                <a:cs typeface="Arial"/>
              </a:rPr>
              <a:t>Account</a:t>
            </a:r>
            <a:endParaRPr sz="2400">
              <a:latin typeface="Arial"/>
              <a:cs typeface="Arial"/>
            </a:endParaRPr>
          </a:p>
          <a:p>
            <a:pPr marL="19685">
              <a:lnSpc>
                <a:spcPts val="2520"/>
              </a:lnSpc>
            </a:pPr>
            <a:r>
              <a:rPr dirty="0" sz="2300" spc="-145">
                <a:latin typeface="Arial"/>
                <a:cs typeface="Arial"/>
              </a:rPr>
              <a:t>locks</a:t>
            </a:r>
            <a:r>
              <a:rPr dirty="0" sz="2300" spc="-70">
                <a:latin typeface="Arial"/>
                <a:cs typeface="Arial"/>
              </a:rPr>
              <a:t> </a:t>
            </a:r>
            <a:r>
              <a:rPr dirty="0" sz="2300" spc="-65">
                <a:latin typeface="Arial"/>
                <a:cs typeface="Arial"/>
              </a:rPr>
              <a:t>after</a:t>
            </a:r>
            <a:r>
              <a:rPr dirty="0" sz="2300" spc="-15">
                <a:latin typeface="Arial"/>
                <a:cs typeface="Arial"/>
              </a:rPr>
              <a:t> </a:t>
            </a:r>
            <a:r>
              <a:rPr dirty="0" sz="2300" spc="-135">
                <a:latin typeface="Arial"/>
                <a:cs typeface="Arial"/>
              </a:rPr>
              <a:t>3</a:t>
            </a:r>
            <a:r>
              <a:rPr dirty="0" sz="2300" spc="-12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failures.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ts val="2490"/>
              </a:lnSpc>
              <a:spcBef>
                <a:spcPts val="489"/>
              </a:spcBef>
            </a:pPr>
            <a:r>
              <a:rPr dirty="0" sz="2150" spc="-20">
                <a:latin typeface="Arial"/>
                <a:cs typeface="Arial"/>
              </a:rPr>
              <a:t>Output:</a:t>
            </a:r>
            <a:r>
              <a:rPr dirty="0" sz="2150" spc="-120">
                <a:latin typeface="Arial"/>
                <a:cs typeface="Arial"/>
              </a:rPr>
              <a:t> </a:t>
            </a:r>
            <a:r>
              <a:rPr dirty="0" sz="2150" spc="-105">
                <a:latin typeface="Arial"/>
                <a:cs typeface="Arial"/>
              </a:rPr>
              <a:t>Error</a:t>
            </a:r>
            <a:r>
              <a:rPr dirty="0" sz="2150" spc="-15">
                <a:latin typeface="Arial"/>
                <a:cs typeface="Arial"/>
              </a:rPr>
              <a:t> </a:t>
            </a:r>
            <a:r>
              <a:rPr dirty="0" sz="2150" spc="-114">
                <a:latin typeface="Arial"/>
                <a:cs typeface="Arial"/>
              </a:rPr>
              <a:t>message</a:t>
            </a:r>
            <a:r>
              <a:rPr dirty="0" sz="2150" spc="20">
                <a:latin typeface="Arial"/>
                <a:cs typeface="Arial"/>
              </a:rPr>
              <a:t> </a:t>
            </a:r>
            <a:r>
              <a:rPr dirty="0" sz="2150" spc="-45">
                <a:latin typeface="Arial"/>
                <a:cs typeface="Arial"/>
              </a:rPr>
              <a:t>"Invalid</a:t>
            </a:r>
            <a:endParaRPr sz="2150">
              <a:latin typeface="Arial"/>
              <a:cs typeface="Arial"/>
            </a:endParaRPr>
          </a:p>
          <a:p>
            <a:pPr marL="21590">
              <a:lnSpc>
                <a:spcPts val="2370"/>
              </a:lnSpc>
            </a:pPr>
            <a:r>
              <a:rPr dirty="0" sz="2050" spc="-40">
                <a:latin typeface="Arial"/>
                <a:cs typeface="Arial"/>
              </a:rPr>
              <a:t>username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or</a:t>
            </a:r>
            <a:r>
              <a:rPr dirty="0" sz="2050" spc="-130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password".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4133727" y="8249708"/>
            <a:ext cx="2581275" cy="973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2530"/>
              </a:lnSpc>
              <a:spcBef>
                <a:spcPts val="90"/>
              </a:spcBef>
            </a:pPr>
            <a:r>
              <a:rPr dirty="0" sz="2300">
                <a:latin typeface="Calibri"/>
                <a:cs typeface="Calibri"/>
              </a:rPr>
              <a:t>QA</a:t>
            </a:r>
            <a:r>
              <a:rPr dirty="0" sz="2300" spc="-13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Teama</a:t>
            </a:r>
            <a:endParaRPr sz="2300">
              <a:latin typeface="Calibri"/>
              <a:cs typeface="Calibri"/>
            </a:endParaRPr>
          </a:p>
          <a:p>
            <a:pPr marL="13335" marR="5080" indent="6985">
              <a:lnSpc>
                <a:spcPts val="2350"/>
              </a:lnSpc>
              <a:spcBef>
                <a:spcPts val="240"/>
              </a:spcBef>
            </a:pPr>
            <a:r>
              <a:rPr dirty="0" sz="2350" spc="-145">
                <a:latin typeface="Arial"/>
                <a:cs typeface="Arial"/>
              </a:rPr>
              <a:t>(Critical</a:t>
            </a:r>
            <a:r>
              <a:rPr dirty="0" sz="2350" spc="35">
                <a:latin typeface="Arial"/>
                <a:cs typeface="Arial"/>
              </a:rPr>
              <a:t> </a:t>
            </a:r>
            <a:r>
              <a:rPr dirty="0" sz="2350" spc="-135">
                <a:latin typeface="Arial"/>
                <a:cs typeface="Arial"/>
              </a:rPr>
              <a:t>for</a:t>
            </a:r>
            <a:r>
              <a:rPr dirty="0" sz="2350" spc="-10">
                <a:latin typeface="Arial"/>
                <a:cs typeface="Arial"/>
              </a:rPr>
              <a:t> </a:t>
            </a:r>
            <a:r>
              <a:rPr dirty="0" sz="2350" spc="-114">
                <a:latin typeface="Arial"/>
                <a:cs typeface="Arial"/>
              </a:rPr>
              <a:t>test</a:t>
            </a:r>
            <a:r>
              <a:rPr dirty="0" sz="2350" spc="-90">
                <a:latin typeface="Arial"/>
                <a:cs typeface="Arial"/>
              </a:rPr>
              <a:t> </a:t>
            </a:r>
            <a:r>
              <a:rPr dirty="0" sz="2350" spc="-200">
                <a:latin typeface="Arial"/>
                <a:cs typeface="Arial"/>
              </a:rPr>
              <a:t>cases) </a:t>
            </a:r>
            <a:r>
              <a:rPr dirty="0" sz="2350" spc="-375">
                <a:latin typeface="Arial"/>
                <a:cs typeface="Arial"/>
              </a:rPr>
              <a:t>&amp;</a:t>
            </a:r>
            <a:r>
              <a:rPr dirty="0" sz="2350" spc="-135">
                <a:latin typeface="Arial"/>
                <a:cs typeface="Arial"/>
              </a:rPr>
              <a:t> </a:t>
            </a:r>
            <a:r>
              <a:rPr dirty="0" sz="2350" spc="-75">
                <a:latin typeface="Arial"/>
                <a:cs typeface="Arial"/>
              </a:rPr>
              <a:t>Developers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750" rIns="0" bIns="0" rtlCol="0" vert="horz">
            <a:spAutoFit/>
          </a:bodyPr>
          <a:lstStyle/>
          <a:p>
            <a:pPr marL="109220">
              <a:lnSpc>
                <a:spcPct val="100000"/>
              </a:lnSpc>
              <a:spcBef>
                <a:spcPts val="705"/>
              </a:spcBef>
            </a:pPr>
            <a:r>
              <a:rPr dirty="0" sz="5750" spc="-509">
                <a:solidFill>
                  <a:srgbClr val="0146AE"/>
                </a:solidFill>
              </a:rPr>
              <a:t>SRS:</a:t>
            </a:r>
            <a:r>
              <a:rPr dirty="0" sz="5750" spc="-300">
                <a:solidFill>
                  <a:srgbClr val="0146AE"/>
                </a:solidFill>
              </a:rPr>
              <a:t> </a:t>
            </a:r>
            <a:r>
              <a:rPr dirty="0" sz="5750" spc="-175">
                <a:solidFill>
                  <a:srgbClr val="0546AA"/>
                </a:solidFill>
              </a:rPr>
              <a:t>The</a:t>
            </a:r>
            <a:r>
              <a:rPr dirty="0" sz="5750" spc="-360">
                <a:solidFill>
                  <a:srgbClr val="0546AA"/>
                </a:solidFill>
              </a:rPr>
              <a:t> </a:t>
            </a:r>
            <a:r>
              <a:rPr dirty="0" sz="5750" spc="-55">
                <a:solidFill>
                  <a:srgbClr val="0549B1"/>
                </a:solidFill>
              </a:rPr>
              <a:t>Software</a:t>
            </a:r>
            <a:r>
              <a:rPr dirty="0" sz="5750" spc="-345">
                <a:solidFill>
                  <a:srgbClr val="0549B1"/>
                </a:solidFill>
              </a:rPr>
              <a:t> </a:t>
            </a:r>
            <a:r>
              <a:rPr dirty="0" sz="5750" spc="-100">
                <a:solidFill>
                  <a:srgbClr val="034BB3"/>
                </a:solidFill>
              </a:rPr>
              <a:t>Requirement</a:t>
            </a:r>
            <a:r>
              <a:rPr dirty="0" sz="5750" spc="-160">
                <a:solidFill>
                  <a:srgbClr val="034BB3"/>
                </a:solidFill>
              </a:rPr>
              <a:t> </a:t>
            </a:r>
            <a:r>
              <a:rPr dirty="0" sz="5750" spc="-10">
                <a:solidFill>
                  <a:srgbClr val="0544AC"/>
                </a:solidFill>
              </a:rPr>
              <a:t>Specification</a:t>
            </a:r>
            <a:endParaRPr sz="5750"/>
          </a:p>
          <a:p>
            <a:pPr marL="120014">
              <a:lnSpc>
                <a:spcPct val="100000"/>
              </a:lnSpc>
              <a:spcBef>
                <a:spcPts val="350"/>
              </a:spcBef>
            </a:pPr>
            <a:r>
              <a:rPr dirty="0" sz="3100" spc="-10">
                <a:solidFill>
                  <a:srgbClr val="000000"/>
                </a:solidFill>
              </a:rPr>
              <a:t>The</a:t>
            </a:r>
            <a:r>
              <a:rPr dirty="0" sz="3100" spc="-210">
                <a:solidFill>
                  <a:srgbClr val="000000"/>
                </a:solidFill>
              </a:rPr>
              <a:t> </a:t>
            </a:r>
            <a:r>
              <a:rPr dirty="0" sz="3100" spc="-75">
                <a:solidFill>
                  <a:srgbClr val="000000"/>
                </a:solidFill>
              </a:rPr>
              <a:t>Rules</a:t>
            </a:r>
            <a:r>
              <a:rPr dirty="0" sz="3100" spc="-70">
                <a:solidFill>
                  <a:srgbClr val="000000"/>
                </a:solidFill>
              </a:rPr>
              <a:t> </a:t>
            </a:r>
            <a:r>
              <a:rPr dirty="0" sz="3100">
                <a:solidFill>
                  <a:srgbClr val="000000"/>
                </a:solidFill>
              </a:rPr>
              <a:t>("The</a:t>
            </a:r>
            <a:r>
              <a:rPr dirty="0" sz="3100" spc="-110">
                <a:solidFill>
                  <a:srgbClr val="000000"/>
                </a:solidFill>
              </a:rPr>
              <a:t> </a:t>
            </a:r>
            <a:r>
              <a:rPr dirty="0" sz="3100">
                <a:solidFill>
                  <a:srgbClr val="000000"/>
                </a:solidFill>
              </a:rPr>
              <a:t>technical</a:t>
            </a:r>
            <a:r>
              <a:rPr dirty="0" sz="3100" spc="-85">
                <a:solidFill>
                  <a:srgbClr val="000000"/>
                </a:solidFill>
              </a:rPr>
              <a:t> </a:t>
            </a:r>
            <a:r>
              <a:rPr dirty="0" sz="3100" spc="-10">
                <a:solidFill>
                  <a:srgbClr val="000000"/>
                </a:solidFill>
              </a:rPr>
              <a:t>blueprint”)</a:t>
            </a:r>
            <a:endParaRPr sz="3100"/>
          </a:p>
        </p:txBody>
      </p:sp>
      <p:sp>
        <p:nvSpPr>
          <p:cNvPr id="3" name="object 3" descr=""/>
          <p:cNvSpPr txBox="1"/>
          <p:nvPr/>
        </p:nvSpPr>
        <p:spPr>
          <a:xfrm>
            <a:off x="867825" y="2375252"/>
            <a:ext cx="2117725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50">
                <a:solidFill>
                  <a:srgbClr val="0342A5"/>
                </a:solidFill>
                <a:latin typeface="Arial"/>
                <a:cs typeface="Arial"/>
              </a:rPr>
              <a:t>The</a:t>
            </a:r>
            <a:r>
              <a:rPr dirty="0" sz="2850" spc="5">
                <a:solidFill>
                  <a:srgbClr val="0342A5"/>
                </a:solidFill>
                <a:latin typeface="Arial"/>
                <a:cs typeface="Arial"/>
              </a:rPr>
              <a:t> </a:t>
            </a:r>
            <a:r>
              <a:rPr dirty="0" sz="2850" spc="-10">
                <a:solidFill>
                  <a:srgbClr val="0844A8"/>
                </a:solidFill>
                <a:latin typeface="Arial"/>
                <a:cs typeface="Arial"/>
              </a:rPr>
              <a:t>Analogy</a:t>
            </a:r>
            <a:endParaRPr sz="28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22510" y="3465336"/>
            <a:ext cx="877569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140">
                <a:latin typeface="Arial"/>
                <a:cs typeface="Arial"/>
              </a:rPr>
              <a:t>‹o0eZoA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65398" y="4149725"/>
            <a:ext cx="673735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30">
                <a:latin typeface="Arial"/>
                <a:cs typeface="Arial"/>
              </a:rPr>
              <a:t>30</a:t>
            </a:r>
            <a:r>
              <a:rPr dirty="0" sz="1850" spc="-175">
                <a:latin typeface="Arial"/>
                <a:cs typeface="Arial"/>
              </a:rPr>
              <a:t> </a:t>
            </a:r>
            <a:r>
              <a:rPr dirty="0" sz="1850" spc="-135">
                <a:solidFill>
                  <a:srgbClr val="0A0A0A"/>
                </a:solidFill>
                <a:latin typeface="Arial"/>
                <a:cs typeface="Arial"/>
              </a:rPr>
              <a:t>mm</a:t>
            </a:r>
            <a:endParaRPr sz="18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27868" y="4713463"/>
            <a:ext cx="137858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345">
                <a:latin typeface="Arial"/>
                <a:cs typeface="Arial"/>
              </a:rPr>
              <a:t>RE2lDAr</a:t>
            </a:r>
            <a:r>
              <a:rPr dirty="0" sz="1700" spc="15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28"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20A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032526" y="5216525"/>
            <a:ext cx="1686560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45">
                <a:latin typeface="Arial"/>
                <a:cs typeface="Arial"/>
              </a:rPr>
              <a:t>Grade</a:t>
            </a:r>
            <a:r>
              <a:rPr dirty="0" sz="1850" spc="30">
                <a:latin typeface="Arial"/>
                <a:cs typeface="Arial"/>
              </a:rPr>
              <a:t> </a:t>
            </a:r>
            <a:r>
              <a:rPr dirty="0" sz="1850" spc="-60">
                <a:latin typeface="Arial"/>
                <a:cs typeface="Arial"/>
              </a:rPr>
              <a:t>40</a:t>
            </a:r>
            <a:r>
              <a:rPr dirty="0" sz="1850" spc="-145">
                <a:latin typeface="Arial"/>
                <a:cs typeface="Arial"/>
              </a:rPr>
              <a:t> </a:t>
            </a:r>
            <a:r>
              <a:rPr dirty="0" sz="1850" spc="-105">
                <a:latin typeface="Arial"/>
                <a:cs typeface="Arial"/>
              </a:rPr>
              <a:t>Cement</a:t>
            </a:r>
            <a:endParaRPr sz="18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626844" y="3427941"/>
            <a:ext cx="16446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28735" sz="2175" spc="-37">
                <a:solidFill>
                  <a:srgbClr val="97AABF"/>
                </a:solidFill>
                <a:latin typeface="Arial"/>
                <a:cs typeface="Arial"/>
              </a:rPr>
              <a:t>j</a:t>
            </a:r>
            <a:r>
              <a:rPr dirty="0" sz="1450" spc="-25">
                <a:solidFill>
                  <a:srgbClr val="2A4667"/>
                </a:solidFill>
                <a:latin typeface="Arial"/>
                <a:cs typeface="Arial"/>
              </a:rPr>
              <a:t>I</a:t>
            </a:r>
            <a:endParaRPr sz="14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694926" y="6234641"/>
            <a:ext cx="33655" cy="42545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algn="ctr" marL="12700" marR="5080">
              <a:lnSpc>
                <a:spcPts val="1400"/>
              </a:lnSpc>
              <a:spcBef>
                <a:spcPts val="434"/>
              </a:spcBef>
            </a:pPr>
            <a:r>
              <a:rPr dirty="0" sz="1450" spc="-390">
                <a:solidFill>
                  <a:srgbClr val="576E85"/>
                </a:solidFill>
                <a:latin typeface="Arial"/>
                <a:cs typeface="Arial"/>
              </a:rPr>
              <a:t>I</a:t>
            </a:r>
            <a:r>
              <a:rPr dirty="0" sz="1450" spc="500">
                <a:solidFill>
                  <a:srgbClr val="576E85"/>
                </a:solidFill>
                <a:latin typeface="Arial"/>
                <a:cs typeface="Arial"/>
              </a:rPr>
              <a:t> </a:t>
            </a:r>
            <a:r>
              <a:rPr dirty="0" sz="1450" spc="-390">
                <a:solidFill>
                  <a:srgbClr val="284462"/>
                </a:solidFill>
                <a:latin typeface="Arial"/>
                <a:cs typeface="Arial"/>
              </a:rPr>
              <a:t>I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48840" y="6636455"/>
            <a:ext cx="7061834" cy="935990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algn="ctr" marR="323850">
              <a:lnSpc>
                <a:spcPct val="100000"/>
              </a:lnSpc>
              <a:spcBef>
                <a:spcPts val="1045"/>
              </a:spcBef>
            </a:pPr>
            <a:r>
              <a:rPr dirty="0" sz="1800" spc="-10">
                <a:latin typeface="Arial"/>
                <a:cs typeface="Arial"/>
              </a:rPr>
              <a:t>1280mm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2350" spc="-35">
                <a:latin typeface="Arial"/>
                <a:cs typeface="Arial"/>
              </a:rPr>
              <a:t>Wiring</a:t>
            </a:r>
            <a:r>
              <a:rPr dirty="0" sz="2350" spc="-110">
                <a:latin typeface="Arial"/>
                <a:cs typeface="Arial"/>
              </a:rPr>
              <a:t> </a:t>
            </a:r>
            <a:r>
              <a:rPr dirty="0" sz="2350" spc="-30">
                <a:latin typeface="Arial"/>
                <a:cs typeface="Arial"/>
              </a:rPr>
              <a:t>standards, </a:t>
            </a:r>
            <a:r>
              <a:rPr dirty="0" sz="2350" spc="-50">
                <a:latin typeface="Arial"/>
                <a:cs typeface="Arial"/>
              </a:rPr>
              <a:t>Grade</a:t>
            </a:r>
            <a:r>
              <a:rPr dirty="0" sz="2350" spc="-2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40</a:t>
            </a:r>
            <a:r>
              <a:rPr dirty="0" sz="2350" spc="-145">
                <a:latin typeface="Arial"/>
                <a:cs typeface="Arial"/>
              </a:rPr>
              <a:t> </a:t>
            </a:r>
            <a:r>
              <a:rPr dirty="0" sz="2350" spc="-25">
                <a:latin typeface="Arial"/>
                <a:cs typeface="Arial"/>
              </a:rPr>
              <a:t>cement,</a:t>
            </a:r>
            <a:r>
              <a:rPr dirty="0" sz="2350" spc="-140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foundation</a:t>
            </a:r>
            <a:r>
              <a:rPr dirty="0" sz="2350" spc="-65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depth.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33544" y="8006997"/>
            <a:ext cx="6370320" cy="1343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015"/>
              </a:lnSpc>
              <a:spcBef>
                <a:spcPts val="100"/>
              </a:spcBef>
            </a:pPr>
            <a:r>
              <a:rPr dirty="0" sz="3400" spc="-185">
                <a:solidFill>
                  <a:srgbClr val="0548B5"/>
                </a:solidFill>
                <a:latin typeface="Arial"/>
                <a:cs typeface="Arial"/>
              </a:rPr>
              <a:t>Key</a:t>
            </a:r>
            <a:r>
              <a:rPr dirty="0" sz="3400" spc="-175">
                <a:solidFill>
                  <a:srgbClr val="0548B5"/>
                </a:solidFill>
                <a:latin typeface="Arial"/>
                <a:cs typeface="Arial"/>
              </a:rPr>
              <a:t> </a:t>
            </a:r>
            <a:r>
              <a:rPr dirty="0" sz="3400" spc="-65">
                <a:solidFill>
                  <a:srgbClr val="0541A5"/>
                </a:solidFill>
                <a:latin typeface="Arial"/>
                <a:cs typeface="Arial"/>
              </a:rPr>
              <a:t>Sections</a:t>
            </a:r>
            <a:r>
              <a:rPr dirty="0" sz="3400" spc="-160">
                <a:solidFill>
                  <a:srgbClr val="0541A5"/>
                </a:solidFill>
                <a:latin typeface="Arial"/>
                <a:cs typeface="Arial"/>
              </a:rPr>
              <a:t> </a:t>
            </a:r>
            <a:r>
              <a:rPr dirty="0" sz="3400" spc="-210">
                <a:solidFill>
                  <a:srgbClr val="0746AA"/>
                </a:solidFill>
                <a:latin typeface="Arial"/>
                <a:cs typeface="Arial"/>
              </a:rPr>
              <a:t>&amp;</a:t>
            </a:r>
            <a:r>
              <a:rPr dirty="0" sz="3400" spc="-150">
                <a:solidFill>
                  <a:srgbClr val="0746AA"/>
                </a:solidFill>
                <a:latin typeface="Arial"/>
                <a:cs typeface="Arial"/>
              </a:rPr>
              <a:t> </a:t>
            </a:r>
            <a:r>
              <a:rPr dirty="0" sz="3400" spc="-10">
                <a:solidFill>
                  <a:srgbClr val="0848B1"/>
                </a:solidFill>
                <a:latin typeface="Arial"/>
                <a:cs typeface="Arial"/>
              </a:rPr>
              <a:t>Audience</a:t>
            </a:r>
            <a:endParaRPr sz="3400">
              <a:latin typeface="Arial"/>
              <a:cs typeface="Arial"/>
            </a:endParaRPr>
          </a:p>
          <a:p>
            <a:pPr marL="558800" indent="-254635">
              <a:lnSpc>
                <a:spcPts val="3145"/>
              </a:lnSpc>
              <a:buChar char="•"/>
              <a:tabLst>
                <a:tab pos="558800" algn="l"/>
              </a:tabLst>
            </a:pPr>
            <a:r>
              <a:rPr dirty="0" sz="2850" spc="-229">
                <a:latin typeface="Arial"/>
                <a:cs typeface="Arial"/>
              </a:rPr>
              <a:t>Functional</a:t>
            </a:r>
            <a:r>
              <a:rPr dirty="0" sz="2850" spc="100">
                <a:latin typeface="Arial"/>
                <a:cs typeface="Arial"/>
              </a:rPr>
              <a:t> </a:t>
            </a:r>
            <a:r>
              <a:rPr dirty="0" sz="2850" spc="-335">
                <a:latin typeface="Arial"/>
                <a:cs typeface="Arial"/>
              </a:rPr>
              <a:t>+</a:t>
            </a:r>
            <a:r>
              <a:rPr dirty="0" sz="2850" spc="-40">
                <a:latin typeface="Arial"/>
                <a:cs typeface="Arial"/>
              </a:rPr>
              <a:t> </a:t>
            </a:r>
            <a:r>
              <a:rPr dirty="0" sz="2850" spc="-245">
                <a:latin typeface="Arial"/>
                <a:cs typeface="Arial"/>
              </a:rPr>
              <a:t>Non-</a:t>
            </a:r>
            <a:r>
              <a:rPr dirty="0" sz="2850" spc="-210">
                <a:latin typeface="Arial"/>
                <a:cs typeface="Arial"/>
              </a:rPr>
              <a:t>Functional</a:t>
            </a:r>
            <a:r>
              <a:rPr dirty="0" sz="2850" spc="-165">
                <a:latin typeface="Arial"/>
                <a:cs typeface="Arial"/>
              </a:rPr>
              <a:t> </a:t>
            </a:r>
            <a:r>
              <a:rPr dirty="0" sz="2850" spc="-295">
                <a:latin typeface="Arial"/>
                <a:cs typeface="Arial"/>
              </a:rPr>
              <a:t>Requirements</a:t>
            </a:r>
            <a:endParaRPr sz="2850">
              <a:latin typeface="Arial"/>
              <a:cs typeface="Arial"/>
            </a:endParaRPr>
          </a:p>
          <a:p>
            <a:pPr marL="574040" indent="-269875">
              <a:lnSpc>
                <a:spcPts val="3210"/>
              </a:lnSpc>
              <a:buChar char="•"/>
              <a:tabLst>
                <a:tab pos="574040" algn="l"/>
              </a:tabLst>
            </a:pPr>
            <a:r>
              <a:rPr dirty="0" sz="2850" spc="-210">
                <a:latin typeface="Arial"/>
                <a:cs typeface="Arial"/>
              </a:rPr>
              <a:t>Scalability</a:t>
            </a:r>
            <a:r>
              <a:rPr dirty="0" sz="2850" spc="60">
                <a:latin typeface="Arial"/>
                <a:cs typeface="Arial"/>
              </a:rPr>
              <a:t> </a:t>
            </a:r>
            <a:r>
              <a:rPr dirty="0" sz="2850" spc="-400">
                <a:latin typeface="Arial"/>
                <a:cs typeface="Arial"/>
              </a:rPr>
              <a:t>&amp;</a:t>
            </a:r>
            <a:r>
              <a:rPr dirty="0" sz="2850" spc="-135">
                <a:latin typeface="Arial"/>
                <a:cs typeface="Arial"/>
              </a:rPr>
              <a:t> </a:t>
            </a:r>
            <a:r>
              <a:rPr dirty="0" sz="2850" spc="-290">
                <a:latin typeface="Arial"/>
                <a:cs typeface="Arial"/>
              </a:rPr>
              <a:t>Compliance</a:t>
            </a:r>
            <a:endParaRPr sz="28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325611" y="2357613"/>
            <a:ext cx="7242809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10">
                <a:solidFill>
                  <a:srgbClr val="0F44A1"/>
                </a:solidFill>
                <a:latin typeface="Arial"/>
                <a:cs typeface="Arial"/>
              </a:rPr>
              <a:t>The</a:t>
            </a:r>
            <a:r>
              <a:rPr dirty="0" sz="2950" spc="-145">
                <a:solidFill>
                  <a:srgbClr val="0F44A1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0742A5"/>
                </a:solidFill>
                <a:latin typeface="Arial"/>
                <a:cs typeface="Arial"/>
              </a:rPr>
              <a:t>Reality</a:t>
            </a:r>
            <a:r>
              <a:rPr dirty="0" sz="2950" spc="315">
                <a:solidFill>
                  <a:srgbClr val="0742A5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0C429C"/>
                </a:solidFill>
                <a:latin typeface="Arial"/>
                <a:cs typeface="Arial"/>
              </a:rPr>
              <a:t>(Non-Functional</a:t>
            </a:r>
            <a:r>
              <a:rPr dirty="0" sz="2950" spc="-225">
                <a:solidFill>
                  <a:srgbClr val="0C429C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0542A3"/>
                </a:solidFill>
                <a:latin typeface="Arial"/>
                <a:cs typeface="Arial"/>
              </a:rPr>
              <a:t>Requirements)</a:t>
            </a:r>
            <a:endParaRPr sz="29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010395" y="7126464"/>
            <a:ext cx="122364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95">
                <a:latin typeface="Arial"/>
                <a:cs typeface="Arial"/>
              </a:rPr>
              <a:t>Status: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5">
                <a:solidFill>
                  <a:srgbClr val="CD702D"/>
                </a:solidFill>
                <a:latin typeface="Arial"/>
                <a:cs typeface="Arial"/>
              </a:rPr>
              <a:t>Active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898760" y="3358091"/>
            <a:ext cx="3601085" cy="8248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10">
                <a:solidFill>
                  <a:srgbClr val="08419A"/>
                </a:solidFill>
                <a:latin typeface="Arial"/>
                <a:cs typeface="Arial"/>
              </a:rPr>
              <a:t>Performance</a:t>
            </a:r>
            <a:endParaRPr sz="270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160"/>
              </a:spcBef>
            </a:pPr>
            <a:r>
              <a:rPr dirty="0" sz="2400" spc="-135">
                <a:latin typeface="Arial"/>
                <a:cs typeface="Arial"/>
              </a:rPr>
              <a:t>Response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time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&lt;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3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seconds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910293" y="6236052"/>
            <a:ext cx="1772920" cy="853440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12700" marR="5080" indent="15240">
              <a:lnSpc>
                <a:spcPts val="3100"/>
              </a:lnSpc>
              <a:spcBef>
                <a:spcPts val="465"/>
              </a:spcBef>
            </a:pPr>
            <a:r>
              <a:rPr dirty="0" sz="2850" spc="-10">
                <a:solidFill>
                  <a:srgbClr val="0C4BAE"/>
                </a:solidFill>
                <a:latin typeface="Arial"/>
                <a:cs typeface="Arial"/>
              </a:rPr>
              <a:t>Availability </a:t>
            </a:r>
            <a:r>
              <a:rPr dirty="0" sz="2850" spc="-409">
                <a:latin typeface="Arial"/>
                <a:cs typeface="Arial"/>
              </a:rPr>
              <a:t>99.9%</a:t>
            </a:r>
            <a:r>
              <a:rPr dirty="0" sz="2850" spc="-90">
                <a:latin typeface="Arial"/>
                <a:cs typeface="Arial"/>
              </a:rPr>
              <a:t> </a:t>
            </a:r>
            <a:r>
              <a:rPr dirty="0" sz="2850" spc="-305">
                <a:latin typeface="Arial"/>
                <a:cs typeface="Arial"/>
              </a:rPr>
              <a:t>uptime</a:t>
            </a:r>
            <a:endParaRPr sz="28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3738643" y="4805891"/>
            <a:ext cx="2615565" cy="8248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10">
                <a:solidFill>
                  <a:srgbClr val="0C3B83"/>
                </a:solidFill>
                <a:latin typeface="Arial"/>
                <a:cs typeface="Arial"/>
              </a:rPr>
              <a:t>Security</a:t>
            </a:r>
            <a:endParaRPr sz="27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60"/>
              </a:spcBef>
            </a:pPr>
            <a:r>
              <a:rPr dirty="0" sz="2400" spc="-140">
                <a:latin typeface="Arial"/>
                <a:cs typeface="Arial"/>
              </a:rPr>
              <a:t>AES-</a:t>
            </a:r>
            <a:r>
              <a:rPr dirty="0" sz="2400" spc="-70">
                <a:latin typeface="Arial"/>
                <a:cs typeface="Arial"/>
              </a:rPr>
              <a:t>256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encryption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3129297" y="8261702"/>
            <a:ext cx="3282950" cy="840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940">
              <a:lnSpc>
                <a:spcPts val="3210"/>
              </a:lnSpc>
              <a:spcBef>
                <a:spcPts val="95"/>
              </a:spcBef>
            </a:pPr>
            <a:r>
              <a:rPr dirty="0" sz="2850" spc="-95">
                <a:latin typeface="Arial"/>
                <a:cs typeface="Arial"/>
              </a:rPr>
              <a:t>Audience: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ts val="3210"/>
              </a:lnSpc>
            </a:pPr>
            <a:r>
              <a:rPr dirty="0" sz="2850" spc="-260">
                <a:latin typeface="Arial"/>
                <a:cs typeface="Arial"/>
              </a:rPr>
              <a:t>Developers</a:t>
            </a:r>
            <a:r>
              <a:rPr dirty="0" sz="2850" spc="50">
                <a:latin typeface="Arial"/>
                <a:cs typeface="Arial"/>
              </a:rPr>
              <a:t> </a:t>
            </a:r>
            <a:r>
              <a:rPr dirty="0" sz="2850" spc="-400">
                <a:latin typeface="Arial"/>
                <a:cs typeface="Arial"/>
              </a:rPr>
              <a:t>&amp;</a:t>
            </a:r>
            <a:r>
              <a:rPr dirty="0" sz="2850" spc="-85">
                <a:latin typeface="Arial"/>
                <a:cs typeface="Arial"/>
              </a:rPr>
              <a:t> </a:t>
            </a:r>
            <a:r>
              <a:rPr dirty="0" sz="2850" spc="-175">
                <a:latin typeface="Arial"/>
                <a:cs typeface="Arial"/>
              </a:rPr>
              <a:t>Architects</a:t>
            </a:r>
            <a:endParaRPr sz="2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4800" y="101600"/>
            <a:ext cx="17030700" cy="9525000"/>
            <a:chOff x="304800" y="101600"/>
            <a:chExt cx="17030700" cy="9525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101600"/>
              <a:ext cx="17030700" cy="9525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6300" y="3238500"/>
              <a:ext cx="419100" cy="3556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60870" y="643819"/>
            <a:ext cx="11776710" cy="7772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900" spc="-80">
                <a:solidFill>
                  <a:srgbClr val="0349A8"/>
                </a:solidFill>
              </a:rPr>
              <a:t>SAD:</a:t>
            </a:r>
            <a:r>
              <a:rPr dirty="0" sz="4900" spc="-195">
                <a:solidFill>
                  <a:srgbClr val="0349A8"/>
                </a:solidFill>
              </a:rPr>
              <a:t> </a:t>
            </a:r>
            <a:r>
              <a:rPr dirty="0" sz="4900">
                <a:solidFill>
                  <a:srgbClr val="054DB1"/>
                </a:solidFill>
              </a:rPr>
              <a:t>The</a:t>
            </a:r>
            <a:r>
              <a:rPr dirty="0" sz="4900" spc="-330">
                <a:solidFill>
                  <a:srgbClr val="054DB1"/>
                </a:solidFill>
              </a:rPr>
              <a:t> </a:t>
            </a:r>
            <a:r>
              <a:rPr dirty="0" sz="4900" spc="80">
                <a:solidFill>
                  <a:srgbClr val="034DAA"/>
                </a:solidFill>
              </a:rPr>
              <a:t>System</a:t>
            </a:r>
            <a:r>
              <a:rPr dirty="0" sz="4900" spc="-45">
                <a:solidFill>
                  <a:srgbClr val="034DAA"/>
                </a:solidFill>
              </a:rPr>
              <a:t> </a:t>
            </a:r>
            <a:r>
              <a:rPr dirty="0" sz="4900" spc="145">
                <a:solidFill>
                  <a:srgbClr val="0146A3"/>
                </a:solidFill>
              </a:rPr>
              <a:t>Architecture</a:t>
            </a:r>
            <a:r>
              <a:rPr dirty="0" sz="4900" spc="35">
                <a:solidFill>
                  <a:srgbClr val="0146A3"/>
                </a:solidFill>
              </a:rPr>
              <a:t> </a:t>
            </a:r>
            <a:r>
              <a:rPr dirty="0" sz="4900" spc="40">
                <a:solidFill>
                  <a:srgbClr val="0348A8"/>
                </a:solidFill>
              </a:rPr>
              <a:t>Document</a:t>
            </a:r>
            <a:endParaRPr sz="4900"/>
          </a:p>
        </p:txBody>
      </p:sp>
      <p:sp>
        <p:nvSpPr>
          <p:cNvPr id="6" name="object 6" descr=""/>
          <p:cNvSpPr txBox="1"/>
          <p:nvPr/>
        </p:nvSpPr>
        <p:spPr>
          <a:xfrm>
            <a:off x="865964" y="1305277"/>
            <a:ext cx="13595350" cy="24720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50" spc="-45">
                <a:latin typeface="Arial"/>
                <a:cs typeface="Arial"/>
              </a:rPr>
              <a:t>The</a:t>
            </a:r>
            <a:r>
              <a:rPr dirty="0" sz="3450" spc="-105">
                <a:latin typeface="Arial"/>
                <a:cs typeface="Arial"/>
              </a:rPr>
              <a:t> </a:t>
            </a:r>
            <a:r>
              <a:rPr dirty="0" sz="3450" spc="-10">
                <a:latin typeface="Arial"/>
                <a:cs typeface="Arial"/>
              </a:rPr>
              <a:t>Structure</a:t>
            </a:r>
            <a:r>
              <a:rPr dirty="0" sz="3450" spc="60">
                <a:latin typeface="Arial"/>
                <a:cs typeface="Arial"/>
              </a:rPr>
              <a:t> </a:t>
            </a:r>
            <a:r>
              <a:rPr dirty="0" sz="3450" spc="-85">
                <a:latin typeface="Arial"/>
                <a:cs typeface="Arial"/>
              </a:rPr>
              <a:t>(’How</a:t>
            </a:r>
            <a:r>
              <a:rPr dirty="0" sz="3450" spc="-80">
                <a:latin typeface="Arial"/>
                <a:cs typeface="Arial"/>
              </a:rPr>
              <a:t> </a:t>
            </a:r>
            <a:r>
              <a:rPr dirty="0" sz="3450">
                <a:latin typeface="Arial"/>
                <a:cs typeface="Arial"/>
              </a:rPr>
              <a:t>it</a:t>
            </a:r>
            <a:r>
              <a:rPr dirty="0" sz="3450" spc="150">
                <a:latin typeface="Arial"/>
                <a:cs typeface="Arial"/>
              </a:rPr>
              <a:t> </a:t>
            </a:r>
            <a:r>
              <a:rPr dirty="0" sz="3450">
                <a:latin typeface="Arial"/>
                <a:cs typeface="Arial"/>
              </a:rPr>
              <a:t>all</a:t>
            </a:r>
            <a:r>
              <a:rPr dirty="0" sz="3450" spc="-195">
                <a:latin typeface="Arial"/>
                <a:cs typeface="Arial"/>
              </a:rPr>
              <a:t> </a:t>
            </a:r>
            <a:r>
              <a:rPr dirty="0" sz="3450">
                <a:latin typeface="Arial"/>
                <a:cs typeface="Arial"/>
              </a:rPr>
              <a:t>fits</a:t>
            </a:r>
            <a:r>
              <a:rPr dirty="0" sz="3450" spc="-140">
                <a:latin typeface="Arial"/>
                <a:cs typeface="Arial"/>
              </a:rPr>
              <a:t> </a:t>
            </a:r>
            <a:r>
              <a:rPr dirty="0" sz="3450" spc="-10">
                <a:latin typeface="Arial"/>
                <a:cs typeface="Arial"/>
              </a:rPr>
              <a:t>together’)</a:t>
            </a:r>
            <a:endParaRPr sz="3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10"/>
              </a:spcBef>
              <a:tabLst>
                <a:tab pos="8356600" algn="l"/>
              </a:tabLst>
            </a:pPr>
            <a:r>
              <a:rPr dirty="0" sz="3450">
                <a:solidFill>
                  <a:srgbClr val="0A50A5"/>
                </a:solidFill>
                <a:latin typeface="Arial"/>
                <a:cs typeface="Arial"/>
              </a:rPr>
              <a:t>The</a:t>
            </a:r>
            <a:r>
              <a:rPr dirty="0" sz="3450" spc="-165">
                <a:solidFill>
                  <a:srgbClr val="0A50A5"/>
                </a:solidFill>
                <a:latin typeface="Arial"/>
                <a:cs typeface="Arial"/>
              </a:rPr>
              <a:t> </a:t>
            </a:r>
            <a:r>
              <a:rPr dirty="0" sz="3450" spc="-10">
                <a:solidFill>
                  <a:srgbClr val="054BA3"/>
                </a:solidFill>
                <a:latin typeface="Arial"/>
                <a:cs typeface="Arial"/>
              </a:rPr>
              <a:t>Analogy</a:t>
            </a:r>
            <a:r>
              <a:rPr dirty="0" sz="3450">
                <a:solidFill>
                  <a:srgbClr val="054BA3"/>
                </a:solidFill>
                <a:latin typeface="Arial"/>
                <a:cs typeface="Arial"/>
              </a:rPr>
              <a:t>	</a:t>
            </a:r>
            <a:r>
              <a:rPr dirty="0" sz="3400">
                <a:solidFill>
                  <a:srgbClr val="0A4999"/>
                </a:solidFill>
                <a:latin typeface="Arial"/>
                <a:cs typeface="Arial"/>
              </a:rPr>
              <a:t>The</a:t>
            </a:r>
            <a:r>
              <a:rPr dirty="0" sz="3400" spc="-225">
                <a:solidFill>
                  <a:srgbClr val="0A4999"/>
                </a:solidFill>
                <a:latin typeface="Arial"/>
                <a:cs typeface="Arial"/>
              </a:rPr>
              <a:t> </a:t>
            </a:r>
            <a:r>
              <a:rPr dirty="0" sz="3400">
                <a:solidFill>
                  <a:srgbClr val="0F4BA1"/>
                </a:solidFill>
                <a:latin typeface="Arial"/>
                <a:cs typeface="Arial"/>
              </a:rPr>
              <a:t>Reality</a:t>
            </a:r>
            <a:r>
              <a:rPr dirty="0" sz="3400" spc="165">
                <a:solidFill>
                  <a:srgbClr val="0F4BA1"/>
                </a:solidFill>
                <a:latin typeface="Arial"/>
                <a:cs typeface="Arial"/>
              </a:rPr>
              <a:t> </a:t>
            </a:r>
            <a:r>
              <a:rPr dirty="0" sz="3400">
                <a:solidFill>
                  <a:srgbClr val="0C499C"/>
                </a:solidFill>
                <a:latin typeface="Arial"/>
                <a:cs typeface="Arial"/>
              </a:rPr>
              <a:t>(Tech</a:t>
            </a:r>
            <a:r>
              <a:rPr dirty="0" sz="3400" spc="-150">
                <a:solidFill>
                  <a:srgbClr val="0C499C"/>
                </a:solidFill>
                <a:latin typeface="Arial"/>
                <a:cs typeface="Arial"/>
              </a:rPr>
              <a:t> </a:t>
            </a:r>
            <a:r>
              <a:rPr dirty="0" sz="3400" spc="-10">
                <a:solidFill>
                  <a:srgbClr val="01429A"/>
                </a:solidFill>
                <a:latin typeface="Arial"/>
                <a:cs typeface="Arial"/>
              </a:rPr>
              <a:t>Stack)</a:t>
            </a:r>
            <a:endParaRPr sz="34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1360"/>
              </a:spcBef>
            </a:pPr>
            <a:r>
              <a:rPr dirty="0" sz="1650" spc="-80">
                <a:latin typeface="Arial"/>
                <a:cs typeface="Arial"/>
              </a:rPr>
              <a:t>ZOOM</a:t>
            </a:r>
            <a:r>
              <a:rPr dirty="0" sz="1650" spc="-40">
                <a:latin typeface="Arial"/>
                <a:cs typeface="Arial"/>
              </a:rPr>
              <a:t> </a:t>
            </a:r>
            <a:r>
              <a:rPr dirty="0" sz="1650" spc="-70">
                <a:latin typeface="Arial"/>
                <a:cs typeface="Arial"/>
              </a:rPr>
              <a:t>LEVEL:</a:t>
            </a:r>
            <a:r>
              <a:rPr dirty="0" sz="1650" spc="-5">
                <a:latin typeface="Arial"/>
                <a:cs typeface="Arial"/>
              </a:rPr>
              <a:t> </a:t>
            </a:r>
            <a:r>
              <a:rPr dirty="0" sz="1650">
                <a:latin typeface="Arial"/>
                <a:cs typeface="Arial"/>
              </a:rPr>
              <a:t>5/5</a:t>
            </a:r>
            <a:r>
              <a:rPr dirty="0" sz="1650" spc="95">
                <a:latin typeface="Arial"/>
                <a:cs typeface="Arial"/>
              </a:rPr>
              <a:t> </a:t>
            </a:r>
            <a:r>
              <a:rPr dirty="0" sz="1650" spc="-30">
                <a:latin typeface="Arial"/>
                <a:cs typeface="Arial"/>
              </a:rPr>
              <a:t>{X</a:t>
            </a:r>
            <a:r>
              <a:rPr dirty="0" sz="1650" spc="80">
                <a:latin typeface="Arial"/>
                <a:cs typeface="Arial"/>
              </a:rPr>
              <a:t> </a:t>
            </a:r>
            <a:r>
              <a:rPr dirty="0" sz="1650" spc="-114">
                <a:latin typeface="Arial"/>
                <a:cs typeface="Arial"/>
              </a:rPr>
              <a:t>RAY</a:t>
            </a:r>
            <a:r>
              <a:rPr dirty="0" sz="1650" spc="65">
                <a:latin typeface="Arial"/>
                <a:cs typeface="Arial"/>
              </a:rPr>
              <a:t> </a:t>
            </a:r>
            <a:r>
              <a:rPr dirty="0" sz="1650" spc="-10">
                <a:latin typeface="Arial"/>
                <a:cs typeface="Arial"/>
              </a:rPr>
              <a:t>VIEW]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65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1950" spc="-10">
                <a:latin typeface="Arial"/>
                <a:cs typeface="Arial"/>
              </a:rPr>
              <a:t>Microservices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67371" y="8603897"/>
            <a:ext cx="750189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>
                <a:latin typeface="Arial"/>
                <a:cs typeface="Arial"/>
              </a:rPr>
              <a:t>Electrical</a:t>
            </a:r>
            <a:r>
              <a:rPr dirty="0" sz="2150" spc="-35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wiring</a:t>
            </a:r>
            <a:r>
              <a:rPr dirty="0" sz="2150" spc="-55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diagrams,</a:t>
            </a:r>
            <a:r>
              <a:rPr dirty="0" sz="2150" spc="15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plumbing</a:t>
            </a:r>
            <a:r>
              <a:rPr dirty="0" sz="2150" spc="-5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layout,</a:t>
            </a:r>
            <a:r>
              <a:rPr dirty="0" sz="2150" spc="-90">
                <a:latin typeface="Arial"/>
                <a:cs typeface="Arial"/>
              </a:rPr>
              <a:t> </a:t>
            </a:r>
            <a:r>
              <a:rPr dirty="0" sz="2150" spc="-145">
                <a:latin typeface="Arial"/>
                <a:cs typeface="Arial"/>
              </a:rPr>
              <a:t>HVAC</a:t>
            </a:r>
            <a:r>
              <a:rPr dirty="0" sz="2150" spc="-5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integration.</a:t>
            </a:r>
            <a:endParaRPr sz="21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683503" y="6683653"/>
            <a:ext cx="5184140" cy="2273935"/>
          </a:xfrm>
          <a:prstGeom prst="rect">
            <a:avLst/>
          </a:prstGeom>
        </p:spPr>
        <p:txBody>
          <a:bodyPr wrap="square" lIns="0" tIns="281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20"/>
              </a:spcBef>
              <a:tabLst>
                <a:tab pos="415925" algn="l"/>
              </a:tabLst>
            </a:pPr>
            <a:r>
              <a:rPr dirty="0" sz="3400" spc="-315">
                <a:solidFill>
                  <a:srgbClr val="6D7E87"/>
                </a:solidFill>
                <a:latin typeface="Arial"/>
                <a:cs typeface="Arial"/>
              </a:rPr>
              <a:t>i</a:t>
            </a:r>
            <a:r>
              <a:rPr dirty="0" sz="3400">
                <a:solidFill>
                  <a:srgbClr val="6D7E87"/>
                </a:solidFill>
                <a:latin typeface="Arial"/>
                <a:cs typeface="Arial"/>
              </a:rPr>
              <a:t>	</a:t>
            </a:r>
            <a:r>
              <a:rPr dirty="0" sz="3400" spc="-95">
                <a:solidFill>
                  <a:srgbClr val="0344A5"/>
                </a:solidFill>
                <a:latin typeface="Arial"/>
                <a:cs typeface="Arial"/>
              </a:rPr>
              <a:t>Key</a:t>
            </a:r>
            <a:r>
              <a:rPr dirty="0" sz="3400" spc="-120">
                <a:solidFill>
                  <a:srgbClr val="0344A5"/>
                </a:solidFill>
                <a:latin typeface="Arial"/>
                <a:cs typeface="Arial"/>
              </a:rPr>
              <a:t> </a:t>
            </a:r>
            <a:r>
              <a:rPr dirty="0" sz="3400">
                <a:solidFill>
                  <a:srgbClr val="0A4297"/>
                </a:solidFill>
                <a:latin typeface="Arial"/>
                <a:cs typeface="Arial"/>
              </a:rPr>
              <a:t>Sections</a:t>
            </a:r>
            <a:r>
              <a:rPr dirty="0" sz="3400" spc="-90">
                <a:solidFill>
                  <a:srgbClr val="0A4297"/>
                </a:solidFill>
                <a:latin typeface="Arial"/>
                <a:cs typeface="Arial"/>
              </a:rPr>
              <a:t> </a:t>
            </a:r>
            <a:r>
              <a:rPr dirty="0" sz="3400" spc="-100">
                <a:solidFill>
                  <a:srgbClr val="0548A3"/>
                </a:solidFill>
                <a:latin typeface="Arial"/>
                <a:cs typeface="Arial"/>
              </a:rPr>
              <a:t>&amp;</a:t>
            </a:r>
            <a:r>
              <a:rPr dirty="0" sz="3400" spc="-175">
                <a:solidFill>
                  <a:srgbClr val="0548A3"/>
                </a:solidFill>
                <a:latin typeface="Arial"/>
                <a:cs typeface="Arial"/>
              </a:rPr>
              <a:t> </a:t>
            </a:r>
            <a:r>
              <a:rPr dirty="0" sz="3400" spc="-10">
                <a:solidFill>
                  <a:srgbClr val="0546A7"/>
                </a:solidFill>
                <a:latin typeface="Arial"/>
                <a:cs typeface="Arial"/>
              </a:rPr>
              <a:t>Audience</a:t>
            </a:r>
            <a:endParaRPr sz="3400">
              <a:latin typeface="Arial"/>
              <a:cs typeface="Arial"/>
            </a:endParaRPr>
          </a:p>
          <a:p>
            <a:pPr marL="856615" marR="817244" indent="-452755">
              <a:lnSpc>
                <a:spcPct val="135900"/>
              </a:lnSpc>
              <a:spcBef>
                <a:spcPts val="430"/>
              </a:spcBef>
            </a:pPr>
            <a:r>
              <a:rPr dirty="0" sz="2300" spc="-330">
                <a:solidFill>
                  <a:srgbClr val="213D6B"/>
                </a:solidFill>
                <a:latin typeface="Arial"/>
                <a:cs typeface="Arial"/>
              </a:rPr>
              <a:t>(tZ2</a:t>
            </a:r>
            <a:r>
              <a:rPr dirty="0" sz="2300" spc="210">
                <a:solidFill>
                  <a:srgbClr val="213D6B"/>
                </a:solidFill>
                <a:latin typeface="Arial"/>
                <a:cs typeface="Arial"/>
              </a:rPr>
              <a:t> </a:t>
            </a:r>
            <a:r>
              <a:rPr dirty="0" sz="2300" spc="-75">
                <a:latin typeface="Arial"/>
                <a:cs typeface="Arial"/>
              </a:rPr>
              <a:t>Logical/Physical</a:t>
            </a:r>
            <a:r>
              <a:rPr dirty="0" sz="2300" spc="-114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Architecture </a:t>
            </a:r>
            <a:r>
              <a:rPr dirty="0" sz="2300" spc="-120">
                <a:latin typeface="Arial"/>
                <a:cs typeface="Arial"/>
              </a:rPr>
              <a:t>Data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 spc="-100">
                <a:latin typeface="Arial"/>
                <a:cs typeface="Arial"/>
              </a:rPr>
              <a:t>Flow</a:t>
            </a:r>
            <a:r>
              <a:rPr dirty="0" sz="2300" spc="-1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Diagrams </a:t>
            </a:r>
            <a:r>
              <a:rPr dirty="0" sz="2150" spc="-10">
                <a:latin typeface="Arial"/>
                <a:cs typeface="Arial"/>
              </a:rPr>
              <a:t>Deployment</a:t>
            </a:r>
            <a:r>
              <a:rPr dirty="0" sz="2150" spc="-30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Design</a:t>
            </a:r>
            <a:endParaRPr sz="21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347950" y="3467805"/>
            <a:ext cx="100838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80">
                <a:latin typeface="Arial"/>
                <a:cs typeface="Arial"/>
              </a:rPr>
              <a:t>Database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245917" y="4406547"/>
            <a:ext cx="1214755" cy="179832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algn="ctr" marL="150495" marR="153670" indent="-8255">
              <a:lnSpc>
                <a:spcPts val="2200"/>
              </a:lnSpc>
              <a:spcBef>
                <a:spcPts val="490"/>
              </a:spcBef>
            </a:pPr>
            <a:r>
              <a:rPr dirty="0" sz="2150" spc="-195">
                <a:latin typeface="Arial"/>
                <a:cs typeface="Arial"/>
              </a:rPr>
              <a:t>Payment </a:t>
            </a:r>
            <a:r>
              <a:rPr dirty="0" sz="2150" spc="-210">
                <a:latin typeface="Arial"/>
                <a:cs typeface="Arial"/>
              </a:rPr>
              <a:t>Gateway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150">
              <a:latin typeface="Arial"/>
              <a:cs typeface="Arial"/>
            </a:endParaRPr>
          </a:p>
          <a:p>
            <a:pPr algn="ctr" marL="19685">
              <a:lnSpc>
                <a:spcPts val="2195"/>
              </a:lnSpc>
            </a:pPr>
            <a:r>
              <a:rPr dirty="0" sz="1950" spc="-25">
                <a:latin typeface="Arial"/>
                <a:cs typeface="Arial"/>
              </a:rPr>
              <a:t>SMS</a:t>
            </a:r>
            <a:endParaRPr sz="1950">
              <a:latin typeface="Arial"/>
              <a:cs typeface="Arial"/>
            </a:endParaRPr>
          </a:p>
          <a:p>
            <a:pPr algn="ctr" marL="12700" marR="5080">
              <a:lnSpc>
                <a:spcPts val="2100"/>
              </a:lnSpc>
              <a:spcBef>
                <a:spcPts val="175"/>
              </a:spcBef>
            </a:pPr>
            <a:r>
              <a:rPr dirty="0" sz="2000" spc="-55">
                <a:latin typeface="Arial"/>
                <a:cs typeface="Arial"/>
              </a:rPr>
              <a:t>Notification </a:t>
            </a:r>
            <a:r>
              <a:rPr dirty="0" sz="2000" spc="-10">
                <a:latin typeface="Arial"/>
                <a:cs typeface="Arial"/>
              </a:rPr>
              <a:t>Service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447925" y="7930797"/>
            <a:ext cx="2003425" cy="890269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7780" marR="5080" indent="-5715">
              <a:lnSpc>
                <a:spcPct val="86900"/>
              </a:lnSpc>
              <a:spcBef>
                <a:spcPts val="440"/>
              </a:spcBef>
            </a:pPr>
            <a:r>
              <a:rPr dirty="0" sz="2150" spc="-10">
                <a:latin typeface="Calibri"/>
                <a:cs typeface="Calibri"/>
              </a:rPr>
              <a:t>Audience:</a:t>
            </a:r>
            <a:r>
              <a:rPr dirty="0" sz="2150" spc="535">
                <a:latin typeface="Calibri"/>
                <a:cs typeface="Calibri"/>
              </a:rPr>
              <a:t> </a:t>
            </a:r>
            <a:r>
              <a:rPr dirty="0" sz="2050" spc="-95">
                <a:latin typeface="Arial"/>
                <a:cs typeface="Arial"/>
              </a:rPr>
              <a:t>Solution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80">
                <a:latin typeface="Arial"/>
                <a:cs typeface="Arial"/>
              </a:rPr>
              <a:t>Architects </a:t>
            </a:r>
            <a:r>
              <a:rPr dirty="0" sz="2000">
                <a:latin typeface="Arial"/>
                <a:cs typeface="Arial"/>
              </a:rPr>
              <a:t>8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105">
                <a:latin typeface="Arial"/>
                <a:cs typeface="Arial"/>
              </a:rPr>
              <a:t>Senior</a:t>
            </a:r>
            <a:r>
              <a:rPr dirty="0" sz="2000" spc="3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Devs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900" y="2654300"/>
            <a:ext cx="14757400" cy="48641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459316" y="465667"/>
            <a:ext cx="0" cy="8881745"/>
          </a:xfrm>
          <a:custGeom>
            <a:avLst/>
            <a:gdLst/>
            <a:ahLst/>
            <a:cxnLst/>
            <a:rect l="l" t="t" r="r" b="b"/>
            <a:pathLst>
              <a:path w="0" h="8881745">
                <a:moveTo>
                  <a:pt x="0" y="8881533"/>
                </a:moveTo>
                <a:lnTo>
                  <a:pt x="0" y="0"/>
                </a:lnTo>
              </a:path>
            </a:pathLst>
          </a:custGeom>
          <a:ln w="29633">
            <a:solidFill>
              <a:srgbClr val="18488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44500" y="465667"/>
            <a:ext cx="16527144" cy="8881745"/>
            <a:chOff x="444500" y="465667"/>
            <a:chExt cx="16527144" cy="8881745"/>
          </a:xfrm>
        </p:grpSpPr>
        <p:sp>
          <p:nvSpPr>
            <p:cNvPr id="5" name="object 5" descr=""/>
            <p:cNvSpPr/>
            <p:nvPr/>
          </p:nvSpPr>
          <p:spPr>
            <a:xfrm>
              <a:off x="16956616" y="465667"/>
              <a:ext cx="0" cy="8881745"/>
            </a:xfrm>
            <a:custGeom>
              <a:avLst/>
              <a:gdLst/>
              <a:ahLst/>
              <a:cxnLst/>
              <a:rect l="l" t="t" r="r" b="b"/>
              <a:pathLst>
                <a:path w="0" h="8881745">
                  <a:moveTo>
                    <a:pt x="0" y="8881533"/>
                  </a:moveTo>
                  <a:lnTo>
                    <a:pt x="0" y="0"/>
                  </a:lnTo>
                </a:path>
              </a:pathLst>
            </a:custGeom>
            <a:ln w="29633">
              <a:solidFill>
                <a:srgbClr val="18488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44500" y="480483"/>
              <a:ext cx="16527144" cy="0"/>
            </a:xfrm>
            <a:custGeom>
              <a:avLst/>
              <a:gdLst/>
              <a:ahLst/>
              <a:cxnLst/>
              <a:rect l="l" t="t" r="r" b="b"/>
              <a:pathLst>
                <a:path w="16527144" h="0">
                  <a:moveTo>
                    <a:pt x="0" y="0"/>
                  </a:moveTo>
                  <a:lnTo>
                    <a:pt x="16526934" y="0"/>
                  </a:lnTo>
                </a:path>
              </a:pathLst>
            </a:custGeom>
            <a:ln w="29633">
              <a:solidFill>
                <a:srgbClr val="18488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44500" y="9332383"/>
              <a:ext cx="16527144" cy="0"/>
            </a:xfrm>
            <a:custGeom>
              <a:avLst/>
              <a:gdLst/>
              <a:ahLst/>
              <a:cxnLst/>
              <a:rect l="l" t="t" r="r" b="b"/>
              <a:pathLst>
                <a:path w="16527144" h="0">
                  <a:moveTo>
                    <a:pt x="0" y="0"/>
                  </a:moveTo>
                  <a:lnTo>
                    <a:pt x="16526934" y="0"/>
                  </a:lnTo>
                </a:path>
              </a:pathLst>
            </a:custGeom>
            <a:ln w="29633">
              <a:solidFill>
                <a:srgbClr val="18488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86787" rIns="0" bIns="0" rtlCol="0" vert="horz">
            <a:spAutoFit/>
          </a:bodyPr>
          <a:lstStyle/>
          <a:p>
            <a:pPr marL="765175">
              <a:lnSpc>
                <a:spcPct val="100000"/>
              </a:lnSpc>
              <a:spcBef>
                <a:spcPts val="130"/>
              </a:spcBef>
            </a:pPr>
            <a:r>
              <a:rPr dirty="0" sz="4900">
                <a:solidFill>
                  <a:srgbClr val="054BBF"/>
                </a:solidFill>
              </a:rPr>
              <a:t>At</a:t>
            </a:r>
            <a:r>
              <a:rPr dirty="0" sz="4900" spc="-65">
                <a:solidFill>
                  <a:srgbClr val="054BBF"/>
                </a:solidFill>
              </a:rPr>
              <a:t> </a:t>
            </a:r>
            <a:r>
              <a:rPr dirty="0" sz="4900" spc="-114">
                <a:solidFill>
                  <a:srgbClr val="0546B6"/>
                </a:solidFill>
              </a:rPr>
              <a:t>a</a:t>
            </a:r>
            <a:r>
              <a:rPr dirty="0" sz="4900" spc="-254">
                <a:solidFill>
                  <a:srgbClr val="0546B6"/>
                </a:solidFill>
              </a:rPr>
              <a:t> </a:t>
            </a:r>
            <a:r>
              <a:rPr dirty="0" sz="4900">
                <a:solidFill>
                  <a:srgbClr val="0144B1"/>
                </a:solidFill>
              </a:rPr>
              <a:t>Glance:</a:t>
            </a:r>
            <a:r>
              <a:rPr dirty="0" sz="4900" spc="-55">
                <a:solidFill>
                  <a:srgbClr val="0144B1"/>
                </a:solidFill>
              </a:rPr>
              <a:t> </a:t>
            </a:r>
            <a:r>
              <a:rPr dirty="0" sz="4900">
                <a:solidFill>
                  <a:srgbClr val="0342B1"/>
                </a:solidFill>
              </a:rPr>
              <a:t>The</a:t>
            </a:r>
            <a:r>
              <a:rPr dirty="0" sz="4900" spc="-280">
                <a:solidFill>
                  <a:srgbClr val="0342B1"/>
                </a:solidFill>
              </a:rPr>
              <a:t> </a:t>
            </a:r>
            <a:r>
              <a:rPr dirty="0" sz="4900" spc="70">
                <a:solidFill>
                  <a:srgbClr val="0144AF"/>
                </a:solidFill>
              </a:rPr>
              <a:t>Documentation</a:t>
            </a:r>
            <a:r>
              <a:rPr dirty="0" sz="4900" spc="340">
                <a:solidFill>
                  <a:srgbClr val="0144AF"/>
                </a:solidFill>
              </a:rPr>
              <a:t> </a:t>
            </a:r>
            <a:r>
              <a:rPr dirty="0" sz="4900" spc="120">
                <a:solidFill>
                  <a:srgbClr val="0346BA"/>
                </a:solidFill>
              </a:rPr>
              <a:t>Matrix</a:t>
            </a:r>
            <a:endParaRPr sz="4900"/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486541" y="3650837"/>
          <a:ext cx="13689965" cy="36753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3940"/>
                <a:gridCol w="1850389"/>
                <a:gridCol w="4225925"/>
                <a:gridCol w="3653789"/>
                <a:gridCol w="2841625"/>
              </a:tblGrid>
              <a:tr h="617855">
                <a:tc>
                  <a:txBody>
                    <a:bodyPr/>
                    <a:lstStyle/>
                    <a:p>
                      <a:pPr marL="34925">
                        <a:lnSpc>
                          <a:spcPts val="3295"/>
                        </a:lnSpc>
                      </a:pPr>
                      <a:r>
                        <a:rPr dirty="0" sz="2950" spc="-280">
                          <a:latin typeface="Arial"/>
                          <a:cs typeface="Arial"/>
                        </a:rPr>
                        <a:t>BRD</a:t>
                      </a:r>
                      <a:endParaRPr sz="29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ts val="3295"/>
                        </a:lnSpc>
                      </a:pPr>
                      <a:r>
                        <a:rPr dirty="0" sz="2950" spc="-280">
                          <a:latin typeface="Arial"/>
                          <a:cs typeface="Arial"/>
                        </a:rPr>
                        <a:t>BRD</a:t>
                      </a:r>
                      <a:endParaRPr sz="29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24865">
                        <a:lnSpc>
                          <a:spcPts val="3285"/>
                        </a:lnSpc>
                      </a:pPr>
                      <a:r>
                        <a:rPr dirty="0" sz="2900">
                          <a:latin typeface="Arial"/>
                          <a:cs typeface="Arial"/>
                        </a:rPr>
                        <a:t>Business</a:t>
                      </a:r>
                      <a:r>
                        <a:rPr dirty="0" sz="29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900" spc="-20">
                          <a:latin typeface="Arial"/>
                          <a:cs typeface="Arial"/>
                        </a:rPr>
                        <a:t>Need</a:t>
                      </a:r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ts val="3285"/>
                        </a:lnSpc>
                      </a:pPr>
                      <a:r>
                        <a:rPr dirty="0" sz="2900" spc="45">
                          <a:latin typeface="Arial"/>
                          <a:cs typeface="Arial"/>
                        </a:rPr>
                        <a:t>Why?</a:t>
                      </a:r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4485">
                        <a:lnSpc>
                          <a:spcPts val="3285"/>
                        </a:lnSpc>
                      </a:pPr>
                      <a:r>
                        <a:rPr dirty="0" sz="2900">
                          <a:latin typeface="Arial"/>
                          <a:cs typeface="Arial"/>
                        </a:rPr>
                        <a:t>Business</a:t>
                      </a:r>
                      <a:r>
                        <a:rPr dirty="0" sz="2900" spc="1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900" spc="8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9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900" spc="-25">
                          <a:latin typeface="Arial"/>
                          <a:cs typeface="Arial"/>
                        </a:rPr>
                        <a:t>PM</a:t>
                      </a:r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8083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2950" spc="-25">
                          <a:latin typeface="Arial"/>
                          <a:cs typeface="Arial"/>
                        </a:rPr>
                        <a:t>FRD</a:t>
                      </a:r>
                      <a:endParaRPr sz="2950">
                        <a:latin typeface="Arial"/>
                        <a:cs typeface="Arial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2950" spc="-25">
                          <a:latin typeface="Arial"/>
                          <a:cs typeface="Arial"/>
                        </a:rPr>
                        <a:t>FRD</a:t>
                      </a:r>
                      <a:endParaRPr sz="2950">
                        <a:latin typeface="Arial"/>
                        <a:cs typeface="Arial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83502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2950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295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950" spc="-10">
                          <a:latin typeface="Arial"/>
                          <a:cs typeface="Arial"/>
                        </a:rPr>
                        <a:t>Features</a:t>
                      </a:r>
                      <a:endParaRPr sz="2950">
                        <a:latin typeface="Arial"/>
                        <a:cs typeface="Arial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2950" spc="-10">
                          <a:latin typeface="Arial"/>
                          <a:cs typeface="Arial"/>
                        </a:rPr>
                        <a:t>What?</a:t>
                      </a:r>
                      <a:endParaRPr sz="2950">
                        <a:latin typeface="Arial"/>
                        <a:cs typeface="Arial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324485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dirty="0" sz="2900">
                          <a:latin typeface="Arial"/>
                          <a:cs typeface="Arial"/>
                        </a:rPr>
                        <a:t>BA</a:t>
                      </a:r>
                      <a:r>
                        <a:rPr dirty="0" sz="2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900" spc="8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9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900">
                          <a:latin typeface="Arial"/>
                          <a:cs typeface="Arial"/>
                        </a:rPr>
                        <a:t>Dev</a:t>
                      </a:r>
                      <a:r>
                        <a:rPr dirty="0" sz="2900" spc="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900" spc="8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9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900" spc="-25">
                          <a:latin typeface="Arial"/>
                          <a:cs typeface="Arial"/>
                        </a:rPr>
                        <a:t>QA</a:t>
                      </a:r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B="0" marT="169545"/>
                </a:tc>
              </a:tr>
              <a:tr h="8134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2950" spc="-290">
                          <a:latin typeface="Arial"/>
                          <a:cs typeface="Arial"/>
                        </a:rPr>
                        <a:t>FRS</a:t>
                      </a:r>
                      <a:endParaRPr sz="2950">
                        <a:latin typeface="Arial"/>
                        <a:cs typeface="Arial"/>
                      </a:endParaRPr>
                    </a:p>
                  </a:txBody>
                  <a:tcPr marL="0" marR="0" marB="0" marT="167005"/>
                </a:tc>
                <a:tc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2950" spc="-25">
                          <a:latin typeface="Arial"/>
                          <a:cs typeface="Arial"/>
                        </a:rPr>
                        <a:t>FRS</a:t>
                      </a:r>
                      <a:endParaRPr sz="2950">
                        <a:latin typeface="Arial"/>
                        <a:cs typeface="Arial"/>
                      </a:endParaRPr>
                    </a:p>
                  </a:txBody>
                  <a:tcPr marL="0" marR="0" marB="0" marT="167005"/>
                </a:tc>
                <a:tc>
                  <a:txBody>
                    <a:bodyPr/>
                    <a:lstStyle/>
                    <a:p>
                      <a:pPr marL="822325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dirty="0" sz="3050" spc="-10">
                          <a:latin typeface="Arial"/>
                          <a:cs typeface="Arial"/>
                        </a:rPr>
                        <a:t>Detailed</a:t>
                      </a:r>
                      <a:r>
                        <a:rPr dirty="0" sz="3050" spc="-1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50" spc="-10">
                          <a:latin typeface="Arial"/>
                          <a:cs typeface="Arial"/>
                        </a:rPr>
                        <a:t>Functions</a:t>
                      </a:r>
                      <a:endParaRPr sz="3050">
                        <a:latin typeface="Arial"/>
                        <a:cs typeface="Arial"/>
                      </a:endParaRPr>
                    </a:p>
                  </a:txBody>
                  <a:tcPr marL="0" marR="0" marB="0" marT="154305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dirty="0" sz="3050">
                          <a:latin typeface="Arial"/>
                          <a:cs typeface="Arial"/>
                        </a:rPr>
                        <a:t>What</a:t>
                      </a:r>
                      <a:r>
                        <a:rPr dirty="0" sz="30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50" spc="-10">
                          <a:latin typeface="Arial"/>
                          <a:cs typeface="Arial"/>
                        </a:rPr>
                        <a:t>Exactly?</a:t>
                      </a:r>
                      <a:endParaRPr sz="3050">
                        <a:latin typeface="Arial"/>
                        <a:cs typeface="Arial"/>
                      </a:endParaRPr>
                    </a:p>
                  </a:txBody>
                  <a:tcPr marL="0" marR="0" marB="0" marT="154305"/>
                </a:tc>
                <a:tc>
                  <a:txBody>
                    <a:bodyPr/>
                    <a:lstStyle/>
                    <a:p>
                      <a:pPr marL="321945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dirty="0" sz="3050" spc="-20">
                          <a:latin typeface="Arial"/>
                          <a:cs typeface="Arial"/>
                        </a:rPr>
                        <a:t>Dev </a:t>
                      </a:r>
                      <a:r>
                        <a:rPr dirty="0" sz="305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3050" spc="-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50" spc="-320">
                          <a:latin typeface="Arial"/>
                          <a:cs typeface="Arial"/>
                        </a:rPr>
                        <a:t>QA</a:t>
                      </a:r>
                      <a:endParaRPr sz="3050">
                        <a:latin typeface="Arial"/>
                        <a:cs typeface="Arial"/>
                      </a:endParaRPr>
                    </a:p>
                  </a:txBody>
                  <a:tcPr marL="0" marR="0" marB="0" marT="154305"/>
                </a:tc>
              </a:tr>
              <a:tr h="8128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2950" spc="-315">
                          <a:latin typeface="Arial"/>
                          <a:cs typeface="Arial"/>
                        </a:rPr>
                        <a:t>SRS</a:t>
                      </a:r>
                      <a:endParaRPr sz="2950">
                        <a:latin typeface="Arial"/>
                        <a:cs typeface="Arial"/>
                      </a:endParaRPr>
                    </a:p>
                  </a:txBody>
                  <a:tcPr marL="0" marR="0" marB="0" marT="166370"/>
                </a:tc>
                <a:tc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2950" spc="-25">
                          <a:latin typeface="Arial"/>
                          <a:cs typeface="Arial"/>
                        </a:rPr>
                        <a:t>SRS</a:t>
                      </a:r>
                      <a:endParaRPr sz="2950">
                        <a:latin typeface="Arial"/>
                        <a:cs typeface="Arial"/>
                      </a:endParaRPr>
                    </a:p>
                  </a:txBody>
                  <a:tcPr marL="0" marR="0" marB="0" marT="166370"/>
                </a:tc>
                <a:tc>
                  <a:txBody>
                    <a:bodyPr/>
                    <a:lstStyle/>
                    <a:p>
                      <a:pPr marL="834390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3050">
                          <a:latin typeface="Arial"/>
                          <a:cs typeface="Arial"/>
                        </a:rPr>
                        <a:t>Software</a:t>
                      </a:r>
                      <a:r>
                        <a:rPr dirty="0" sz="3050" spc="-1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50" spc="-10">
                          <a:latin typeface="Arial"/>
                          <a:cs typeface="Arial"/>
                        </a:rPr>
                        <a:t>Rules</a:t>
                      </a:r>
                      <a:endParaRPr sz="3050">
                        <a:latin typeface="Arial"/>
                        <a:cs typeface="Arial"/>
                      </a:endParaRPr>
                    </a:p>
                  </a:txBody>
                  <a:tcPr marL="0" marR="0" marB="0" marT="153670"/>
                </a:tc>
                <a:tc>
                  <a:txBody>
                    <a:bodyPr/>
                    <a:lstStyle/>
                    <a:p>
                      <a:pPr marL="278130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3050">
                          <a:latin typeface="Arial"/>
                          <a:cs typeface="Arial"/>
                        </a:rPr>
                        <a:t>How</a:t>
                      </a:r>
                      <a:r>
                        <a:rPr dirty="0" sz="305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50" spc="-10">
                          <a:latin typeface="Arial"/>
                          <a:cs typeface="Arial"/>
                        </a:rPr>
                        <a:t>(Technical)?</a:t>
                      </a:r>
                      <a:endParaRPr sz="3050">
                        <a:latin typeface="Arial"/>
                        <a:cs typeface="Arial"/>
                      </a:endParaRPr>
                    </a:p>
                  </a:txBody>
                  <a:tcPr marL="0" marR="0" marB="0" marT="153670"/>
                </a:tc>
                <a:tc>
                  <a:txBody>
                    <a:bodyPr/>
                    <a:lstStyle/>
                    <a:p>
                      <a:pPr marL="32194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3050" spc="-20">
                          <a:latin typeface="Arial"/>
                          <a:cs typeface="Arial"/>
                        </a:rPr>
                        <a:t>Dev </a:t>
                      </a:r>
                      <a:r>
                        <a:rPr dirty="0" sz="305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305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50" spc="-10">
                          <a:latin typeface="Arial"/>
                          <a:cs typeface="Arial"/>
                        </a:rPr>
                        <a:t>Architect</a:t>
                      </a:r>
                      <a:endParaRPr sz="3050">
                        <a:latin typeface="Arial"/>
                        <a:cs typeface="Arial"/>
                      </a:endParaRPr>
                    </a:p>
                  </a:txBody>
                  <a:tcPr marL="0" marR="0" marB="0" marT="153670"/>
                </a:tc>
              </a:tr>
              <a:tr h="622935">
                <a:tc>
                  <a:txBody>
                    <a:bodyPr/>
                    <a:lstStyle/>
                    <a:p>
                      <a:pPr marL="33020">
                        <a:lnSpc>
                          <a:spcPts val="3500"/>
                        </a:lnSpc>
                        <a:spcBef>
                          <a:spcPts val="1310"/>
                        </a:spcBef>
                      </a:pPr>
                      <a:r>
                        <a:rPr dirty="0" sz="2950" spc="-25">
                          <a:latin typeface="Arial"/>
                          <a:cs typeface="Arial"/>
                        </a:rPr>
                        <a:t>SAD</a:t>
                      </a:r>
                      <a:endParaRPr sz="2950">
                        <a:latin typeface="Arial"/>
                        <a:cs typeface="Arial"/>
                      </a:endParaRPr>
                    </a:p>
                  </a:txBody>
                  <a:tcPr marL="0" marR="0" marB="0" marT="166370"/>
                </a:tc>
                <a:tc>
                  <a:txBody>
                    <a:bodyPr/>
                    <a:lstStyle/>
                    <a:p>
                      <a:pPr marL="309880">
                        <a:lnSpc>
                          <a:spcPts val="3500"/>
                        </a:lnSpc>
                        <a:spcBef>
                          <a:spcPts val="1310"/>
                        </a:spcBef>
                      </a:pPr>
                      <a:r>
                        <a:rPr dirty="0" sz="2950" spc="-25">
                          <a:latin typeface="Arial"/>
                          <a:cs typeface="Arial"/>
                        </a:rPr>
                        <a:t>SAD</a:t>
                      </a:r>
                      <a:endParaRPr sz="2950">
                        <a:latin typeface="Arial"/>
                        <a:cs typeface="Arial"/>
                      </a:endParaRPr>
                    </a:p>
                  </a:txBody>
                  <a:tcPr marL="0" marR="0" marB="0" marT="166370"/>
                </a:tc>
                <a:tc>
                  <a:txBody>
                    <a:bodyPr/>
                    <a:lstStyle/>
                    <a:p>
                      <a:pPr marL="834390">
                        <a:lnSpc>
                          <a:spcPts val="3600"/>
                        </a:lnSpc>
                        <a:spcBef>
                          <a:spcPts val="1210"/>
                        </a:spcBef>
                      </a:pPr>
                      <a:r>
                        <a:rPr dirty="0" sz="3050" spc="-25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3050" spc="-1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50" spc="-10">
                          <a:latin typeface="Arial"/>
                          <a:cs typeface="Arial"/>
                        </a:rPr>
                        <a:t>Design</a:t>
                      </a:r>
                      <a:endParaRPr sz="3050">
                        <a:latin typeface="Arial"/>
                        <a:cs typeface="Arial"/>
                      </a:endParaRPr>
                    </a:p>
                  </a:txBody>
                  <a:tcPr marL="0" marR="0" marB="0" marT="153670"/>
                </a:tc>
                <a:tc>
                  <a:txBody>
                    <a:bodyPr/>
                    <a:lstStyle/>
                    <a:p>
                      <a:pPr marL="278130">
                        <a:lnSpc>
                          <a:spcPts val="3600"/>
                        </a:lnSpc>
                        <a:spcBef>
                          <a:spcPts val="1210"/>
                        </a:spcBef>
                      </a:pPr>
                      <a:r>
                        <a:rPr dirty="0" sz="3050">
                          <a:latin typeface="Arial"/>
                          <a:cs typeface="Arial"/>
                        </a:rPr>
                        <a:t>How</a:t>
                      </a:r>
                      <a:r>
                        <a:rPr dirty="0" sz="3050" spc="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50" spc="-10">
                          <a:latin typeface="Arial"/>
                          <a:cs typeface="Arial"/>
                        </a:rPr>
                        <a:t>(Connects)?</a:t>
                      </a:r>
                      <a:endParaRPr sz="3050">
                        <a:latin typeface="Arial"/>
                        <a:cs typeface="Arial"/>
                      </a:endParaRPr>
                    </a:p>
                  </a:txBody>
                  <a:tcPr marL="0" marR="0" marB="0" marT="153670"/>
                </a:tc>
                <a:tc>
                  <a:txBody>
                    <a:bodyPr/>
                    <a:lstStyle/>
                    <a:p>
                      <a:pPr marL="327025">
                        <a:lnSpc>
                          <a:spcPts val="3600"/>
                        </a:lnSpc>
                        <a:spcBef>
                          <a:spcPts val="1210"/>
                        </a:spcBef>
                      </a:pPr>
                      <a:r>
                        <a:rPr dirty="0" sz="3050" spc="-10">
                          <a:latin typeface="Arial"/>
                          <a:cs typeface="Arial"/>
                        </a:rPr>
                        <a:t>Architect</a:t>
                      </a:r>
                      <a:endParaRPr sz="3050">
                        <a:latin typeface="Arial"/>
                        <a:cs typeface="Arial"/>
                      </a:endParaRPr>
                    </a:p>
                  </a:txBody>
                  <a:tcPr marL="0" marR="0" marB="0" marT="153670"/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"/>
                <a:cs typeface="Arial"/>
              </a:rPr>
              <a:t>G</a:t>
            </a:r>
            <a:r>
              <a:rPr dirty="0" sz="1300" spc="49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200" y="2514600"/>
            <a:ext cx="914400" cy="3683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510116" y="563032"/>
            <a:ext cx="0" cy="8699500"/>
          </a:xfrm>
          <a:custGeom>
            <a:avLst/>
            <a:gdLst/>
            <a:ahLst/>
            <a:cxnLst/>
            <a:rect l="l" t="t" r="r" b="b"/>
            <a:pathLst>
              <a:path w="0" h="8699500">
                <a:moveTo>
                  <a:pt x="0" y="8699500"/>
                </a:moveTo>
                <a:lnTo>
                  <a:pt x="0" y="0"/>
                </a:lnTo>
              </a:path>
            </a:pathLst>
          </a:custGeom>
          <a:ln w="12700">
            <a:solidFill>
              <a:srgbClr val="677C8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503766" y="563032"/>
            <a:ext cx="16408400" cy="8699500"/>
            <a:chOff x="503766" y="563032"/>
            <a:chExt cx="16408400" cy="8699500"/>
          </a:xfrm>
        </p:grpSpPr>
        <p:sp>
          <p:nvSpPr>
            <p:cNvPr id="5" name="object 5" descr=""/>
            <p:cNvSpPr/>
            <p:nvPr/>
          </p:nvSpPr>
          <p:spPr>
            <a:xfrm>
              <a:off x="16905821" y="563032"/>
              <a:ext cx="0" cy="8699500"/>
            </a:xfrm>
            <a:custGeom>
              <a:avLst/>
              <a:gdLst/>
              <a:ahLst/>
              <a:cxnLst/>
              <a:rect l="l" t="t" r="r" b="b"/>
              <a:pathLst>
                <a:path w="0" h="8699500">
                  <a:moveTo>
                    <a:pt x="0" y="86995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677C8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03766" y="569382"/>
              <a:ext cx="16408400" cy="0"/>
            </a:xfrm>
            <a:custGeom>
              <a:avLst/>
              <a:gdLst/>
              <a:ahLst/>
              <a:cxnLst/>
              <a:rect l="l" t="t" r="r" b="b"/>
              <a:pathLst>
                <a:path w="16408400" h="0">
                  <a:moveTo>
                    <a:pt x="0" y="0"/>
                  </a:moveTo>
                  <a:lnTo>
                    <a:pt x="16408400" y="0"/>
                  </a:lnTo>
                </a:path>
              </a:pathLst>
            </a:custGeom>
            <a:ln w="12700">
              <a:solidFill>
                <a:srgbClr val="677C8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03766" y="9256182"/>
              <a:ext cx="16408400" cy="0"/>
            </a:xfrm>
            <a:custGeom>
              <a:avLst/>
              <a:gdLst/>
              <a:ahLst/>
              <a:cxnLst/>
              <a:rect l="l" t="t" r="r" b="b"/>
              <a:pathLst>
                <a:path w="16408400" h="0">
                  <a:moveTo>
                    <a:pt x="0" y="0"/>
                  </a:moveTo>
                  <a:lnTo>
                    <a:pt x="16408400" y="0"/>
                  </a:lnTo>
                </a:path>
              </a:pathLst>
            </a:custGeom>
            <a:ln w="12700">
              <a:solidFill>
                <a:srgbClr val="677C8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322916" y="2743200"/>
              <a:ext cx="0" cy="5685790"/>
            </a:xfrm>
            <a:custGeom>
              <a:avLst/>
              <a:gdLst/>
              <a:ahLst/>
              <a:cxnLst/>
              <a:rect l="l" t="t" r="r" b="b"/>
              <a:pathLst>
                <a:path w="0" h="5685790">
                  <a:moveTo>
                    <a:pt x="0" y="56853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284F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425016" y="2743200"/>
              <a:ext cx="0" cy="5685790"/>
            </a:xfrm>
            <a:custGeom>
              <a:avLst/>
              <a:gdLst/>
              <a:ahLst/>
              <a:cxnLst/>
              <a:rect l="l" t="t" r="r" b="b"/>
              <a:pathLst>
                <a:path w="0" h="5685790">
                  <a:moveTo>
                    <a:pt x="0" y="56853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284F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312332" y="2753783"/>
              <a:ext cx="4123690" cy="0"/>
            </a:xfrm>
            <a:custGeom>
              <a:avLst/>
              <a:gdLst/>
              <a:ahLst/>
              <a:cxnLst/>
              <a:rect l="l" t="t" r="r" b="b"/>
              <a:pathLst>
                <a:path w="4123690" h="0">
                  <a:moveTo>
                    <a:pt x="0" y="0"/>
                  </a:moveTo>
                  <a:lnTo>
                    <a:pt x="4123266" y="0"/>
                  </a:lnTo>
                </a:path>
              </a:pathLst>
            </a:custGeom>
            <a:ln w="21166">
              <a:solidFill>
                <a:srgbClr val="284F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312332" y="8417983"/>
              <a:ext cx="4123690" cy="0"/>
            </a:xfrm>
            <a:custGeom>
              <a:avLst/>
              <a:gdLst/>
              <a:ahLst/>
              <a:cxnLst/>
              <a:rect l="l" t="t" r="r" b="b"/>
              <a:pathLst>
                <a:path w="4123690" h="0">
                  <a:moveTo>
                    <a:pt x="0" y="0"/>
                  </a:moveTo>
                  <a:lnTo>
                    <a:pt x="4123266" y="0"/>
                  </a:lnTo>
                </a:path>
              </a:pathLst>
            </a:custGeom>
            <a:ln w="21166">
              <a:solidFill>
                <a:srgbClr val="284F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312332" y="3498850"/>
              <a:ext cx="4123690" cy="0"/>
            </a:xfrm>
            <a:custGeom>
              <a:avLst/>
              <a:gdLst/>
              <a:ahLst/>
              <a:cxnLst/>
              <a:rect l="l" t="t" r="r" b="b"/>
              <a:pathLst>
                <a:path w="4123690" h="0">
                  <a:moveTo>
                    <a:pt x="0" y="0"/>
                  </a:moveTo>
                  <a:lnTo>
                    <a:pt x="4123266" y="0"/>
                  </a:lnTo>
                </a:path>
              </a:pathLst>
            </a:custGeom>
            <a:ln w="21166">
              <a:solidFill>
                <a:srgbClr val="284F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257300" y="2512483"/>
              <a:ext cx="893444" cy="0"/>
            </a:xfrm>
            <a:custGeom>
              <a:avLst/>
              <a:gdLst/>
              <a:ahLst/>
              <a:cxnLst/>
              <a:rect l="l" t="t" r="r" b="b"/>
              <a:pathLst>
                <a:path w="893444" h="0">
                  <a:moveTo>
                    <a:pt x="0" y="0"/>
                  </a:moveTo>
                  <a:lnTo>
                    <a:pt x="893233" y="0"/>
                  </a:lnTo>
                </a:path>
              </a:pathLst>
            </a:custGeom>
            <a:ln w="4233">
              <a:solidFill>
                <a:srgbClr val="677C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656916" y="2743200"/>
              <a:ext cx="0" cy="5685790"/>
            </a:xfrm>
            <a:custGeom>
              <a:avLst/>
              <a:gdLst/>
              <a:ahLst/>
              <a:cxnLst/>
              <a:rect l="l" t="t" r="r" b="b"/>
              <a:pathLst>
                <a:path w="0" h="5685790">
                  <a:moveTo>
                    <a:pt x="0" y="56853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234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759015" y="2743200"/>
              <a:ext cx="0" cy="5685790"/>
            </a:xfrm>
            <a:custGeom>
              <a:avLst/>
              <a:gdLst/>
              <a:ahLst/>
              <a:cxnLst/>
              <a:rect l="l" t="t" r="r" b="b"/>
              <a:pathLst>
                <a:path w="0" h="5685790">
                  <a:moveTo>
                    <a:pt x="0" y="56853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234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646332" y="2753783"/>
              <a:ext cx="4123690" cy="0"/>
            </a:xfrm>
            <a:custGeom>
              <a:avLst/>
              <a:gdLst/>
              <a:ahLst/>
              <a:cxnLst/>
              <a:rect l="l" t="t" r="r" b="b"/>
              <a:pathLst>
                <a:path w="4123690" h="0">
                  <a:moveTo>
                    <a:pt x="0" y="0"/>
                  </a:moveTo>
                  <a:lnTo>
                    <a:pt x="4123266" y="0"/>
                  </a:lnTo>
                </a:path>
              </a:pathLst>
            </a:custGeom>
            <a:ln w="21166">
              <a:solidFill>
                <a:srgbClr val="234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646332" y="8417983"/>
              <a:ext cx="4123690" cy="0"/>
            </a:xfrm>
            <a:custGeom>
              <a:avLst/>
              <a:gdLst/>
              <a:ahLst/>
              <a:cxnLst/>
              <a:rect l="l" t="t" r="r" b="b"/>
              <a:pathLst>
                <a:path w="4123690" h="0">
                  <a:moveTo>
                    <a:pt x="0" y="0"/>
                  </a:moveTo>
                  <a:lnTo>
                    <a:pt x="4123266" y="0"/>
                  </a:lnTo>
                </a:path>
              </a:pathLst>
            </a:custGeom>
            <a:ln w="21166">
              <a:solidFill>
                <a:srgbClr val="234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646332" y="3490383"/>
              <a:ext cx="4123690" cy="0"/>
            </a:xfrm>
            <a:custGeom>
              <a:avLst/>
              <a:gdLst/>
              <a:ahLst/>
              <a:cxnLst/>
              <a:rect l="l" t="t" r="r" b="b"/>
              <a:pathLst>
                <a:path w="4123690" h="0">
                  <a:moveTo>
                    <a:pt x="0" y="0"/>
                  </a:moveTo>
                  <a:lnTo>
                    <a:pt x="4123266" y="0"/>
                  </a:lnTo>
                </a:path>
              </a:pathLst>
            </a:custGeom>
            <a:ln w="21166">
              <a:solidFill>
                <a:srgbClr val="234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580716" y="2510367"/>
              <a:ext cx="0" cy="5986145"/>
            </a:xfrm>
            <a:custGeom>
              <a:avLst/>
              <a:gdLst/>
              <a:ahLst/>
              <a:cxnLst/>
              <a:rect l="l" t="t" r="r" b="b"/>
              <a:pathLst>
                <a:path w="0" h="5986145">
                  <a:moveTo>
                    <a:pt x="0" y="59859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677C8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591300" y="2512483"/>
              <a:ext cx="880744" cy="0"/>
            </a:xfrm>
            <a:custGeom>
              <a:avLst/>
              <a:gdLst/>
              <a:ahLst/>
              <a:cxnLst/>
              <a:rect l="l" t="t" r="r" b="b"/>
              <a:pathLst>
                <a:path w="880745" h="0">
                  <a:moveTo>
                    <a:pt x="0" y="0"/>
                  </a:moveTo>
                  <a:lnTo>
                    <a:pt x="880533" y="0"/>
                  </a:lnTo>
                </a:path>
              </a:pathLst>
            </a:custGeom>
            <a:ln w="4233">
              <a:solidFill>
                <a:srgbClr val="6477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1775015" y="2451100"/>
              <a:ext cx="0" cy="6130290"/>
            </a:xfrm>
            <a:custGeom>
              <a:avLst/>
              <a:gdLst/>
              <a:ahLst/>
              <a:cxnLst/>
              <a:rect l="l" t="t" r="r" b="b"/>
              <a:pathLst>
                <a:path w="0" h="6130290">
                  <a:moveTo>
                    <a:pt x="0" y="61298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284B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6308912" y="2451100"/>
              <a:ext cx="0" cy="6130290"/>
            </a:xfrm>
            <a:custGeom>
              <a:avLst/>
              <a:gdLst/>
              <a:ahLst/>
              <a:cxnLst/>
              <a:rect l="l" t="t" r="r" b="b"/>
              <a:pathLst>
                <a:path w="0" h="6130290">
                  <a:moveTo>
                    <a:pt x="0" y="61298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284B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1764432" y="2461683"/>
              <a:ext cx="4555490" cy="0"/>
            </a:xfrm>
            <a:custGeom>
              <a:avLst/>
              <a:gdLst/>
              <a:ahLst/>
              <a:cxnLst/>
              <a:rect l="l" t="t" r="r" b="b"/>
              <a:pathLst>
                <a:path w="4555490" h="0">
                  <a:moveTo>
                    <a:pt x="0" y="0"/>
                  </a:moveTo>
                  <a:lnTo>
                    <a:pt x="4555066" y="0"/>
                  </a:lnTo>
                </a:path>
              </a:pathLst>
            </a:custGeom>
            <a:ln w="21166">
              <a:solidFill>
                <a:srgbClr val="284B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1764432" y="8570383"/>
              <a:ext cx="4555490" cy="0"/>
            </a:xfrm>
            <a:custGeom>
              <a:avLst/>
              <a:gdLst/>
              <a:ahLst/>
              <a:cxnLst/>
              <a:rect l="l" t="t" r="r" b="b"/>
              <a:pathLst>
                <a:path w="4555490" h="0">
                  <a:moveTo>
                    <a:pt x="0" y="0"/>
                  </a:moveTo>
                  <a:lnTo>
                    <a:pt x="4555066" y="0"/>
                  </a:lnTo>
                </a:path>
              </a:pathLst>
            </a:custGeom>
            <a:ln w="21166">
              <a:solidFill>
                <a:srgbClr val="284B7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70600" y="2209800"/>
              <a:ext cx="38100" cy="165100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66499" y="2209800"/>
              <a:ext cx="38100" cy="16510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87199" y="5168899"/>
              <a:ext cx="12700" cy="850900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66499" y="6032499"/>
              <a:ext cx="546100" cy="850900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66499" y="2997200"/>
              <a:ext cx="533400" cy="469900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366499" y="4025899"/>
              <a:ext cx="533400" cy="304800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366499" y="3733800"/>
              <a:ext cx="533400" cy="279400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366499" y="6896099"/>
              <a:ext cx="533400" cy="266700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366499" y="7188199"/>
              <a:ext cx="533400" cy="711200"/>
            </a:xfrm>
            <a:prstGeom prst="rect">
              <a:avLst/>
            </a:prstGeom>
          </p:spPr>
        </p:pic>
      </p:grp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3137" rIns="0" bIns="0" rtlCol="0" vert="horz">
            <a:spAutoFit/>
          </a:bodyPr>
          <a:lstStyle/>
          <a:p>
            <a:pPr marL="650875">
              <a:lnSpc>
                <a:spcPct val="100000"/>
              </a:lnSpc>
              <a:spcBef>
                <a:spcPts val="130"/>
              </a:spcBef>
            </a:pPr>
            <a:r>
              <a:rPr dirty="0" sz="4900" spc="110">
                <a:solidFill>
                  <a:srgbClr val="0349A8"/>
                </a:solidFill>
              </a:rPr>
              <a:t>Anatomy</a:t>
            </a:r>
            <a:r>
              <a:rPr dirty="0" sz="4900" spc="145">
                <a:solidFill>
                  <a:srgbClr val="0349A8"/>
                </a:solidFill>
              </a:rPr>
              <a:t> </a:t>
            </a:r>
            <a:r>
              <a:rPr dirty="0" sz="4900" spc="140">
                <a:solidFill>
                  <a:srgbClr val="0146A1"/>
                </a:solidFill>
              </a:rPr>
              <a:t>of</a:t>
            </a:r>
            <a:r>
              <a:rPr dirty="0" sz="4900" spc="35">
                <a:solidFill>
                  <a:srgbClr val="0146A1"/>
                </a:solidFill>
              </a:rPr>
              <a:t> </a:t>
            </a:r>
            <a:r>
              <a:rPr dirty="0" sz="4900" spc="-114">
                <a:solidFill>
                  <a:srgbClr val="054FA8"/>
                </a:solidFill>
              </a:rPr>
              <a:t>a</a:t>
            </a:r>
            <a:r>
              <a:rPr dirty="0" sz="4900" spc="-290">
                <a:solidFill>
                  <a:srgbClr val="054FA8"/>
                </a:solidFill>
              </a:rPr>
              <a:t> </a:t>
            </a:r>
            <a:r>
              <a:rPr dirty="0" sz="4900" spc="125">
                <a:solidFill>
                  <a:srgbClr val="034DAE"/>
                </a:solidFill>
              </a:rPr>
              <a:t>Document:</a:t>
            </a:r>
            <a:r>
              <a:rPr dirty="0" sz="4900" spc="-60">
                <a:solidFill>
                  <a:srgbClr val="034DAE"/>
                </a:solidFill>
              </a:rPr>
              <a:t> </a:t>
            </a:r>
            <a:r>
              <a:rPr dirty="0" sz="4900" spc="80">
                <a:solidFill>
                  <a:srgbClr val="0346A1"/>
                </a:solidFill>
              </a:rPr>
              <a:t>Essential</a:t>
            </a:r>
            <a:r>
              <a:rPr dirty="0" sz="4900" spc="-80">
                <a:solidFill>
                  <a:srgbClr val="0346A1"/>
                </a:solidFill>
              </a:rPr>
              <a:t> </a:t>
            </a:r>
            <a:r>
              <a:rPr dirty="0" sz="4900" spc="105">
                <a:solidFill>
                  <a:srgbClr val="034BA7"/>
                </a:solidFill>
              </a:rPr>
              <a:t>Sections</a:t>
            </a:r>
            <a:endParaRPr sz="4900"/>
          </a:p>
        </p:txBody>
      </p:sp>
      <p:sp>
        <p:nvSpPr>
          <p:cNvPr id="35" name="object 35" descr=""/>
          <p:cNvSpPr txBox="1"/>
          <p:nvPr/>
        </p:nvSpPr>
        <p:spPr>
          <a:xfrm>
            <a:off x="1119716" y="2461683"/>
            <a:ext cx="4521200" cy="6108700"/>
          </a:xfrm>
          <a:prstGeom prst="rect">
            <a:avLst/>
          </a:prstGeom>
          <a:ln w="21166">
            <a:solidFill>
              <a:srgbClr val="234B77"/>
            </a:solidFill>
          </a:ln>
        </p:spPr>
        <p:txBody>
          <a:bodyPr wrap="square" lIns="0" tIns="6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2750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  <a:spcBef>
                <a:spcPts val="5"/>
              </a:spcBef>
            </a:pPr>
            <a:r>
              <a:rPr dirty="0" sz="2750">
                <a:solidFill>
                  <a:srgbClr val="0A4293"/>
                </a:solidFill>
                <a:latin typeface="Arial"/>
                <a:cs typeface="Arial"/>
              </a:rPr>
              <a:t>The</a:t>
            </a:r>
            <a:r>
              <a:rPr dirty="0" sz="2750" spc="-85">
                <a:solidFill>
                  <a:srgbClr val="0A4293"/>
                </a:solidFill>
                <a:latin typeface="Arial"/>
                <a:cs typeface="Arial"/>
              </a:rPr>
              <a:t> </a:t>
            </a:r>
            <a:r>
              <a:rPr dirty="0" sz="2750" spc="55">
                <a:solidFill>
                  <a:srgbClr val="074291"/>
                </a:solidFill>
                <a:latin typeface="Arial"/>
                <a:cs typeface="Arial"/>
              </a:rPr>
              <a:t>Business</a:t>
            </a:r>
            <a:r>
              <a:rPr dirty="0" sz="2750" spc="190">
                <a:solidFill>
                  <a:srgbClr val="074291"/>
                </a:solidFill>
                <a:latin typeface="Arial"/>
                <a:cs typeface="Arial"/>
              </a:rPr>
              <a:t> </a:t>
            </a:r>
            <a:r>
              <a:rPr dirty="0" sz="2750" spc="-45">
                <a:latin typeface="Arial"/>
                <a:cs typeface="Arial"/>
              </a:rPr>
              <a:t>(BRD)</a:t>
            </a:r>
            <a:endParaRPr sz="2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2750">
              <a:latin typeface="Arial"/>
              <a:cs typeface="Arial"/>
            </a:endParaRPr>
          </a:p>
          <a:p>
            <a:pPr marL="1049020">
              <a:lnSpc>
                <a:spcPct val="100000"/>
              </a:lnSpc>
            </a:pPr>
            <a:r>
              <a:rPr dirty="0" sz="2950" spc="-285">
                <a:latin typeface="Arial"/>
                <a:cs typeface="Arial"/>
              </a:rPr>
              <a:t>Business</a:t>
            </a:r>
            <a:r>
              <a:rPr dirty="0" sz="2950" spc="185">
                <a:latin typeface="Arial"/>
                <a:cs typeface="Arial"/>
              </a:rPr>
              <a:t> </a:t>
            </a:r>
            <a:r>
              <a:rPr dirty="0" sz="2950" spc="-285">
                <a:latin typeface="Arial"/>
                <a:cs typeface="Arial"/>
              </a:rPr>
              <a:t>Background</a:t>
            </a:r>
            <a:endParaRPr sz="2950">
              <a:latin typeface="Arial"/>
              <a:cs typeface="Arial"/>
            </a:endParaRPr>
          </a:p>
          <a:p>
            <a:pPr marL="1047115">
              <a:lnSpc>
                <a:spcPct val="100000"/>
              </a:lnSpc>
              <a:spcBef>
                <a:spcPts val="1910"/>
              </a:spcBef>
            </a:pPr>
            <a:r>
              <a:rPr dirty="0" sz="3050" spc="-325">
                <a:latin typeface="Arial"/>
                <a:cs typeface="Arial"/>
              </a:rPr>
              <a:t>Problem</a:t>
            </a:r>
            <a:r>
              <a:rPr dirty="0" sz="3050" spc="40">
                <a:latin typeface="Arial"/>
                <a:cs typeface="Arial"/>
              </a:rPr>
              <a:t> </a:t>
            </a:r>
            <a:r>
              <a:rPr dirty="0" sz="3050" spc="-310">
                <a:latin typeface="Arial"/>
                <a:cs typeface="Arial"/>
              </a:rPr>
              <a:t>Statement</a:t>
            </a:r>
            <a:endParaRPr sz="3050">
              <a:latin typeface="Arial"/>
              <a:cs typeface="Arial"/>
            </a:endParaRPr>
          </a:p>
          <a:p>
            <a:pPr marL="551815">
              <a:lnSpc>
                <a:spcPct val="100000"/>
              </a:lnSpc>
              <a:spcBef>
                <a:spcPts val="1889"/>
              </a:spcBef>
            </a:pPr>
            <a:r>
              <a:rPr dirty="0" sz="3100">
                <a:solidFill>
                  <a:srgbClr val="E4661F"/>
                </a:solidFill>
                <a:latin typeface="Arial"/>
                <a:cs typeface="Arial"/>
              </a:rPr>
              <a:t>W</a:t>
            </a:r>
            <a:r>
              <a:rPr dirty="0" sz="3100" spc="190">
                <a:solidFill>
                  <a:srgbClr val="E4661F"/>
                </a:solidFill>
                <a:latin typeface="Arial"/>
                <a:cs typeface="Arial"/>
              </a:rPr>
              <a:t> </a:t>
            </a:r>
            <a:r>
              <a:rPr dirty="0" sz="3100" spc="-409">
                <a:latin typeface="Arial"/>
                <a:cs typeface="Arial"/>
              </a:rPr>
              <a:t>Scope</a:t>
            </a:r>
            <a:r>
              <a:rPr dirty="0" sz="3100" spc="65">
                <a:latin typeface="Arial"/>
                <a:cs typeface="Arial"/>
              </a:rPr>
              <a:t> </a:t>
            </a:r>
            <a:r>
              <a:rPr dirty="0" sz="3100" spc="-305">
                <a:latin typeface="Arial"/>
                <a:cs typeface="Arial"/>
              </a:rPr>
              <a:t>(In/Out)</a:t>
            </a:r>
            <a:endParaRPr sz="3100">
              <a:latin typeface="Arial"/>
              <a:cs typeface="Arial"/>
            </a:endParaRPr>
          </a:p>
          <a:p>
            <a:pPr marL="1059815">
              <a:lnSpc>
                <a:spcPct val="100000"/>
              </a:lnSpc>
              <a:spcBef>
                <a:spcPts val="1830"/>
              </a:spcBef>
            </a:pPr>
            <a:r>
              <a:rPr dirty="0" sz="3050" spc="-350">
                <a:latin typeface="Arial"/>
                <a:cs typeface="Arial"/>
              </a:rPr>
              <a:t>Success</a:t>
            </a:r>
            <a:r>
              <a:rPr dirty="0" sz="3050" spc="65">
                <a:latin typeface="Arial"/>
                <a:cs typeface="Arial"/>
              </a:rPr>
              <a:t> </a:t>
            </a:r>
            <a:r>
              <a:rPr dirty="0" sz="3050" spc="-105">
                <a:latin typeface="Arial"/>
                <a:cs typeface="Arial"/>
              </a:rPr>
              <a:t>Metrics</a:t>
            </a:r>
            <a:endParaRPr sz="3050">
              <a:latin typeface="Arial"/>
              <a:cs typeface="Arial"/>
            </a:endParaRPr>
          </a:p>
          <a:p>
            <a:pPr marL="1059815">
              <a:lnSpc>
                <a:spcPct val="100000"/>
              </a:lnSpc>
              <a:spcBef>
                <a:spcPts val="2039"/>
              </a:spcBef>
            </a:pPr>
            <a:r>
              <a:rPr dirty="0" sz="2950" spc="-170">
                <a:latin typeface="Arial"/>
                <a:cs typeface="Arial"/>
              </a:rPr>
              <a:t>Stakeholders</a:t>
            </a:r>
            <a:endParaRPr sz="2950">
              <a:latin typeface="Arial"/>
              <a:cs typeface="Arial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943697" y="4454172"/>
            <a:ext cx="40640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700">
                <a:solidFill>
                  <a:srgbClr val="1A4479"/>
                </a:solidFill>
                <a:latin typeface="Arial"/>
                <a:cs typeface="Arial"/>
              </a:rPr>
              <a:t>!</a:t>
            </a:r>
            <a:endParaRPr sz="2750">
              <a:latin typeface="Arial"/>
              <a:cs typeface="Aria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6441016" y="2461683"/>
            <a:ext cx="4533900" cy="6108700"/>
          </a:xfrm>
          <a:prstGeom prst="rect">
            <a:avLst/>
          </a:prstGeom>
          <a:ln w="21166">
            <a:solidFill>
              <a:srgbClr val="284B77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1036319" marR="335915" indent="-628650">
              <a:lnSpc>
                <a:spcPts val="7050"/>
              </a:lnSpc>
              <a:spcBef>
                <a:spcPts val="325"/>
              </a:spcBef>
            </a:pPr>
            <a:r>
              <a:rPr dirty="0" sz="2850" spc="-20">
                <a:solidFill>
                  <a:srgbClr val="0A4285"/>
                </a:solidFill>
                <a:latin typeface="Arial"/>
                <a:cs typeface="Arial"/>
              </a:rPr>
              <a:t>The</a:t>
            </a:r>
            <a:r>
              <a:rPr dirty="0" sz="2850" spc="-100">
                <a:solidFill>
                  <a:srgbClr val="0A4285"/>
                </a:solidFill>
                <a:latin typeface="Arial"/>
                <a:cs typeface="Arial"/>
              </a:rPr>
              <a:t> </a:t>
            </a:r>
            <a:r>
              <a:rPr dirty="0" sz="2850">
                <a:solidFill>
                  <a:srgbClr val="13498C"/>
                </a:solidFill>
                <a:latin typeface="Arial"/>
                <a:cs typeface="Arial"/>
              </a:rPr>
              <a:t>Function</a:t>
            </a:r>
            <a:r>
              <a:rPr dirty="0" sz="2850" spc="229">
                <a:solidFill>
                  <a:srgbClr val="13498C"/>
                </a:solidFill>
                <a:latin typeface="Arial"/>
                <a:cs typeface="Arial"/>
              </a:rPr>
              <a:t> </a:t>
            </a:r>
            <a:r>
              <a:rPr dirty="0" sz="2850" spc="-270">
                <a:latin typeface="Arial"/>
                <a:cs typeface="Arial"/>
              </a:rPr>
              <a:t>(FRD/FRS) </a:t>
            </a:r>
            <a:r>
              <a:rPr dirty="0" sz="2850" spc="-75">
                <a:latin typeface="Arial"/>
                <a:cs typeface="Arial"/>
              </a:rPr>
              <a:t>Pocess</a:t>
            </a:r>
            <a:r>
              <a:rPr dirty="0" sz="2850" spc="-95">
                <a:latin typeface="Arial"/>
                <a:cs typeface="Arial"/>
              </a:rPr>
              <a:t> </a:t>
            </a:r>
            <a:r>
              <a:rPr dirty="0" sz="2850" spc="-20">
                <a:latin typeface="Arial"/>
                <a:cs typeface="Arial"/>
              </a:rPr>
              <a:t>Fows</a:t>
            </a:r>
            <a:endParaRPr sz="2850">
              <a:latin typeface="Arial"/>
              <a:cs typeface="Arial"/>
            </a:endParaRPr>
          </a:p>
          <a:p>
            <a:pPr marL="1036319">
              <a:lnSpc>
                <a:spcPct val="100000"/>
              </a:lnSpc>
              <a:spcBef>
                <a:spcPts val="1390"/>
              </a:spcBef>
            </a:pPr>
            <a:r>
              <a:rPr dirty="0" sz="2750" spc="-225">
                <a:latin typeface="Arial"/>
                <a:cs typeface="Arial"/>
              </a:rPr>
              <a:t>Use</a:t>
            </a:r>
            <a:r>
              <a:rPr dirty="0" sz="2750" spc="3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Cases</a:t>
            </a:r>
            <a:endParaRPr sz="2750">
              <a:latin typeface="Arial"/>
              <a:cs typeface="Arial"/>
            </a:endParaRPr>
          </a:p>
          <a:p>
            <a:pPr marL="1040765">
              <a:lnSpc>
                <a:spcPct val="100000"/>
              </a:lnSpc>
              <a:spcBef>
                <a:spcPts val="2000"/>
              </a:spcBef>
            </a:pPr>
            <a:r>
              <a:rPr dirty="0" sz="3050" spc="-190">
                <a:latin typeface="Arial"/>
                <a:cs typeface="Arial"/>
              </a:rPr>
              <a:t>Input/output</a:t>
            </a:r>
            <a:r>
              <a:rPr dirty="0" sz="3050" spc="50">
                <a:latin typeface="Arial"/>
                <a:cs typeface="Arial"/>
              </a:rPr>
              <a:t> </a:t>
            </a:r>
            <a:r>
              <a:rPr dirty="0" sz="3050" spc="-305">
                <a:latin typeface="Arial"/>
                <a:cs typeface="Arial"/>
              </a:rPr>
              <a:t>Logic</a:t>
            </a:r>
            <a:endParaRPr sz="3050">
              <a:latin typeface="Arial"/>
              <a:cs typeface="Arial"/>
            </a:endParaRPr>
          </a:p>
          <a:p>
            <a:pPr marL="1047750" marR="1297940" indent="1905">
              <a:lnSpc>
                <a:spcPts val="5550"/>
              </a:lnSpc>
              <a:spcBef>
                <a:spcPts val="450"/>
              </a:spcBef>
            </a:pPr>
            <a:r>
              <a:rPr dirty="0" sz="2950" spc="-140">
                <a:latin typeface="Arial"/>
                <a:cs typeface="Arial"/>
              </a:rPr>
              <a:t>Validations </a:t>
            </a:r>
            <a:r>
              <a:rPr dirty="0" sz="2750" spc="-175">
                <a:latin typeface="Arial"/>
                <a:cs typeface="Arial"/>
              </a:rPr>
              <a:t>Error</a:t>
            </a:r>
            <a:r>
              <a:rPr dirty="0" sz="2750" spc="20">
                <a:latin typeface="Arial"/>
                <a:cs typeface="Arial"/>
              </a:rPr>
              <a:t> </a:t>
            </a:r>
            <a:r>
              <a:rPr dirty="0" sz="2750" spc="-180">
                <a:latin typeface="Arial"/>
                <a:cs typeface="Arial"/>
              </a:rPr>
              <a:t>Messages </a:t>
            </a:r>
            <a:r>
              <a:rPr dirty="0" sz="2900" spc="-310">
                <a:latin typeface="Arial"/>
                <a:cs typeface="Arial"/>
              </a:rPr>
              <a:t>Edge</a:t>
            </a:r>
            <a:r>
              <a:rPr dirty="0" sz="2900" spc="-100">
                <a:latin typeface="Arial"/>
                <a:cs typeface="Arial"/>
              </a:rPr>
              <a:t> </a:t>
            </a:r>
            <a:r>
              <a:rPr dirty="0" sz="2900" spc="-310">
                <a:latin typeface="Arial"/>
                <a:cs typeface="Arial"/>
              </a:rPr>
              <a:t>Cases</a:t>
            </a:r>
            <a:endParaRPr sz="290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1990916" y="2753783"/>
            <a:ext cx="4102100" cy="745490"/>
          </a:xfrm>
          <a:prstGeom prst="rect">
            <a:avLst/>
          </a:prstGeom>
          <a:ln w="21166">
            <a:solidFill>
              <a:srgbClr val="234877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marL="229870">
              <a:lnSpc>
                <a:spcPct val="100000"/>
              </a:lnSpc>
              <a:spcBef>
                <a:spcPts val="615"/>
              </a:spcBef>
            </a:pPr>
            <a:r>
              <a:rPr dirty="0" sz="3050" spc="-135">
                <a:solidFill>
                  <a:srgbClr val="0F4490"/>
                </a:solidFill>
                <a:latin typeface="Arial"/>
                <a:cs typeface="Arial"/>
              </a:rPr>
              <a:t>The</a:t>
            </a:r>
            <a:r>
              <a:rPr dirty="0" sz="3050" spc="-130">
                <a:solidFill>
                  <a:srgbClr val="0F4490"/>
                </a:solidFill>
                <a:latin typeface="Arial"/>
                <a:cs typeface="Arial"/>
              </a:rPr>
              <a:t> </a:t>
            </a:r>
            <a:r>
              <a:rPr dirty="0" sz="3050" spc="-145">
                <a:solidFill>
                  <a:srgbClr val="0F4690"/>
                </a:solidFill>
                <a:latin typeface="Arial"/>
                <a:cs typeface="Arial"/>
              </a:rPr>
              <a:t>Tech</a:t>
            </a:r>
            <a:r>
              <a:rPr dirty="0" sz="3050" spc="-85">
                <a:solidFill>
                  <a:srgbClr val="0F4690"/>
                </a:solidFill>
                <a:latin typeface="Arial"/>
                <a:cs typeface="Arial"/>
              </a:rPr>
              <a:t> </a:t>
            </a:r>
            <a:r>
              <a:rPr dirty="0" sz="3050" spc="-340">
                <a:latin typeface="Arial"/>
                <a:cs typeface="Arial"/>
              </a:rPr>
              <a:t>(SRS/SAD)</a:t>
            </a:r>
            <a:endParaRPr sz="305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1990916" y="3498850"/>
            <a:ext cx="4102100" cy="4919345"/>
          </a:xfrm>
          <a:prstGeom prst="rect">
            <a:avLst/>
          </a:prstGeom>
          <a:ln w="21166">
            <a:solidFill>
              <a:srgbClr val="234877"/>
            </a:solidFill>
          </a:ln>
        </p:spPr>
        <p:txBody>
          <a:bodyPr wrap="square" lIns="0" tIns="52069" rIns="0" bIns="0" rtlCol="0" vert="horz">
            <a:spAutoFit/>
          </a:bodyPr>
          <a:lstStyle/>
          <a:p>
            <a:pPr marL="814069" marR="57150" indent="-6985">
              <a:lnSpc>
                <a:spcPts val="5550"/>
              </a:lnSpc>
              <a:spcBef>
                <a:spcPts val="409"/>
              </a:spcBef>
            </a:pPr>
            <a:r>
              <a:rPr dirty="0" sz="2900" spc="-409">
                <a:latin typeface="Arial"/>
                <a:cs typeface="Arial"/>
              </a:rPr>
              <a:t>NFRs</a:t>
            </a:r>
            <a:r>
              <a:rPr dirty="0" sz="2900" spc="130">
                <a:latin typeface="Arial"/>
                <a:cs typeface="Arial"/>
              </a:rPr>
              <a:t> </a:t>
            </a:r>
            <a:r>
              <a:rPr dirty="0" sz="2900" spc="-190">
                <a:latin typeface="Arial"/>
                <a:cs typeface="Arial"/>
              </a:rPr>
              <a:t>(Speed/Security) </a:t>
            </a:r>
            <a:r>
              <a:rPr dirty="0" sz="2900" spc="-280">
                <a:latin typeface="Arial"/>
                <a:cs typeface="Arial"/>
              </a:rPr>
              <a:t>Tech</a:t>
            </a:r>
            <a:r>
              <a:rPr dirty="0" sz="2900" spc="-45">
                <a:latin typeface="Arial"/>
                <a:cs typeface="Arial"/>
              </a:rPr>
              <a:t> </a:t>
            </a:r>
            <a:r>
              <a:rPr dirty="0" sz="2900" spc="-50">
                <a:latin typeface="Arial"/>
                <a:cs typeface="Arial"/>
              </a:rPr>
              <a:t>Stack</a:t>
            </a:r>
            <a:endParaRPr sz="2900">
              <a:latin typeface="Arial"/>
              <a:cs typeface="Arial"/>
            </a:endParaRPr>
          </a:p>
          <a:p>
            <a:pPr marL="823594" marR="459740" indent="-3810">
              <a:lnSpc>
                <a:spcPts val="5500"/>
              </a:lnSpc>
              <a:spcBef>
                <a:spcPts val="90"/>
              </a:spcBef>
            </a:pPr>
            <a:r>
              <a:rPr dirty="0" sz="2900" spc="-280">
                <a:latin typeface="Arial"/>
                <a:cs typeface="Arial"/>
              </a:rPr>
              <a:t>Data</a:t>
            </a:r>
            <a:r>
              <a:rPr dirty="0" sz="2900" spc="25">
                <a:latin typeface="Arial"/>
                <a:cs typeface="Arial"/>
              </a:rPr>
              <a:t> </a:t>
            </a:r>
            <a:r>
              <a:rPr dirty="0" sz="2900" spc="-265">
                <a:latin typeface="Arial"/>
                <a:cs typeface="Arial"/>
              </a:rPr>
              <a:t>Flow</a:t>
            </a:r>
            <a:r>
              <a:rPr dirty="0" sz="2900" spc="-5">
                <a:latin typeface="Arial"/>
                <a:cs typeface="Arial"/>
              </a:rPr>
              <a:t> </a:t>
            </a:r>
            <a:r>
              <a:rPr dirty="0" sz="2900" spc="-275">
                <a:latin typeface="Arial"/>
                <a:cs typeface="Arial"/>
              </a:rPr>
              <a:t>Diagrams </a:t>
            </a:r>
            <a:r>
              <a:rPr dirty="0" sz="2900" spc="-335">
                <a:latin typeface="Arial"/>
                <a:cs typeface="Arial"/>
              </a:rPr>
              <a:t>API</a:t>
            </a:r>
            <a:r>
              <a:rPr dirty="0" sz="2900" spc="-185">
                <a:latin typeface="Arial"/>
                <a:cs typeface="Arial"/>
              </a:rPr>
              <a:t> </a:t>
            </a:r>
            <a:r>
              <a:rPr dirty="0" sz="2900" spc="-95">
                <a:latin typeface="Arial"/>
                <a:cs typeface="Arial"/>
              </a:rPr>
              <a:t>Integrations</a:t>
            </a:r>
            <a:endParaRPr sz="2900">
              <a:latin typeface="Arial"/>
              <a:cs typeface="Arial"/>
            </a:endParaRPr>
          </a:p>
          <a:p>
            <a:pPr marL="821055">
              <a:lnSpc>
                <a:spcPts val="3075"/>
              </a:lnSpc>
              <a:spcBef>
                <a:spcPts val="1750"/>
              </a:spcBef>
            </a:pPr>
            <a:r>
              <a:rPr dirty="0" sz="2750" spc="-65">
                <a:latin typeface="Arial"/>
                <a:cs typeface="Arial"/>
              </a:rPr>
              <a:t>Deployment</a:t>
            </a:r>
            <a:endParaRPr sz="2750">
              <a:latin typeface="Arial"/>
              <a:cs typeface="Arial"/>
            </a:endParaRPr>
          </a:p>
          <a:p>
            <a:pPr marL="823594">
              <a:lnSpc>
                <a:spcPts val="3254"/>
              </a:lnSpc>
            </a:pPr>
            <a:r>
              <a:rPr dirty="0" sz="2900" spc="-95">
                <a:latin typeface="Arial"/>
                <a:cs typeface="Arial"/>
              </a:rPr>
              <a:t>Architecture</a:t>
            </a:r>
            <a:endParaRPr sz="2900">
              <a:latin typeface="Arial"/>
              <a:cs typeface="Aria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6105975" y="9413522"/>
            <a:ext cx="12306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Arial"/>
                <a:cs typeface="Arial"/>
              </a:rPr>
              <a:t>G</a:t>
            </a:r>
            <a:r>
              <a:rPr dirty="0" sz="1500" spc="265">
                <a:latin typeface="Arial"/>
                <a:cs typeface="Arial"/>
              </a:rPr>
              <a:t> </a:t>
            </a:r>
            <a:r>
              <a:rPr dirty="0" sz="1500" spc="-90">
                <a:latin typeface="Arial"/>
                <a:cs typeface="Arial"/>
              </a:rPr>
              <a:t>NotebookLM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800" y="393700"/>
            <a:ext cx="16611600" cy="9042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22534" y="913694"/>
            <a:ext cx="12778740" cy="8724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50" spc="55">
                <a:solidFill>
                  <a:srgbClr val="05469E"/>
                </a:solidFill>
              </a:rPr>
              <a:t>Mapping</a:t>
            </a:r>
            <a:r>
              <a:rPr dirty="0" sz="5550" spc="-50">
                <a:solidFill>
                  <a:srgbClr val="05469E"/>
                </a:solidFill>
              </a:rPr>
              <a:t> </a:t>
            </a:r>
            <a:r>
              <a:rPr dirty="0" sz="5550" spc="204">
                <a:solidFill>
                  <a:srgbClr val="0346A5"/>
                </a:solidFill>
              </a:rPr>
              <a:t>to</a:t>
            </a:r>
            <a:r>
              <a:rPr dirty="0" sz="5550" spc="-385">
                <a:solidFill>
                  <a:srgbClr val="0346A5"/>
                </a:solidFill>
              </a:rPr>
              <a:t> </a:t>
            </a:r>
            <a:r>
              <a:rPr dirty="0" sz="5550" spc="150">
                <a:solidFill>
                  <a:srgbClr val="0348A7"/>
                </a:solidFill>
              </a:rPr>
              <a:t>the</a:t>
            </a:r>
            <a:r>
              <a:rPr dirty="0" sz="5550" spc="-370">
                <a:solidFill>
                  <a:srgbClr val="0348A7"/>
                </a:solidFill>
              </a:rPr>
              <a:t> </a:t>
            </a:r>
            <a:r>
              <a:rPr dirty="0" sz="5550" spc="-300">
                <a:solidFill>
                  <a:srgbClr val="0549A3"/>
                </a:solidFill>
              </a:rPr>
              <a:t>SDLC:</a:t>
            </a:r>
            <a:r>
              <a:rPr dirty="0" sz="5550" spc="-120">
                <a:solidFill>
                  <a:srgbClr val="0549A3"/>
                </a:solidFill>
              </a:rPr>
              <a:t> </a:t>
            </a:r>
            <a:r>
              <a:rPr dirty="0" sz="5550" spc="65">
                <a:solidFill>
                  <a:srgbClr val="0549A8"/>
                </a:solidFill>
              </a:rPr>
              <a:t>Waterfall</a:t>
            </a:r>
            <a:r>
              <a:rPr dirty="0" sz="5550" spc="-5">
                <a:solidFill>
                  <a:srgbClr val="0549A8"/>
                </a:solidFill>
              </a:rPr>
              <a:t> </a:t>
            </a:r>
            <a:r>
              <a:rPr dirty="0" sz="5550" spc="110">
                <a:solidFill>
                  <a:srgbClr val="01429E"/>
                </a:solidFill>
              </a:rPr>
              <a:t>vs.</a:t>
            </a:r>
            <a:r>
              <a:rPr dirty="0" sz="5550" spc="-300">
                <a:solidFill>
                  <a:srgbClr val="01429E"/>
                </a:solidFill>
              </a:rPr>
              <a:t> </a:t>
            </a:r>
            <a:r>
              <a:rPr dirty="0" sz="5550" spc="-10">
                <a:solidFill>
                  <a:srgbClr val="0146A5"/>
                </a:solidFill>
              </a:rPr>
              <a:t>Agile</a:t>
            </a:r>
            <a:endParaRPr sz="5550"/>
          </a:p>
        </p:txBody>
      </p:sp>
      <p:sp>
        <p:nvSpPr>
          <p:cNvPr id="4" name="object 4" descr=""/>
          <p:cNvSpPr txBox="1"/>
          <p:nvPr/>
        </p:nvSpPr>
        <p:spPr>
          <a:xfrm>
            <a:off x="1598456" y="3245908"/>
            <a:ext cx="1898650" cy="6330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2605"/>
              </a:lnSpc>
              <a:spcBef>
                <a:spcPts val="90"/>
              </a:spcBef>
            </a:pPr>
            <a:r>
              <a:rPr dirty="0" sz="2300">
                <a:latin typeface="Arial"/>
                <a:cs typeface="Arial"/>
              </a:rPr>
              <a:t>Initiation</a:t>
            </a:r>
            <a:r>
              <a:rPr dirty="0" sz="2300" spc="-30">
                <a:latin typeface="Arial"/>
                <a:cs typeface="Arial"/>
              </a:rPr>
              <a:t> </a:t>
            </a:r>
            <a:r>
              <a:rPr dirty="0" sz="2300" spc="-155">
                <a:latin typeface="Arial"/>
                <a:cs typeface="Arial"/>
              </a:rPr>
              <a:t>(BRD)</a:t>
            </a:r>
            <a:endParaRPr sz="2300">
              <a:latin typeface="Arial"/>
              <a:cs typeface="Arial"/>
            </a:endParaRPr>
          </a:p>
          <a:p>
            <a:pPr marL="83820">
              <a:lnSpc>
                <a:spcPts val="2185"/>
              </a:lnSpc>
            </a:pPr>
            <a:r>
              <a:rPr dirty="0" sz="1950" spc="80">
                <a:latin typeface="Arial"/>
                <a:cs typeface="Arial"/>
              </a:rPr>
              <a:t>JetBrains</a:t>
            </a:r>
            <a:r>
              <a:rPr dirty="0" sz="1950" spc="445">
                <a:latin typeface="Arial"/>
                <a:cs typeface="Arial"/>
              </a:rPr>
              <a:t> </a:t>
            </a:r>
            <a:r>
              <a:rPr dirty="0" sz="1950" spc="-75">
                <a:latin typeface="Arial"/>
                <a:cs typeface="Arial"/>
              </a:rPr>
              <a:t>None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613903" y="2068688"/>
            <a:ext cx="10186670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082915" algn="l"/>
              </a:tabLst>
            </a:pPr>
            <a:r>
              <a:rPr dirty="0" sz="3600" spc="-10">
                <a:solidFill>
                  <a:srgbClr val="03419C"/>
                </a:solidFill>
                <a:latin typeface="Arial"/>
                <a:cs typeface="Arial"/>
              </a:rPr>
              <a:t>Waterfall</a:t>
            </a:r>
            <a:r>
              <a:rPr dirty="0" sz="3600">
                <a:solidFill>
                  <a:srgbClr val="03419C"/>
                </a:solidFill>
                <a:latin typeface="Arial"/>
                <a:cs typeface="Arial"/>
              </a:rPr>
              <a:t>	</a:t>
            </a:r>
            <a:r>
              <a:rPr dirty="0" sz="3600" spc="100">
                <a:solidFill>
                  <a:srgbClr val="0546A7"/>
                </a:solidFill>
                <a:latin typeface="Arial"/>
                <a:cs typeface="Arial"/>
              </a:rPr>
              <a:t>Agile</a:t>
            </a:r>
            <a:r>
              <a:rPr dirty="0" sz="3600" spc="100">
                <a:solidFill>
                  <a:srgbClr val="083880"/>
                </a:solidFill>
                <a:latin typeface="Arial"/>
                <a:cs typeface="Arial"/>
              </a:rPr>
              <a:t>/</a:t>
            </a:r>
            <a:r>
              <a:rPr dirty="0" sz="3600" spc="40">
                <a:solidFill>
                  <a:srgbClr val="083880"/>
                </a:solidFill>
                <a:latin typeface="Arial"/>
                <a:cs typeface="Arial"/>
              </a:rPr>
              <a:t> </a:t>
            </a:r>
            <a:r>
              <a:rPr dirty="0" sz="3600" spc="-20">
                <a:solidFill>
                  <a:srgbClr val="0F4493"/>
                </a:solidFill>
                <a:latin typeface="Arial"/>
                <a:cs typeface="Arial"/>
              </a:rPr>
              <a:t>Jira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763670" y="4502150"/>
            <a:ext cx="756285" cy="669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00"/>
              </a:lnSpc>
              <a:spcBef>
                <a:spcPts val="100"/>
              </a:spcBef>
            </a:pPr>
            <a:r>
              <a:rPr dirty="0" sz="2500" spc="-95">
                <a:latin typeface="Arial"/>
                <a:cs typeface="Arial"/>
              </a:rPr>
              <a:t>nalysi</a:t>
            </a:r>
            <a:endParaRPr sz="2500">
              <a:latin typeface="Arial"/>
              <a:cs typeface="Arial"/>
            </a:endParaRPr>
          </a:p>
          <a:p>
            <a:pPr marL="80645">
              <a:lnSpc>
                <a:spcPts val="2260"/>
              </a:lnSpc>
            </a:pPr>
            <a:r>
              <a:rPr dirty="0" sz="2050" spc="-265">
                <a:latin typeface="Arial"/>
                <a:cs typeface="Arial"/>
              </a:rPr>
              <a:t>(FRD)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133744" y="5811308"/>
            <a:ext cx="885825" cy="6508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2555"/>
              </a:lnSpc>
              <a:spcBef>
                <a:spcPts val="90"/>
              </a:spcBef>
            </a:pPr>
            <a:r>
              <a:rPr dirty="0" sz="2300" spc="-45">
                <a:latin typeface="Arial"/>
                <a:cs typeface="Arial"/>
              </a:rPr>
              <a:t>Design</a:t>
            </a:r>
            <a:endParaRPr sz="2300">
              <a:latin typeface="Arial"/>
              <a:cs typeface="Arial"/>
            </a:endParaRPr>
          </a:p>
          <a:p>
            <a:pPr algn="ctr" marR="11430">
              <a:lnSpc>
                <a:spcPts val="2375"/>
              </a:lnSpc>
            </a:pPr>
            <a:r>
              <a:rPr dirty="0" sz="2150" spc="-335">
                <a:latin typeface="Arial"/>
                <a:cs typeface="Arial"/>
              </a:rPr>
              <a:t>(FRS)</a:t>
            </a:r>
            <a:endParaRPr sz="21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467244" y="7106708"/>
            <a:ext cx="1149350" cy="645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2655"/>
              </a:lnSpc>
              <a:spcBef>
                <a:spcPts val="90"/>
              </a:spcBef>
            </a:pPr>
            <a:r>
              <a:rPr dirty="0" sz="2300" spc="-105">
                <a:latin typeface="Arial"/>
                <a:cs typeface="Arial"/>
              </a:rPr>
              <a:t>Dev</a:t>
            </a:r>
            <a:r>
              <a:rPr dirty="0" sz="2300" spc="-145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Prep</a:t>
            </a:r>
            <a:endParaRPr sz="2300">
              <a:latin typeface="Arial"/>
              <a:cs typeface="Arial"/>
            </a:endParaRPr>
          </a:p>
          <a:p>
            <a:pPr algn="ctr" marR="5080">
              <a:lnSpc>
                <a:spcPts val="2235"/>
              </a:lnSpc>
            </a:pPr>
            <a:r>
              <a:rPr dirty="0" sz="1950" spc="-35">
                <a:latin typeface="Arial"/>
                <a:cs typeface="Arial"/>
              </a:rPr>
              <a:t>(SRS)</a:t>
            </a:r>
            <a:endParaRPr sz="19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785664" y="3611386"/>
            <a:ext cx="490220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185">
                <a:latin typeface="Arial"/>
                <a:cs typeface="Arial"/>
              </a:rPr>
              <a:t>BRD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023085" y="4931127"/>
            <a:ext cx="1135380" cy="6273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r" marR="27940">
              <a:lnSpc>
                <a:spcPts val="2445"/>
              </a:lnSpc>
              <a:spcBef>
                <a:spcPts val="120"/>
              </a:spcBef>
            </a:pPr>
            <a:r>
              <a:rPr dirty="0" sz="2200" spc="-95">
                <a:latin typeface="Arial"/>
                <a:cs typeface="Arial"/>
              </a:rPr>
              <a:t>Technical</a:t>
            </a:r>
            <a:endParaRPr sz="2200">
              <a:latin typeface="Arial"/>
              <a:cs typeface="Arial"/>
            </a:endParaRPr>
          </a:p>
          <a:p>
            <a:pPr algn="r" marR="5080">
              <a:lnSpc>
                <a:spcPts val="2265"/>
              </a:lnSpc>
            </a:pPr>
            <a:r>
              <a:rPr dirty="0" sz="2050" spc="-10">
                <a:latin typeface="Arial"/>
                <a:cs typeface="Arial"/>
              </a:rPr>
              <a:t>Tasks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666306" y="5626805"/>
            <a:ext cx="49784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90">
                <a:latin typeface="Arial"/>
                <a:cs typeface="Arial"/>
              </a:rPr>
              <a:t>SAD</a:t>
            </a:r>
            <a:endParaRPr sz="19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616164" y="6901039"/>
            <a:ext cx="1151255" cy="1049655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254000" marR="5715" indent="-241935">
              <a:lnSpc>
                <a:spcPct val="76200"/>
              </a:lnSpc>
              <a:spcBef>
                <a:spcPts val="780"/>
              </a:spcBef>
            </a:pPr>
            <a:r>
              <a:rPr dirty="0" sz="2350" spc="-100">
                <a:latin typeface="Arial"/>
                <a:cs typeface="Arial"/>
              </a:rPr>
              <a:t>Definition </a:t>
            </a:r>
            <a:r>
              <a:rPr dirty="0" sz="2350" spc="-120">
                <a:latin typeface="Arial"/>
                <a:cs typeface="Arial"/>
              </a:rPr>
              <a:t>of</a:t>
            </a:r>
            <a:r>
              <a:rPr dirty="0" sz="2350" spc="-195">
                <a:latin typeface="Arial"/>
                <a:cs typeface="Arial"/>
              </a:rPr>
              <a:t> </a:t>
            </a:r>
            <a:r>
              <a:rPr dirty="0" sz="2350" spc="-229">
                <a:latin typeface="Arial"/>
                <a:cs typeface="Arial"/>
              </a:rPr>
              <a:t>Done</a:t>
            </a:r>
            <a:endParaRPr sz="2350">
              <a:latin typeface="Arial"/>
              <a:cs typeface="Arial"/>
            </a:endParaRPr>
          </a:p>
          <a:p>
            <a:pPr marL="697230">
              <a:lnSpc>
                <a:spcPct val="100000"/>
              </a:lnSpc>
              <a:spcBef>
                <a:spcPts val="680"/>
              </a:spcBef>
            </a:pPr>
            <a:r>
              <a:rPr dirty="0" sz="2000" spc="-200">
                <a:latin typeface="Arial"/>
                <a:cs typeface="Arial"/>
              </a:rPr>
              <a:t>SRS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728127" y="8516408"/>
            <a:ext cx="5996305" cy="6972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2705"/>
              </a:lnSpc>
              <a:spcBef>
                <a:spcPts val="90"/>
              </a:spcBef>
            </a:pPr>
            <a:r>
              <a:rPr dirty="0" sz="2300" spc="-65">
                <a:latin typeface="Arial"/>
                <a:cs typeface="Arial"/>
              </a:rPr>
              <a:t>Agile</a:t>
            </a:r>
            <a:r>
              <a:rPr dirty="0" sz="2300" spc="-8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doesn't</a:t>
            </a:r>
            <a:r>
              <a:rPr dirty="0" sz="2300" spc="11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kill</a:t>
            </a:r>
            <a:r>
              <a:rPr dirty="0" sz="2300" spc="-80">
                <a:latin typeface="Arial"/>
                <a:cs typeface="Arial"/>
              </a:rPr>
              <a:t> </a:t>
            </a:r>
            <a:r>
              <a:rPr dirty="0" sz="2300" spc="-35">
                <a:latin typeface="Arial"/>
                <a:cs typeface="Arial"/>
              </a:rPr>
              <a:t>documentation;</a:t>
            </a:r>
            <a:r>
              <a:rPr dirty="0" sz="2300" spc="-204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it</a:t>
            </a:r>
            <a:r>
              <a:rPr dirty="0" sz="2300" spc="-15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breaks</a:t>
            </a:r>
            <a:r>
              <a:rPr dirty="0" sz="2300" spc="-9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it</a:t>
            </a:r>
            <a:r>
              <a:rPr dirty="0" sz="2300" spc="15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into</a:t>
            </a:r>
            <a:endParaRPr sz="2300">
              <a:latin typeface="Arial"/>
              <a:cs typeface="Arial"/>
            </a:endParaRPr>
          </a:p>
          <a:p>
            <a:pPr algn="ctr" marR="1905">
              <a:lnSpc>
                <a:spcPts val="2585"/>
              </a:lnSpc>
            </a:pPr>
            <a:r>
              <a:rPr dirty="0" sz="2200" spc="-35">
                <a:latin typeface="Arial"/>
                <a:cs typeface="Arial"/>
              </a:rPr>
              <a:t>smaller,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iterative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chunks</a:t>
            </a:r>
            <a:r>
              <a:rPr dirty="0" sz="2200" spc="55">
                <a:latin typeface="Arial"/>
                <a:cs typeface="Arial"/>
              </a:rPr>
              <a:t> </a:t>
            </a:r>
            <a:r>
              <a:rPr dirty="0" sz="2200" spc="-20">
                <a:latin typeface="Arial"/>
                <a:cs typeface="Arial"/>
              </a:rPr>
              <a:t>(User</a:t>
            </a:r>
            <a:r>
              <a:rPr dirty="0" sz="2200" spc="3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Stories).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5204147" y="3125315"/>
            <a:ext cx="901065" cy="82232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2200" spc="-100">
                <a:latin typeface="Arial"/>
                <a:cs typeface="Arial"/>
              </a:rPr>
              <a:t>Feature</a:t>
            </a:r>
            <a:endParaRPr sz="22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09"/>
              </a:spcBef>
            </a:pPr>
            <a:r>
              <a:rPr dirty="0" sz="2150" spc="-280">
                <a:latin typeface="Arial"/>
                <a:cs typeface="Arial"/>
              </a:rPr>
              <a:t>FRD</a:t>
            </a:r>
            <a:endParaRPr sz="21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4950414" y="6852708"/>
            <a:ext cx="1404620" cy="129159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algn="just" marL="20955" marR="5080" indent="-8890">
              <a:lnSpc>
                <a:spcPct val="76100"/>
              </a:lnSpc>
              <a:spcBef>
                <a:spcPts val="750"/>
              </a:spcBef>
            </a:pPr>
            <a:r>
              <a:rPr dirty="0" sz="2300" spc="-235">
                <a:latin typeface="Arial"/>
                <a:cs typeface="Arial"/>
              </a:rPr>
              <a:t>User</a:t>
            </a:r>
            <a:r>
              <a:rPr dirty="0" sz="2300" spc="8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Story/ </a:t>
            </a:r>
            <a:r>
              <a:rPr dirty="0" sz="2300" spc="-130">
                <a:latin typeface="Arial"/>
                <a:cs typeface="Arial"/>
              </a:rPr>
              <a:t>Acceptance </a:t>
            </a:r>
            <a:r>
              <a:rPr dirty="0" sz="2300" spc="-10">
                <a:latin typeface="Arial"/>
                <a:cs typeface="Arial"/>
              </a:rPr>
              <a:t>Criteria</a:t>
            </a:r>
            <a:endParaRPr sz="23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90"/>
              </a:spcBef>
            </a:pPr>
            <a:r>
              <a:rPr dirty="0" sz="1850" spc="-25">
                <a:latin typeface="Arial"/>
                <a:cs typeface="Arial"/>
              </a:rPr>
              <a:t>FRS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900" y="5676900"/>
            <a:ext cx="15265400" cy="8890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4900" y="4457700"/>
            <a:ext cx="15265400" cy="8890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4900" y="3225800"/>
            <a:ext cx="15252700" cy="8890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4900" y="1968500"/>
            <a:ext cx="15265400" cy="889000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1081616" y="6955366"/>
            <a:ext cx="0" cy="2328545"/>
          </a:xfrm>
          <a:custGeom>
            <a:avLst/>
            <a:gdLst/>
            <a:ahLst/>
            <a:cxnLst/>
            <a:rect l="l" t="t" r="r" b="b"/>
            <a:pathLst>
              <a:path w="0" h="2328545">
                <a:moveTo>
                  <a:pt x="0" y="2328333"/>
                </a:moveTo>
                <a:lnTo>
                  <a:pt x="0" y="0"/>
                </a:lnTo>
              </a:path>
            </a:pathLst>
          </a:custGeom>
          <a:ln w="29633">
            <a:solidFill>
              <a:srgbClr val="0F449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1066800" y="6955366"/>
            <a:ext cx="15282544" cy="2328545"/>
            <a:chOff x="1066800" y="6955366"/>
            <a:chExt cx="15282544" cy="2328545"/>
          </a:xfrm>
        </p:grpSpPr>
        <p:sp>
          <p:nvSpPr>
            <p:cNvPr id="8" name="object 8" descr=""/>
            <p:cNvSpPr/>
            <p:nvPr/>
          </p:nvSpPr>
          <p:spPr>
            <a:xfrm>
              <a:off x="16334316" y="6955366"/>
              <a:ext cx="0" cy="2328545"/>
            </a:xfrm>
            <a:custGeom>
              <a:avLst/>
              <a:gdLst/>
              <a:ahLst/>
              <a:cxnLst/>
              <a:rect l="l" t="t" r="r" b="b"/>
              <a:pathLst>
                <a:path w="0" h="2328545">
                  <a:moveTo>
                    <a:pt x="0" y="2328333"/>
                  </a:moveTo>
                  <a:lnTo>
                    <a:pt x="0" y="0"/>
                  </a:lnTo>
                </a:path>
              </a:pathLst>
            </a:custGeom>
            <a:ln w="29633">
              <a:solidFill>
                <a:srgbClr val="0F44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66800" y="6970183"/>
              <a:ext cx="15282544" cy="0"/>
            </a:xfrm>
            <a:custGeom>
              <a:avLst/>
              <a:gdLst/>
              <a:ahLst/>
              <a:cxnLst/>
              <a:rect l="l" t="t" r="r" b="b"/>
              <a:pathLst>
                <a:path w="15282544" h="0">
                  <a:moveTo>
                    <a:pt x="0" y="0"/>
                  </a:moveTo>
                  <a:lnTo>
                    <a:pt x="15282334" y="0"/>
                  </a:lnTo>
                </a:path>
              </a:pathLst>
            </a:custGeom>
            <a:ln w="29633">
              <a:solidFill>
                <a:srgbClr val="0F44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66800" y="9268883"/>
              <a:ext cx="15282544" cy="0"/>
            </a:xfrm>
            <a:custGeom>
              <a:avLst/>
              <a:gdLst/>
              <a:ahLst/>
              <a:cxnLst/>
              <a:rect l="l" t="t" r="r" b="b"/>
              <a:pathLst>
                <a:path w="15282544" h="0">
                  <a:moveTo>
                    <a:pt x="0" y="0"/>
                  </a:moveTo>
                  <a:lnTo>
                    <a:pt x="15282334" y="0"/>
                  </a:lnTo>
                </a:path>
              </a:pathLst>
            </a:custGeom>
            <a:ln w="29633">
              <a:solidFill>
                <a:srgbClr val="0F449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899900" y="3619500"/>
            <a:ext cx="609600" cy="3429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861800" y="5816600"/>
            <a:ext cx="3733800" cy="6223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899900" y="3340100"/>
            <a:ext cx="533400" cy="37465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59197" y="341841"/>
            <a:ext cx="12240895" cy="819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200">
                <a:solidFill>
                  <a:srgbClr val="074DC1"/>
                </a:solidFill>
              </a:rPr>
              <a:t>The</a:t>
            </a:r>
            <a:r>
              <a:rPr dirty="0" sz="5200" spc="-190">
                <a:solidFill>
                  <a:srgbClr val="074DC1"/>
                </a:solidFill>
              </a:rPr>
              <a:t> </a:t>
            </a:r>
            <a:r>
              <a:rPr dirty="0" sz="5200" spc="-345">
                <a:solidFill>
                  <a:srgbClr val="0850BF"/>
                </a:solidFill>
              </a:rPr>
              <a:t>QA</a:t>
            </a:r>
            <a:r>
              <a:rPr dirty="0" sz="5200" spc="-70">
                <a:solidFill>
                  <a:srgbClr val="0850BF"/>
                </a:solidFill>
              </a:rPr>
              <a:t> </a:t>
            </a:r>
            <a:r>
              <a:rPr dirty="0" sz="5200" spc="65">
                <a:solidFill>
                  <a:srgbClr val="0850C1"/>
                </a:solidFill>
              </a:rPr>
              <a:t>Perspective:</a:t>
            </a:r>
            <a:r>
              <a:rPr dirty="0" sz="5200" spc="-55">
                <a:solidFill>
                  <a:srgbClr val="0850C1"/>
                </a:solidFill>
              </a:rPr>
              <a:t> </a:t>
            </a:r>
            <a:r>
              <a:rPr dirty="0" sz="5200" spc="65">
                <a:solidFill>
                  <a:srgbClr val="054BBD"/>
                </a:solidFill>
              </a:rPr>
              <a:t>Deriving</a:t>
            </a:r>
            <a:r>
              <a:rPr dirty="0" sz="5200" spc="-75">
                <a:solidFill>
                  <a:srgbClr val="054BBD"/>
                </a:solidFill>
              </a:rPr>
              <a:t> </a:t>
            </a:r>
            <a:r>
              <a:rPr dirty="0" sz="5200">
                <a:solidFill>
                  <a:srgbClr val="084DBD"/>
                </a:solidFill>
              </a:rPr>
              <a:t>Test</a:t>
            </a:r>
            <a:r>
              <a:rPr dirty="0" sz="5200" spc="-35">
                <a:solidFill>
                  <a:srgbClr val="084DBD"/>
                </a:solidFill>
              </a:rPr>
              <a:t> </a:t>
            </a:r>
            <a:r>
              <a:rPr dirty="0" sz="5200" spc="-40">
                <a:solidFill>
                  <a:srgbClr val="074FBA"/>
                </a:solidFill>
              </a:rPr>
              <a:t>Cases</a:t>
            </a:r>
            <a:endParaRPr sz="5200"/>
          </a:p>
        </p:txBody>
      </p:sp>
      <p:sp>
        <p:nvSpPr>
          <p:cNvPr id="15" name="object 15" descr=""/>
          <p:cNvSpPr txBox="1"/>
          <p:nvPr/>
        </p:nvSpPr>
        <p:spPr>
          <a:xfrm>
            <a:off x="754068" y="1146175"/>
            <a:ext cx="7874000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96004" algn="l"/>
              </a:tabLst>
            </a:pPr>
            <a:r>
              <a:rPr dirty="0" sz="3100" spc="70">
                <a:solidFill>
                  <a:srgbClr val="0C0C0C"/>
                </a:solidFill>
                <a:latin typeface="Calibri"/>
                <a:cs typeface="Calibri"/>
              </a:rPr>
              <a:t>How</a:t>
            </a:r>
            <a:r>
              <a:rPr dirty="0" sz="3100" spc="16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3100" spc="-10">
                <a:solidFill>
                  <a:srgbClr val="111111"/>
                </a:solidFill>
                <a:latin typeface="Calibri"/>
                <a:cs typeface="Calibri"/>
              </a:rPr>
              <a:t>documentation</a:t>
            </a:r>
            <a:r>
              <a:rPr dirty="0" sz="3100">
                <a:solidFill>
                  <a:srgbClr val="111111"/>
                </a:solidFill>
                <a:latin typeface="Calibri"/>
                <a:cs typeface="Calibri"/>
              </a:rPr>
              <a:t>	</a:t>
            </a:r>
            <a:r>
              <a:rPr dirty="0" sz="3100" spc="95">
                <a:solidFill>
                  <a:srgbClr val="081828"/>
                </a:solidFill>
                <a:latin typeface="Calibri"/>
                <a:cs typeface="Calibri"/>
              </a:rPr>
              <a:t>drives</a:t>
            </a:r>
            <a:r>
              <a:rPr dirty="0" sz="3100" spc="229">
                <a:solidFill>
                  <a:srgbClr val="081828"/>
                </a:solidFill>
                <a:latin typeface="Calibri"/>
                <a:cs typeface="Calibri"/>
              </a:rPr>
              <a:t> </a:t>
            </a:r>
            <a:r>
              <a:rPr dirty="0" sz="3100">
                <a:solidFill>
                  <a:srgbClr val="111111"/>
                </a:solidFill>
                <a:latin typeface="Calibri"/>
                <a:cs typeface="Calibri"/>
              </a:rPr>
              <a:t>quality</a:t>
            </a:r>
            <a:r>
              <a:rPr dirty="0" sz="3100" spc="409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100" spc="105">
                <a:solidFill>
                  <a:srgbClr val="131313"/>
                </a:solidFill>
                <a:latin typeface="Calibri"/>
                <a:cs typeface="Calibri"/>
              </a:rPr>
              <a:t>assurance.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314970" y="1933927"/>
            <a:ext cx="1522730" cy="745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94385" algn="l"/>
              </a:tabLst>
            </a:pPr>
            <a:r>
              <a:rPr dirty="0" sz="4700" spc="229">
                <a:solidFill>
                  <a:srgbClr val="214685"/>
                </a:solidFill>
                <a:latin typeface="Arial"/>
                <a:cs typeface="Arial"/>
              </a:rPr>
              <a:t>B</a:t>
            </a:r>
            <a:r>
              <a:rPr dirty="0" sz="4700">
                <a:solidFill>
                  <a:srgbClr val="214685"/>
                </a:solidFill>
                <a:latin typeface="Arial"/>
                <a:cs typeface="Arial"/>
              </a:rPr>
              <a:t>	</a:t>
            </a:r>
            <a:r>
              <a:rPr dirty="0" sz="4700" spc="-1385">
                <a:solidFill>
                  <a:srgbClr val="051626"/>
                </a:solidFill>
                <a:latin typeface="Arial"/>
                <a:cs typeface="Arial"/>
              </a:rPr>
              <a:t>FRD</a:t>
            </a:r>
            <a:endParaRPr sz="47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102618" y="3365147"/>
            <a:ext cx="73025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190">
                <a:solidFill>
                  <a:srgbClr val="1C1C1C"/>
                </a:solidFill>
                <a:latin typeface="OCR A Extended"/>
                <a:cs typeface="OCR A Extended"/>
              </a:rPr>
              <a:t>FRS</a:t>
            </a:r>
            <a:endParaRPr sz="3400">
              <a:latin typeface="OCR A Extended"/>
              <a:cs typeface="OCR A Extended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38268" y="4638675"/>
            <a:ext cx="1329055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93750" algn="l"/>
              </a:tabLst>
            </a:pPr>
            <a:r>
              <a:rPr dirty="0" sz="3100" spc="-50">
                <a:solidFill>
                  <a:srgbClr val="183B7C"/>
                </a:solidFill>
                <a:latin typeface="Calibri"/>
                <a:cs typeface="Calibri"/>
              </a:rPr>
              <a:t>B</a:t>
            </a:r>
            <a:r>
              <a:rPr dirty="0" sz="3100">
                <a:solidFill>
                  <a:srgbClr val="183B7C"/>
                </a:solidFill>
                <a:latin typeface="Calibri"/>
                <a:cs typeface="Calibri"/>
              </a:rPr>
              <a:t>	</a:t>
            </a:r>
            <a:r>
              <a:rPr dirty="0" sz="3100" spc="-130">
                <a:solidFill>
                  <a:srgbClr val="05162A"/>
                </a:solidFill>
                <a:latin typeface="Calibri"/>
                <a:cs typeface="Calibri"/>
              </a:rPr>
              <a:t>SRS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338652" y="5804958"/>
            <a:ext cx="11298555" cy="2274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93750" algn="l"/>
              </a:tabLst>
            </a:pPr>
            <a:r>
              <a:rPr dirty="0" sz="3550" spc="-310">
                <a:solidFill>
                  <a:srgbClr val="0C3B8C"/>
                </a:solidFill>
                <a:latin typeface="Arial"/>
                <a:cs typeface="Arial"/>
              </a:rPr>
              <a:t>B</a:t>
            </a:r>
            <a:r>
              <a:rPr dirty="0" sz="3550">
                <a:solidFill>
                  <a:srgbClr val="0C3B8C"/>
                </a:solidFill>
                <a:latin typeface="Arial"/>
                <a:cs typeface="Arial"/>
              </a:rPr>
              <a:t>	</a:t>
            </a:r>
            <a:r>
              <a:rPr dirty="0" sz="3550" spc="-345">
                <a:solidFill>
                  <a:srgbClr val="0A1A31"/>
                </a:solidFill>
                <a:latin typeface="Arial"/>
                <a:cs typeface="Arial"/>
              </a:rPr>
              <a:t>sAD</a:t>
            </a:r>
            <a:endParaRPr sz="3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5"/>
              </a:spcBef>
            </a:pPr>
            <a:endParaRPr sz="3550">
              <a:latin typeface="Arial"/>
              <a:cs typeface="Arial"/>
            </a:endParaRPr>
          </a:p>
          <a:p>
            <a:pPr marL="52705">
              <a:lnSpc>
                <a:spcPts val="3829"/>
              </a:lnSpc>
              <a:spcBef>
                <a:spcPts val="5"/>
              </a:spcBef>
            </a:pPr>
            <a:r>
              <a:rPr dirty="0" sz="3300" spc="-235">
                <a:solidFill>
                  <a:srgbClr val="083F99"/>
                </a:solidFill>
                <a:latin typeface="OCR A Extended"/>
                <a:cs typeface="OCR A Extended"/>
              </a:rPr>
              <a:t>Concrète</a:t>
            </a:r>
            <a:r>
              <a:rPr dirty="0" sz="3300" spc="-229">
                <a:solidFill>
                  <a:srgbClr val="083F99"/>
                </a:solidFill>
                <a:latin typeface="OCR A Extended"/>
                <a:cs typeface="OCR A Extended"/>
              </a:rPr>
              <a:t> </a:t>
            </a:r>
            <a:r>
              <a:rPr dirty="0" sz="3300" spc="-270">
                <a:solidFill>
                  <a:srgbClr val="0E49AA"/>
                </a:solidFill>
                <a:latin typeface="OCR A Extended"/>
                <a:cs typeface="OCR A Extended"/>
              </a:rPr>
              <a:t>Example:</a:t>
            </a:r>
            <a:endParaRPr sz="3300">
              <a:latin typeface="OCR A Extended"/>
              <a:cs typeface="OCR A Extended"/>
            </a:endParaRPr>
          </a:p>
          <a:p>
            <a:pPr marL="66675">
              <a:lnSpc>
                <a:spcPts val="3829"/>
              </a:lnSpc>
              <a:tabLst>
                <a:tab pos="3328035" algn="l"/>
              </a:tabLst>
            </a:pPr>
            <a:r>
              <a:rPr dirty="0" sz="3300" spc="-260">
                <a:solidFill>
                  <a:srgbClr val="D36B2A"/>
                </a:solidFill>
                <a:latin typeface="OCR A Extended"/>
                <a:cs typeface="OCR A Extended"/>
              </a:rPr>
              <a:t>Source</a:t>
            </a:r>
            <a:r>
              <a:rPr dirty="0" sz="3300" spc="-295">
                <a:solidFill>
                  <a:srgbClr val="D36B2A"/>
                </a:solidFill>
                <a:latin typeface="OCR A Extended"/>
                <a:cs typeface="OCR A Extended"/>
              </a:rPr>
              <a:t> </a:t>
            </a:r>
            <a:r>
              <a:rPr dirty="0" sz="3300" spc="-10">
                <a:solidFill>
                  <a:srgbClr val="CF6228"/>
                </a:solidFill>
                <a:latin typeface="OCR A Extended"/>
                <a:cs typeface="OCR A Extended"/>
              </a:rPr>
              <a:t>(FRS):</a:t>
            </a:r>
            <a:r>
              <a:rPr dirty="0" sz="3300">
                <a:solidFill>
                  <a:srgbClr val="CF6228"/>
                </a:solidFill>
                <a:latin typeface="OCR A Extended"/>
                <a:cs typeface="OCR A Extended"/>
              </a:rPr>
              <a:t>	</a:t>
            </a:r>
            <a:r>
              <a:rPr dirty="0" sz="3300" spc="-260">
                <a:latin typeface="OCR A Extended"/>
                <a:cs typeface="OCR A Extended"/>
              </a:rPr>
              <a:t>'Password</a:t>
            </a:r>
            <a:r>
              <a:rPr dirty="0" sz="3300" spc="-25">
                <a:latin typeface="OCR A Extended"/>
                <a:cs typeface="OCR A Extended"/>
              </a:rPr>
              <a:t> </a:t>
            </a:r>
            <a:r>
              <a:rPr dirty="0" sz="3300" spc="-235">
                <a:latin typeface="OCR A Extended"/>
                <a:cs typeface="OCR A Extended"/>
              </a:rPr>
              <a:t>must </a:t>
            </a:r>
            <a:r>
              <a:rPr dirty="0" sz="3300" spc="-185">
                <a:latin typeface="OCR A Extended"/>
                <a:cs typeface="OCR A Extended"/>
              </a:rPr>
              <a:t>be</a:t>
            </a:r>
            <a:r>
              <a:rPr dirty="0" sz="3300" spc="-375">
                <a:latin typeface="OCR A Extended"/>
                <a:cs typeface="OCR A Extended"/>
              </a:rPr>
              <a:t> </a:t>
            </a:r>
            <a:r>
              <a:rPr dirty="0" sz="3300" spc="-225">
                <a:latin typeface="OCR A Extended"/>
                <a:cs typeface="OCR A Extended"/>
              </a:rPr>
              <a:t>min</a:t>
            </a:r>
            <a:r>
              <a:rPr dirty="0" sz="3300" spc="-330">
                <a:latin typeface="OCR A Extended"/>
                <a:cs typeface="OCR A Extended"/>
              </a:rPr>
              <a:t> </a:t>
            </a:r>
            <a:r>
              <a:rPr dirty="0" sz="3300" spc="155">
                <a:latin typeface="OCR A Extended"/>
                <a:cs typeface="OCR A Extended"/>
              </a:rPr>
              <a:t>8</a:t>
            </a:r>
            <a:r>
              <a:rPr dirty="0" sz="3300" spc="-545">
                <a:latin typeface="OCR A Extended"/>
                <a:cs typeface="OCR A Extended"/>
              </a:rPr>
              <a:t> </a:t>
            </a:r>
            <a:r>
              <a:rPr dirty="0" sz="3300" spc="-290">
                <a:latin typeface="OCR A Extended"/>
                <a:cs typeface="OCR A Extended"/>
              </a:rPr>
              <a:t>characters.'</a:t>
            </a:r>
            <a:endParaRPr sz="3300">
              <a:latin typeface="OCR A Extended"/>
              <a:cs typeface="OCR A Extended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2709156" y="2168172"/>
            <a:ext cx="2820035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10">
                <a:solidFill>
                  <a:srgbClr val="0C0C0C"/>
                </a:solidFill>
                <a:latin typeface="Arial"/>
                <a:cs typeface="Arial"/>
              </a:rPr>
              <a:t>Functional</a:t>
            </a:r>
            <a:r>
              <a:rPr dirty="0" sz="2750" spc="-13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750" spc="-30">
                <a:solidFill>
                  <a:srgbClr val="0C0C0C"/>
                </a:solidFill>
                <a:latin typeface="Arial"/>
                <a:cs typeface="Arial"/>
              </a:rPr>
              <a:t>Testing</a:t>
            </a:r>
            <a:endParaRPr sz="275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2708102" y="3208513"/>
            <a:ext cx="1835785" cy="848994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2700" marR="5080" indent="2540">
              <a:lnSpc>
                <a:spcPts val="2900"/>
              </a:lnSpc>
              <a:spcBef>
                <a:spcPts val="765"/>
              </a:spcBef>
            </a:pPr>
            <a:r>
              <a:rPr dirty="0" sz="2950" spc="-110">
                <a:solidFill>
                  <a:srgbClr val="050505"/>
                </a:solidFill>
                <a:latin typeface="Arial"/>
                <a:cs typeface="Arial"/>
              </a:rPr>
              <a:t>Validation</a:t>
            </a:r>
            <a:r>
              <a:rPr dirty="0" sz="2950" spc="-4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950" spc="-505">
                <a:solidFill>
                  <a:srgbClr val="000C1C"/>
                </a:solidFill>
                <a:latin typeface="Arial"/>
                <a:cs typeface="Arial"/>
              </a:rPr>
              <a:t>&amp; </a:t>
            </a:r>
            <a:r>
              <a:rPr dirty="0" sz="2950" spc="-215">
                <a:solidFill>
                  <a:srgbClr val="000716"/>
                </a:solidFill>
                <a:latin typeface="Arial"/>
                <a:cs typeface="Arial"/>
              </a:rPr>
              <a:t>Edge</a:t>
            </a:r>
            <a:r>
              <a:rPr dirty="0" sz="2950" spc="20">
                <a:solidFill>
                  <a:srgbClr val="000716"/>
                </a:solidFill>
                <a:latin typeface="Arial"/>
                <a:cs typeface="Arial"/>
              </a:rPr>
              <a:t> </a:t>
            </a:r>
            <a:r>
              <a:rPr dirty="0" sz="2950" spc="-204">
                <a:solidFill>
                  <a:srgbClr val="0C0C0C"/>
                </a:solidFill>
                <a:latin typeface="Arial"/>
                <a:cs typeface="Arial"/>
              </a:rPr>
              <a:t>Cases</a:t>
            </a:r>
            <a:endParaRPr sz="295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2706984" y="4449233"/>
            <a:ext cx="2499360" cy="8318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3165"/>
              </a:lnSpc>
              <a:spcBef>
                <a:spcPts val="114"/>
              </a:spcBef>
              <a:tabLst>
                <a:tab pos="2113280" algn="l"/>
              </a:tabLst>
            </a:pPr>
            <a:r>
              <a:rPr dirty="0" sz="2900" spc="-10">
                <a:solidFill>
                  <a:srgbClr val="0F0F0F"/>
                </a:solidFill>
                <a:latin typeface="Calibri"/>
                <a:cs typeface="Calibri"/>
              </a:rPr>
              <a:t>Performance</a:t>
            </a:r>
            <a:r>
              <a:rPr dirty="0" sz="2900">
                <a:solidFill>
                  <a:srgbClr val="0F0F0F"/>
                </a:solidFill>
                <a:latin typeface="Calibri"/>
                <a:cs typeface="Calibri"/>
              </a:rPr>
              <a:t>	</a:t>
            </a:r>
            <a:r>
              <a:rPr dirty="0" sz="2900" spc="-585">
                <a:solidFill>
                  <a:srgbClr val="010E1D"/>
                </a:solidFill>
                <a:latin typeface="Calibri"/>
                <a:cs typeface="Calibri"/>
              </a:rPr>
              <a:t>&amp;</a:t>
            </a:r>
            <a:endParaRPr sz="2900">
              <a:latin typeface="Calibri"/>
              <a:cs typeface="Calibri"/>
            </a:endParaRPr>
          </a:p>
          <a:p>
            <a:pPr marL="13970">
              <a:lnSpc>
                <a:spcPts val="3165"/>
              </a:lnSpc>
            </a:pPr>
            <a:r>
              <a:rPr dirty="0" sz="2900" spc="-65">
                <a:solidFill>
                  <a:srgbClr val="0A0A0A"/>
                </a:solidFill>
                <a:latin typeface="Arial"/>
                <a:cs typeface="Arial"/>
              </a:rPr>
              <a:t>Security</a:t>
            </a:r>
            <a:r>
              <a:rPr dirty="0" sz="2900" spc="-6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900" spc="-105">
                <a:solidFill>
                  <a:srgbClr val="0C0C0C"/>
                </a:solidFill>
                <a:latin typeface="Arial"/>
                <a:cs typeface="Arial"/>
              </a:rPr>
              <a:t>Testing</a:t>
            </a:r>
            <a:endParaRPr sz="2900">
              <a:latin typeface="Arial"/>
              <a:cs typeface="Arial"/>
            </a:endParaRPr>
          </a:p>
        </p:txBody>
      </p:sp>
      <p:graphicFrame>
        <p:nvGraphicFramePr>
          <p:cNvPr id="23" name="object 23" descr=""/>
          <p:cNvGraphicFramePr>
            <a:graphicFrameLocks noGrp="1"/>
          </p:cNvGraphicFramePr>
          <p:nvPr/>
        </p:nvGraphicFramePr>
        <p:xfrm>
          <a:off x="1400182" y="8134085"/>
          <a:ext cx="10399395" cy="908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2665"/>
                <a:gridCol w="1111249"/>
                <a:gridCol w="768350"/>
                <a:gridCol w="1464944"/>
                <a:gridCol w="455929"/>
                <a:gridCol w="1330960"/>
                <a:gridCol w="765175"/>
                <a:gridCol w="1551940"/>
                <a:gridCol w="1874520"/>
              </a:tblGrid>
              <a:tr h="454025">
                <a:tc>
                  <a:txBody>
                    <a:bodyPr/>
                    <a:lstStyle/>
                    <a:p>
                      <a:pPr marL="31750">
                        <a:lnSpc>
                          <a:spcPts val="3229"/>
                        </a:lnSpc>
                      </a:pPr>
                      <a:r>
                        <a:rPr dirty="0" sz="3400" spc="175">
                          <a:solidFill>
                            <a:srgbClr val="E6590A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3229"/>
                        </a:lnSpc>
                      </a:pPr>
                      <a:r>
                        <a:rPr dirty="0" sz="3400" spc="55">
                          <a:solidFill>
                            <a:srgbClr val="CF5D1C"/>
                          </a:solidFill>
                          <a:latin typeface="Calibri"/>
                          <a:cs typeface="Calibri"/>
                        </a:rPr>
                        <a:t>Case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96520">
                        <a:lnSpc>
                          <a:spcPts val="3229"/>
                        </a:lnSpc>
                      </a:pPr>
                      <a:r>
                        <a:rPr dirty="0" sz="3400" spc="70">
                          <a:solidFill>
                            <a:srgbClr val="DA560A"/>
                          </a:solidFill>
                          <a:latin typeface="Calibri"/>
                          <a:cs typeface="Calibri"/>
                        </a:rPr>
                        <a:t>A: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7475">
                        <a:lnSpc>
                          <a:spcPts val="3229"/>
                        </a:lnSpc>
                      </a:pPr>
                      <a:r>
                        <a:rPr dirty="0" sz="3400" spc="220">
                          <a:latin typeface="Calibri"/>
                          <a:cs typeface="Calibri"/>
                        </a:rPr>
                        <a:t>Enter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3229"/>
                        </a:lnSpc>
                      </a:pPr>
                      <a:r>
                        <a:rPr dirty="0" sz="3400" spc="-50">
                          <a:latin typeface="Calibri"/>
                          <a:cs typeface="Calibri"/>
                        </a:rPr>
                        <a:t>7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9"/>
                        </a:lnSpc>
                      </a:pPr>
                      <a:r>
                        <a:rPr dirty="0" sz="3400" spc="235">
                          <a:latin typeface="Calibri"/>
                          <a:cs typeface="Calibri"/>
                        </a:rPr>
                        <a:t>chars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9"/>
                        </a:lnSpc>
                      </a:pPr>
                      <a:r>
                        <a:rPr dirty="0" sz="3400" spc="-440"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3400" spc="-50">
                          <a:latin typeface="Calibri"/>
                          <a:cs typeface="Calibri"/>
                        </a:rPr>
                        <a:t>&gt;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9"/>
                        </a:lnSpc>
                      </a:pPr>
                      <a:r>
                        <a:rPr dirty="0" sz="3400" spc="220">
                          <a:solidFill>
                            <a:srgbClr val="DF641D"/>
                          </a:solidFill>
                          <a:latin typeface="Calibri"/>
                          <a:cs typeface="Calibri"/>
                        </a:rPr>
                        <a:t>Exçect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3229"/>
                        </a:lnSpc>
                      </a:pPr>
                      <a:r>
                        <a:rPr dirty="0" sz="3400" spc="365">
                          <a:latin typeface="Calibri"/>
                          <a:cs typeface="Calibri"/>
                        </a:rPr>
                        <a:t>Error.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54025">
                <a:tc>
                  <a:txBody>
                    <a:bodyPr/>
                    <a:lstStyle/>
                    <a:p>
                      <a:pPr marL="31750">
                        <a:lnSpc>
                          <a:spcPts val="3404"/>
                        </a:lnSpc>
                      </a:pPr>
                      <a:r>
                        <a:rPr dirty="0" sz="3400" spc="175">
                          <a:solidFill>
                            <a:srgbClr val="DA7234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3404"/>
                        </a:lnSpc>
                      </a:pPr>
                      <a:r>
                        <a:rPr dirty="0" sz="3400" spc="55">
                          <a:solidFill>
                            <a:srgbClr val="D46223"/>
                          </a:solidFill>
                          <a:latin typeface="Calibri"/>
                          <a:cs typeface="Calibri"/>
                        </a:rPr>
                        <a:t>Case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52400">
                        <a:lnSpc>
                          <a:spcPts val="3404"/>
                        </a:lnSpc>
                      </a:pPr>
                      <a:r>
                        <a:rPr dirty="0" sz="3400" spc="25">
                          <a:solidFill>
                            <a:srgbClr val="D36623"/>
                          </a:solidFill>
                          <a:latin typeface="Calibri"/>
                          <a:cs typeface="Calibri"/>
                        </a:rPr>
                        <a:t>B: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7475">
                        <a:lnSpc>
                          <a:spcPts val="3404"/>
                        </a:lnSpc>
                      </a:pPr>
                      <a:r>
                        <a:rPr dirty="0" sz="3400" spc="220">
                          <a:latin typeface="Calibri"/>
                          <a:cs typeface="Calibri"/>
                        </a:rPr>
                        <a:t>Enter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3404"/>
                        </a:lnSpc>
                      </a:pPr>
                      <a:r>
                        <a:rPr dirty="0" sz="3400" spc="-50">
                          <a:latin typeface="Calibri"/>
                          <a:cs typeface="Calibri"/>
                        </a:rPr>
                        <a:t>8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04"/>
                        </a:lnSpc>
                      </a:pPr>
                      <a:r>
                        <a:rPr dirty="0" sz="3400" spc="235">
                          <a:latin typeface="Calibri"/>
                          <a:cs typeface="Calibri"/>
                        </a:rPr>
                        <a:t>chars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04"/>
                        </a:lnSpc>
                      </a:pPr>
                      <a:r>
                        <a:rPr dirty="0" sz="3400" spc="-440"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3400" spc="-50">
                          <a:latin typeface="Calibri"/>
                          <a:cs typeface="Calibri"/>
                        </a:rPr>
                        <a:t>&gt;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3404"/>
                        </a:lnSpc>
                      </a:pPr>
                      <a:r>
                        <a:rPr dirty="0" sz="3400" spc="165">
                          <a:solidFill>
                            <a:srgbClr val="DD6723"/>
                          </a:solidFill>
                          <a:latin typeface="Calibri"/>
                          <a:cs typeface="Calibri"/>
                        </a:rPr>
                        <a:t>Expect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ts val="3404"/>
                        </a:lnSpc>
                      </a:pPr>
                      <a:r>
                        <a:rPr dirty="0" sz="3400" spc="225">
                          <a:latin typeface="Calibri"/>
                          <a:cs typeface="Calibri"/>
                        </a:rPr>
                        <a:t>Success.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4" name="object 24" descr=""/>
          <p:cNvSpPr txBox="1"/>
          <p:nvPr/>
        </p:nvSpPr>
        <p:spPr>
          <a:xfrm>
            <a:off x="16105975" y="9413522"/>
            <a:ext cx="12306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220">
                <a:latin typeface="Arial"/>
                <a:cs typeface="Arial"/>
              </a:rPr>
              <a:t>G</a:t>
            </a:r>
            <a:r>
              <a:rPr dirty="0" sz="1500" spc="55">
                <a:latin typeface="Arial"/>
                <a:cs typeface="Arial"/>
              </a:rPr>
              <a:t> </a:t>
            </a:r>
            <a:r>
              <a:rPr dirty="0" sz="1500" spc="-90">
                <a:latin typeface="Arial"/>
                <a:cs typeface="Arial"/>
              </a:rPr>
              <a:t>NotebookLM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100" y="3606800"/>
            <a:ext cx="355600" cy="2933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8100" y="6642100"/>
            <a:ext cx="3009900" cy="4191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400" y="3213100"/>
            <a:ext cx="3035300" cy="33401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27600" y="2324100"/>
            <a:ext cx="6997700" cy="47371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12400" y="952500"/>
            <a:ext cx="431800" cy="520700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7327900" y="2514600"/>
            <a:ext cx="3060700" cy="1600200"/>
            <a:chOff x="7327900" y="2514600"/>
            <a:chExt cx="3060700" cy="1600200"/>
          </a:xfrm>
        </p:grpSpPr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13700" y="3556000"/>
              <a:ext cx="2374900" cy="5588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27900" y="2514600"/>
              <a:ext cx="3048000" cy="100330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27900" y="3568700"/>
              <a:ext cx="495300" cy="5461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23200" y="3238500"/>
              <a:ext cx="1981200" cy="78740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82324" y="710847"/>
            <a:ext cx="9142095" cy="15246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900">
                <a:solidFill>
                  <a:srgbClr val="0344A8"/>
                </a:solidFill>
              </a:rPr>
              <a:t>Specialized</a:t>
            </a:r>
            <a:r>
              <a:rPr dirty="0" sz="5900" spc="240">
                <a:solidFill>
                  <a:srgbClr val="0344A8"/>
                </a:solidFill>
              </a:rPr>
              <a:t> </a:t>
            </a:r>
            <a:r>
              <a:rPr dirty="0" sz="5900" spc="70">
                <a:solidFill>
                  <a:srgbClr val="0349B8"/>
                </a:solidFill>
              </a:rPr>
              <a:t>Contexts:</a:t>
            </a:r>
            <a:r>
              <a:rPr dirty="0" sz="5900" spc="-175">
                <a:solidFill>
                  <a:srgbClr val="0349B8"/>
                </a:solidFill>
              </a:rPr>
              <a:t> </a:t>
            </a:r>
            <a:r>
              <a:rPr dirty="0" sz="5900" spc="-290">
                <a:solidFill>
                  <a:srgbClr val="0348AF"/>
                </a:solidFill>
              </a:rPr>
              <a:t>BFSI</a:t>
            </a:r>
            <a:endParaRPr sz="5900"/>
          </a:p>
          <a:p>
            <a:pPr marL="27305">
              <a:lnSpc>
                <a:spcPct val="100000"/>
              </a:lnSpc>
              <a:spcBef>
                <a:spcPts val="220"/>
              </a:spcBef>
            </a:pPr>
            <a:r>
              <a:rPr dirty="0" sz="3750" spc="-105">
                <a:solidFill>
                  <a:srgbClr val="053893"/>
                </a:solidFill>
              </a:rPr>
              <a:t>When</a:t>
            </a:r>
            <a:r>
              <a:rPr dirty="0" sz="3750" spc="-150">
                <a:solidFill>
                  <a:srgbClr val="053893"/>
                </a:solidFill>
              </a:rPr>
              <a:t> </a:t>
            </a:r>
            <a:r>
              <a:rPr dirty="0" sz="3750" spc="-60">
                <a:solidFill>
                  <a:srgbClr val="1A3B72"/>
                </a:solidFill>
              </a:rPr>
              <a:t>'Good</a:t>
            </a:r>
            <a:r>
              <a:rPr dirty="0" sz="3750" spc="-145">
                <a:solidFill>
                  <a:srgbClr val="1A3B72"/>
                </a:solidFill>
              </a:rPr>
              <a:t> </a:t>
            </a:r>
            <a:r>
              <a:rPr dirty="0" sz="3750" spc="-105">
                <a:solidFill>
                  <a:srgbClr val="134290"/>
                </a:solidFill>
              </a:rPr>
              <a:t>Enough'</a:t>
            </a:r>
            <a:r>
              <a:rPr dirty="0" sz="3750" spc="-65">
                <a:solidFill>
                  <a:srgbClr val="134290"/>
                </a:solidFill>
              </a:rPr>
              <a:t> </a:t>
            </a:r>
            <a:r>
              <a:rPr dirty="0" sz="3750">
                <a:solidFill>
                  <a:srgbClr val="163F82"/>
                </a:solidFill>
              </a:rPr>
              <a:t>isn't</a:t>
            </a:r>
            <a:r>
              <a:rPr dirty="0" sz="3750" spc="-120">
                <a:solidFill>
                  <a:srgbClr val="163F82"/>
                </a:solidFill>
              </a:rPr>
              <a:t> </a:t>
            </a:r>
            <a:r>
              <a:rPr dirty="0" sz="3750" spc="-10">
                <a:solidFill>
                  <a:srgbClr val="0A3D91"/>
                </a:solidFill>
              </a:rPr>
              <a:t>enough.</a:t>
            </a:r>
            <a:endParaRPr sz="3750"/>
          </a:p>
        </p:txBody>
      </p:sp>
      <p:sp>
        <p:nvSpPr>
          <p:cNvPr id="13" name="object 13" descr=""/>
          <p:cNvSpPr txBox="1"/>
          <p:nvPr/>
        </p:nvSpPr>
        <p:spPr>
          <a:xfrm>
            <a:off x="10894803" y="710847"/>
            <a:ext cx="4144645" cy="9251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900" spc="-10">
                <a:solidFill>
                  <a:srgbClr val="0544AC"/>
                </a:solidFill>
                <a:latin typeface="Arial"/>
                <a:cs typeface="Arial"/>
              </a:rPr>
              <a:t>Government</a:t>
            </a:r>
            <a:endParaRPr sz="59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75216" y="7897283"/>
            <a:ext cx="11315700" cy="1193800"/>
          </a:xfrm>
          <a:prstGeom prst="rect">
            <a:avLst/>
          </a:prstGeom>
          <a:ln w="21166">
            <a:solidFill>
              <a:srgbClr val="134893"/>
            </a:solidFill>
          </a:ln>
        </p:spPr>
        <p:txBody>
          <a:bodyPr wrap="square" lIns="0" tIns="130175" rIns="0" bIns="0" rtlCol="0" vert="horz">
            <a:spAutoFit/>
          </a:bodyPr>
          <a:lstStyle/>
          <a:p>
            <a:pPr marL="290830" marR="664210" indent="-5715">
              <a:lnSpc>
                <a:spcPts val="3300"/>
              </a:lnSpc>
              <a:spcBef>
                <a:spcPts val="1025"/>
              </a:spcBef>
            </a:pPr>
            <a:r>
              <a:rPr dirty="0" sz="2950" spc="-100">
                <a:solidFill>
                  <a:srgbClr val="E68528"/>
                </a:solidFill>
                <a:latin typeface="Arial"/>
                <a:cs typeface="Arial"/>
              </a:rPr>
              <a:t>Real</a:t>
            </a:r>
            <a:r>
              <a:rPr dirty="0" sz="2950" spc="-145">
                <a:solidFill>
                  <a:srgbClr val="E68528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ED8928"/>
                </a:solidFill>
                <a:latin typeface="Arial"/>
                <a:cs typeface="Arial"/>
              </a:rPr>
              <a:t>World</a:t>
            </a:r>
            <a:r>
              <a:rPr dirty="0" sz="2950" spc="-220">
                <a:solidFill>
                  <a:srgbClr val="ED8928"/>
                </a:solidFill>
                <a:latin typeface="Arial"/>
                <a:cs typeface="Arial"/>
              </a:rPr>
              <a:t> </a:t>
            </a:r>
            <a:r>
              <a:rPr dirty="0" sz="2950" spc="-25">
                <a:solidFill>
                  <a:srgbClr val="EB821D"/>
                </a:solidFill>
                <a:latin typeface="Arial"/>
                <a:cs typeface="Arial"/>
              </a:rPr>
              <a:t>Example:</a:t>
            </a:r>
            <a:r>
              <a:rPr dirty="0" sz="2950" spc="-185">
                <a:solidFill>
                  <a:srgbClr val="EB821D"/>
                </a:solidFill>
                <a:latin typeface="Arial"/>
                <a:cs typeface="Arial"/>
              </a:rPr>
              <a:t> </a:t>
            </a:r>
            <a:r>
              <a:rPr dirty="0" sz="2950" spc="-40">
                <a:latin typeface="Arial"/>
                <a:cs typeface="Arial"/>
              </a:rPr>
              <a:t>Banking</a:t>
            </a:r>
            <a:r>
              <a:rPr dirty="0" sz="2950" spc="-165">
                <a:latin typeface="Arial"/>
                <a:cs typeface="Arial"/>
              </a:rPr>
              <a:t> </a:t>
            </a:r>
            <a:r>
              <a:rPr dirty="0" sz="2950" spc="-45">
                <a:latin typeface="Arial"/>
                <a:cs typeface="Arial"/>
              </a:rPr>
              <a:t>App</a:t>
            </a:r>
            <a:r>
              <a:rPr dirty="0" sz="2950" spc="-135">
                <a:latin typeface="Arial"/>
                <a:cs typeface="Arial"/>
              </a:rPr>
              <a:t> </a:t>
            </a:r>
            <a:r>
              <a:rPr dirty="0" sz="2950" spc="-20">
                <a:latin typeface="Arial"/>
                <a:cs typeface="Arial"/>
              </a:rPr>
              <a:t>requires </a:t>
            </a:r>
            <a:r>
              <a:rPr dirty="0" sz="2950">
                <a:latin typeface="Arial"/>
                <a:cs typeface="Arial"/>
              </a:rPr>
              <a:t>data</a:t>
            </a:r>
            <a:r>
              <a:rPr dirty="0" sz="2950" spc="-9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encryption</a:t>
            </a:r>
            <a:r>
              <a:rPr dirty="0" sz="2950" spc="120">
                <a:latin typeface="Arial"/>
                <a:cs typeface="Arial"/>
              </a:rPr>
              <a:t> </a:t>
            </a:r>
            <a:r>
              <a:rPr dirty="0" sz="2950" spc="-25">
                <a:latin typeface="Arial"/>
                <a:cs typeface="Arial"/>
              </a:rPr>
              <a:t>and </a:t>
            </a:r>
            <a:r>
              <a:rPr dirty="0" sz="2950">
                <a:latin typeface="Arial"/>
                <a:cs typeface="Arial"/>
              </a:rPr>
              <a:t>logged</a:t>
            </a:r>
            <a:r>
              <a:rPr dirty="0" sz="2950" spc="-12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role</a:t>
            </a:r>
            <a:r>
              <a:rPr dirty="0" sz="2950" spc="-204">
                <a:latin typeface="Arial"/>
                <a:cs typeface="Arial"/>
              </a:rPr>
              <a:t> </a:t>
            </a:r>
            <a:r>
              <a:rPr dirty="0" sz="2950" spc="-25">
                <a:latin typeface="Arial"/>
                <a:cs typeface="Arial"/>
              </a:rPr>
              <a:t>approval</a:t>
            </a:r>
            <a:r>
              <a:rPr dirty="0" sz="2950" spc="-1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workflows</a:t>
            </a:r>
            <a:r>
              <a:rPr dirty="0" sz="2950" spc="2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for</a:t>
            </a:r>
            <a:r>
              <a:rPr dirty="0" sz="2950" spc="-11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every</a:t>
            </a:r>
            <a:r>
              <a:rPr dirty="0" sz="2950" spc="-114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action.</a:t>
            </a:r>
            <a:endParaRPr sz="29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2401000" y="2720975"/>
            <a:ext cx="4187190" cy="4482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25"/>
              </a:spcBef>
            </a:pPr>
            <a:r>
              <a:rPr dirty="0" sz="3100" spc="-75">
                <a:solidFill>
                  <a:srgbClr val="0746A5"/>
                </a:solidFill>
                <a:latin typeface="Arial"/>
                <a:cs typeface="Arial"/>
              </a:rPr>
              <a:t>Key</a:t>
            </a:r>
            <a:r>
              <a:rPr dirty="0" sz="3100" spc="-150">
                <a:solidFill>
                  <a:srgbClr val="0746A5"/>
                </a:solidFill>
                <a:latin typeface="Arial"/>
                <a:cs typeface="Arial"/>
              </a:rPr>
              <a:t> </a:t>
            </a:r>
            <a:r>
              <a:rPr dirty="0" sz="3100" spc="55">
                <a:solidFill>
                  <a:srgbClr val="0E469C"/>
                </a:solidFill>
                <a:latin typeface="Arial"/>
                <a:cs typeface="Arial"/>
              </a:rPr>
              <a:t>Characteristics</a:t>
            </a:r>
            <a:endParaRPr sz="3100">
              <a:latin typeface="Arial"/>
              <a:cs typeface="Arial"/>
            </a:endParaRPr>
          </a:p>
          <a:p>
            <a:pPr algn="r" marR="5080">
              <a:lnSpc>
                <a:spcPts val="3150"/>
              </a:lnSpc>
              <a:spcBef>
                <a:spcPts val="2830"/>
              </a:spcBef>
            </a:pPr>
            <a:r>
              <a:rPr dirty="0" sz="2750">
                <a:solidFill>
                  <a:srgbClr val="1C4FA8"/>
                </a:solidFill>
                <a:latin typeface="Arial"/>
                <a:cs typeface="Arial"/>
              </a:rPr>
              <a:t>@</a:t>
            </a:r>
            <a:r>
              <a:rPr dirty="0" sz="2750" spc="60">
                <a:solidFill>
                  <a:srgbClr val="1C4FA8"/>
                </a:solidFill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Heavy</a:t>
            </a:r>
            <a:r>
              <a:rPr dirty="0" sz="2750" spc="-10">
                <a:latin typeface="Arial"/>
                <a:cs typeface="Arial"/>
              </a:rPr>
              <a:t> documentation</a:t>
            </a:r>
            <a:r>
              <a:rPr dirty="0" sz="2750" spc="130">
                <a:latin typeface="Arial"/>
                <a:cs typeface="Arial"/>
              </a:rPr>
              <a:t> </a:t>
            </a:r>
            <a:r>
              <a:rPr dirty="0" sz="2750" spc="-50">
                <a:latin typeface="Arial"/>
                <a:cs typeface="Arial"/>
              </a:rPr>
              <a:t>&amp;</a:t>
            </a:r>
            <a:endParaRPr sz="2750">
              <a:latin typeface="Arial"/>
              <a:cs typeface="Arial"/>
            </a:endParaRPr>
          </a:p>
          <a:p>
            <a:pPr algn="r" marR="81280">
              <a:lnSpc>
                <a:spcPts val="3390"/>
              </a:lnSpc>
            </a:pPr>
            <a:r>
              <a:rPr dirty="0" sz="2950" spc="-105">
                <a:latin typeface="Arial"/>
                <a:cs typeface="Arial"/>
              </a:rPr>
              <a:t>Audit</a:t>
            </a:r>
            <a:r>
              <a:rPr dirty="0" sz="2950" spc="-90">
                <a:latin typeface="Arial"/>
                <a:cs typeface="Arial"/>
              </a:rPr>
              <a:t> </a:t>
            </a:r>
            <a:r>
              <a:rPr dirty="0" sz="2950" spc="-40">
                <a:latin typeface="Arial"/>
                <a:cs typeface="Arial"/>
              </a:rPr>
              <a:t>trails</a:t>
            </a:r>
            <a:r>
              <a:rPr dirty="0" sz="2950" spc="-155">
                <a:latin typeface="Arial"/>
                <a:cs typeface="Arial"/>
              </a:rPr>
              <a:t> </a:t>
            </a:r>
            <a:r>
              <a:rPr dirty="0" sz="2950" spc="-50">
                <a:latin typeface="Arial"/>
                <a:cs typeface="Arial"/>
              </a:rPr>
              <a:t>(Mandatory)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ts val="3310"/>
              </a:lnSpc>
              <a:spcBef>
                <a:spcPts val="2860"/>
              </a:spcBef>
            </a:pPr>
            <a:r>
              <a:rPr dirty="0" sz="2850">
                <a:solidFill>
                  <a:srgbClr val="13429C"/>
                </a:solidFill>
                <a:latin typeface="Arial"/>
                <a:cs typeface="Arial"/>
              </a:rPr>
              <a:t>@</a:t>
            </a:r>
            <a:r>
              <a:rPr dirty="0" sz="2850" spc="90">
                <a:solidFill>
                  <a:srgbClr val="13429C"/>
                </a:solidFill>
                <a:latin typeface="Arial"/>
                <a:cs typeface="Arial"/>
              </a:rPr>
              <a:t> </a:t>
            </a:r>
            <a:r>
              <a:rPr dirty="0" sz="2850" spc="-85">
                <a:latin typeface="Arial"/>
                <a:cs typeface="Arial"/>
              </a:rPr>
              <a:t>Regulatory</a:t>
            </a:r>
            <a:r>
              <a:rPr dirty="0" sz="2850" spc="75">
                <a:latin typeface="Arial"/>
                <a:cs typeface="Arial"/>
              </a:rPr>
              <a:t> </a:t>
            </a:r>
            <a:r>
              <a:rPr dirty="0" sz="2850" spc="-10">
                <a:latin typeface="Arial"/>
                <a:cs typeface="Arial"/>
              </a:rPr>
              <a:t>Compliance</a:t>
            </a:r>
            <a:endParaRPr sz="2850">
              <a:latin typeface="Arial"/>
              <a:cs typeface="Arial"/>
            </a:endParaRPr>
          </a:p>
          <a:p>
            <a:pPr algn="ctr" marR="504825">
              <a:lnSpc>
                <a:spcPts val="3190"/>
              </a:lnSpc>
            </a:pPr>
            <a:r>
              <a:rPr dirty="0" sz="2750" spc="-165">
                <a:latin typeface="Arial"/>
                <a:cs typeface="Arial"/>
              </a:rPr>
              <a:t>(RBI,</a:t>
            </a:r>
            <a:r>
              <a:rPr dirty="0" sz="2750">
                <a:latin typeface="Arial"/>
                <a:cs typeface="Arial"/>
              </a:rPr>
              <a:t> </a:t>
            </a:r>
            <a:r>
              <a:rPr dirty="0" sz="2750" spc="-190">
                <a:latin typeface="Arial"/>
                <a:cs typeface="Arial"/>
              </a:rPr>
              <a:t>SEBI,</a:t>
            </a:r>
            <a:r>
              <a:rPr dirty="0" sz="2750" spc="-3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UIDAI)</a:t>
            </a:r>
            <a:endParaRPr sz="2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750">
              <a:latin typeface="Arial"/>
              <a:cs typeface="Arial"/>
            </a:endParaRPr>
          </a:p>
          <a:p>
            <a:pPr marL="520700" marR="711200" indent="-495934">
              <a:lnSpc>
                <a:spcPct val="89000"/>
              </a:lnSpc>
            </a:pPr>
            <a:r>
              <a:rPr dirty="0" sz="2850">
                <a:solidFill>
                  <a:srgbClr val="05388C"/>
                </a:solidFill>
                <a:latin typeface="Arial"/>
                <a:cs typeface="Arial"/>
              </a:rPr>
              <a:t>@</a:t>
            </a:r>
            <a:r>
              <a:rPr dirty="0" sz="2850" spc="25">
                <a:solidFill>
                  <a:srgbClr val="05388C"/>
                </a:solidFill>
                <a:latin typeface="Arial"/>
                <a:cs typeface="Arial"/>
              </a:rPr>
              <a:t> </a:t>
            </a:r>
            <a:r>
              <a:rPr dirty="0" sz="2850" spc="-135">
                <a:latin typeface="Arial"/>
                <a:cs typeface="Arial"/>
              </a:rPr>
              <a:t>Role-</a:t>
            </a:r>
            <a:r>
              <a:rPr dirty="0" sz="2850" spc="-70">
                <a:latin typeface="Arial"/>
                <a:cs typeface="Arial"/>
              </a:rPr>
              <a:t>Based</a:t>
            </a:r>
            <a:r>
              <a:rPr dirty="0" sz="2850" spc="110">
                <a:latin typeface="Arial"/>
                <a:cs typeface="Arial"/>
              </a:rPr>
              <a:t> </a:t>
            </a:r>
            <a:r>
              <a:rPr dirty="0" sz="2850" spc="-105">
                <a:latin typeface="Arial"/>
                <a:cs typeface="Arial"/>
              </a:rPr>
              <a:t>Access </a:t>
            </a:r>
            <a:r>
              <a:rPr dirty="0" sz="3050" spc="-160">
                <a:latin typeface="Arial"/>
                <a:cs typeface="Arial"/>
              </a:rPr>
              <a:t>Control</a:t>
            </a:r>
            <a:r>
              <a:rPr dirty="0" sz="3050" spc="-40">
                <a:latin typeface="Arial"/>
                <a:cs typeface="Arial"/>
              </a:rPr>
              <a:t> </a:t>
            </a:r>
            <a:r>
              <a:rPr dirty="0" sz="3050" spc="-375">
                <a:latin typeface="Arial"/>
                <a:cs typeface="Arial"/>
              </a:rPr>
              <a:t>(RBAC)</a:t>
            </a:r>
            <a:r>
              <a:rPr dirty="0" sz="3050" spc="210">
                <a:latin typeface="Arial"/>
                <a:cs typeface="Arial"/>
              </a:rPr>
              <a:t> </a:t>
            </a:r>
            <a:r>
              <a:rPr dirty="0" sz="3050" spc="-459">
                <a:latin typeface="Arial"/>
                <a:cs typeface="Arial"/>
              </a:rPr>
              <a:t>&amp; </a:t>
            </a:r>
            <a:r>
              <a:rPr dirty="0" sz="2850" spc="-105">
                <a:latin typeface="Arial"/>
                <a:cs typeface="Arial"/>
              </a:rPr>
              <a:t>Approval</a:t>
            </a:r>
            <a:r>
              <a:rPr dirty="0" sz="2850" spc="-55">
                <a:latin typeface="Arial"/>
                <a:cs typeface="Arial"/>
              </a:rPr>
              <a:t> </a:t>
            </a:r>
            <a:r>
              <a:rPr dirty="0" sz="2850" spc="-10">
                <a:latin typeface="Arial"/>
                <a:cs typeface="Arial"/>
              </a:rPr>
              <a:t>Matrices</a:t>
            </a:r>
            <a:endParaRPr sz="2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7923" y="645193"/>
            <a:ext cx="9044305" cy="1825625"/>
          </a:xfrm>
          <a:prstGeom prst="rect">
            <a:avLst/>
          </a:prstGeom>
        </p:spPr>
        <p:txBody>
          <a:bodyPr wrap="square" lIns="0" tIns="269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20"/>
              </a:spcBef>
            </a:pPr>
            <a:r>
              <a:rPr dirty="0" sz="5950" spc="-114">
                <a:solidFill>
                  <a:srgbClr val="0349C3"/>
                </a:solidFill>
                <a:latin typeface="Arial"/>
                <a:cs typeface="Arial"/>
              </a:rPr>
              <a:t>The</a:t>
            </a:r>
            <a:r>
              <a:rPr dirty="0" sz="5950" spc="-355">
                <a:solidFill>
                  <a:srgbClr val="0349C3"/>
                </a:solidFill>
                <a:latin typeface="Arial"/>
                <a:cs typeface="Arial"/>
              </a:rPr>
              <a:t> </a:t>
            </a:r>
            <a:r>
              <a:rPr dirty="0" sz="5950" spc="100">
                <a:solidFill>
                  <a:srgbClr val="0146BD"/>
                </a:solidFill>
                <a:latin typeface="Arial"/>
                <a:cs typeface="Arial"/>
              </a:rPr>
              <a:t>Interview</a:t>
            </a:r>
            <a:r>
              <a:rPr dirty="0" sz="5950" spc="-235">
                <a:solidFill>
                  <a:srgbClr val="0146BD"/>
                </a:solidFill>
                <a:latin typeface="Arial"/>
                <a:cs typeface="Arial"/>
              </a:rPr>
              <a:t> </a:t>
            </a:r>
            <a:r>
              <a:rPr dirty="0" sz="5950">
                <a:solidFill>
                  <a:srgbClr val="054BC1"/>
                </a:solidFill>
                <a:latin typeface="Arial"/>
                <a:cs typeface="Arial"/>
              </a:rPr>
              <a:t>Cheat</a:t>
            </a:r>
            <a:r>
              <a:rPr dirty="0" sz="5950" spc="-130">
                <a:solidFill>
                  <a:srgbClr val="054BC1"/>
                </a:solidFill>
                <a:latin typeface="Arial"/>
                <a:cs typeface="Arial"/>
              </a:rPr>
              <a:t> </a:t>
            </a:r>
            <a:r>
              <a:rPr dirty="0" sz="5950" spc="-10">
                <a:solidFill>
                  <a:srgbClr val="0146BC"/>
                </a:solidFill>
                <a:latin typeface="Arial"/>
                <a:cs typeface="Arial"/>
              </a:rPr>
              <a:t>Sheet</a:t>
            </a:r>
            <a:endParaRPr sz="595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1110"/>
              </a:spcBef>
            </a:pPr>
            <a:r>
              <a:rPr dirty="0" sz="3250">
                <a:latin typeface="Arial"/>
                <a:cs typeface="Arial"/>
              </a:rPr>
              <a:t>Ace</a:t>
            </a:r>
            <a:r>
              <a:rPr dirty="0" sz="3250" spc="-50">
                <a:latin typeface="Arial"/>
                <a:cs typeface="Arial"/>
              </a:rPr>
              <a:t> </a:t>
            </a:r>
            <a:r>
              <a:rPr dirty="0" sz="3250" spc="85">
                <a:latin typeface="Arial"/>
                <a:cs typeface="Arial"/>
              </a:rPr>
              <a:t>the</a:t>
            </a:r>
            <a:r>
              <a:rPr dirty="0" sz="3250" spc="50">
                <a:latin typeface="Arial"/>
                <a:cs typeface="Arial"/>
              </a:rPr>
              <a:t> </a:t>
            </a:r>
            <a:r>
              <a:rPr dirty="0" sz="3250">
                <a:latin typeface="Arial"/>
                <a:cs typeface="Arial"/>
              </a:rPr>
              <a:t>“Explain</a:t>
            </a:r>
            <a:r>
              <a:rPr dirty="0" sz="3250" spc="55">
                <a:latin typeface="Arial"/>
                <a:cs typeface="Arial"/>
              </a:rPr>
              <a:t> </a:t>
            </a:r>
            <a:r>
              <a:rPr dirty="0" sz="3250" spc="-254">
                <a:latin typeface="Arial"/>
                <a:cs typeface="Arial"/>
              </a:rPr>
              <a:t>BRD</a:t>
            </a:r>
            <a:r>
              <a:rPr dirty="0" sz="3250" spc="190">
                <a:latin typeface="Arial"/>
                <a:cs typeface="Arial"/>
              </a:rPr>
              <a:t> </a:t>
            </a:r>
            <a:r>
              <a:rPr dirty="0" sz="3250">
                <a:latin typeface="Arial"/>
                <a:cs typeface="Arial"/>
              </a:rPr>
              <a:t>vs.</a:t>
            </a:r>
            <a:r>
              <a:rPr dirty="0" sz="3250" spc="-15">
                <a:latin typeface="Arial"/>
                <a:cs typeface="Arial"/>
              </a:rPr>
              <a:t> </a:t>
            </a:r>
            <a:r>
              <a:rPr dirty="0" sz="3250" spc="-265">
                <a:latin typeface="Arial"/>
                <a:cs typeface="Arial"/>
              </a:rPr>
              <a:t>FRS</a:t>
            </a:r>
            <a:r>
              <a:rPr dirty="0" sz="3250" spc="120">
                <a:latin typeface="Arial"/>
                <a:cs typeface="Arial"/>
              </a:rPr>
              <a:t> </a:t>
            </a:r>
            <a:r>
              <a:rPr dirty="0" sz="3250">
                <a:latin typeface="Arial"/>
                <a:cs typeface="Arial"/>
              </a:rPr>
              <a:t>vs.</a:t>
            </a:r>
            <a:r>
              <a:rPr dirty="0" sz="3250" spc="5">
                <a:latin typeface="Arial"/>
                <a:cs typeface="Arial"/>
              </a:rPr>
              <a:t> </a:t>
            </a:r>
            <a:r>
              <a:rPr dirty="0" sz="3250" spc="-114">
                <a:latin typeface="Arial"/>
                <a:cs typeface="Arial"/>
              </a:rPr>
              <a:t>SRS”</a:t>
            </a:r>
            <a:r>
              <a:rPr dirty="0" sz="3250" spc="65">
                <a:latin typeface="Arial"/>
                <a:cs typeface="Arial"/>
              </a:rPr>
              <a:t> </a:t>
            </a:r>
            <a:r>
              <a:rPr dirty="0" sz="3250" spc="-10">
                <a:latin typeface="Arial"/>
                <a:cs typeface="Arial"/>
              </a:rPr>
              <a:t>question.</a:t>
            </a:r>
            <a:endParaRPr sz="32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43107" y="3241675"/>
            <a:ext cx="6766559" cy="1263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04565" algn="l"/>
              </a:tabLst>
            </a:pPr>
            <a:r>
              <a:rPr dirty="0" sz="8100" spc="-570">
                <a:latin typeface="Arial"/>
                <a:cs typeface="Arial"/>
              </a:rPr>
              <a:t>WHY</a:t>
            </a:r>
            <a:r>
              <a:rPr dirty="0" sz="8100" spc="-570">
                <a:solidFill>
                  <a:srgbClr val="FD6000"/>
                </a:solidFill>
                <a:latin typeface="Arial"/>
                <a:cs typeface="Arial"/>
              </a:rPr>
              <a:t>0</a:t>
            </a:r>
            <a:r>
              <a:rPr dirty="0" sz="8100">
                <a:solidFill>
                  <a:srgbClr val="FD6000"/>
                </a:solidFill>
                <a:latin typeface="Arial"/>
                <a:cs typeface="Arial"/>
              </a:rPr>
              <a:t>	</a:t>
            </a:r>
            <a:r>
              <a:rPr dirty="0" sz="8100" spc="-585">
                <a:latin typeface="Arial"/>
                <a:cs typeface="Arial"/>
              </a:rPr>
              <a:t>WHAT</a:t>
            </a:r>
            <a:r>
              <a:rPr dirty="0" sz="8100" spc="-585">
                <a:solidFill>
                  <a:srgbClr val="FB6000"/>
                </a:solidFill>
                <a:latin typeface="Arial"/>
                <a:cs typeface="Arial"/>
              </a:rPr>
              <a:t>0</a:t>
            </a:r>
            <a:endParaRPr sz="8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945182" y="3241675"/>
            <a:ext cx="8655050" cy="23526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754380">
              <a:lnSpc>
                <a:spcPts val="9235"/>
              </a:lnSpc>
              <a:spcBef>
                <a:spcPts val="125"/>
              </a:spcBef>
            </a:pPr>
            <a:r>
              <a:rPr dirty="0" sz="8100" spc="-725">
                <a:latin typeface="Arial"/>
                <a:cs typeface="Arial"/>
              </a:rPr>
              <a:t>WHAT</a:t>
            </a:r>
            <a:r>
              <a:rPr dirty="0" sz="8100" spc="30">
                <a:latin typeface="Arial"/>
                <a:cs typeface="Arial"/>
              </a:rPr>
              <a:t> </a:t>
            </a:r>
            <a:r>
              <a:rPr dirty="0" sz="8100" spc="-40">
                <a:latin typeface="Arial"/>
                <a:cs typeface="Arial"/>
              </a:rPr>
              <a:t>(Detail)</a:t>
            </a:r>
            <a:r>
              <a:rPr dirty="0" sz="8100" spc="-40">
                <a:solidFill>
                  <a:srgbClr val="FD6200"/>
                </a:solidFill>
                <a:latin typeface="Arial"/>
                <a:cs typeface="Arial"/>
              </a:rPr>
              <a:t>4</a:t>
            </a:r>
            <a:endParaRPr sz="8100">
              <a:latin typeface="Arial"/>
              <a:cs typeface="Arial"/>
            </a:endParaRPr>
          </a:p>
          <a:p>
            <a:pPr marL="12700">
              <a:lnSpc>
                <a:spcPts val="9055"/>
              </a:lnSpc>
            </a:pPr>
            <a:r>
              <a:rPr dirty="0" sz="7950" spc="-720">
                <a:latin typeface="Arial"/>
                <a:cs typeface="Arial"/>
              </a:rPr>
              <a:t>HOW</a:t>
            </a:r>
            <a:r>
              <a:rPr dirty="0" sz="7950" spc="-15">
                <a:latin typeface="Arial"/>
                <a:cs typeface="Arial"/>
              </a:rPr>
              <a:t> </a:t>
            </a:r>
            <a:r>
              <a:rPr dirty="0" sz="7950" spc="-10">
                <a:latin typeface="Arial"/>
                <a:cs typeface="Arial"/>
              </a:rPr>
              <a:t>(Architecture)</a:t>
            </a:r>
            <a:endParaRPr sz="79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12581" y="3689101"/>
            <a:ext cx="6104255" cy="2901950"/>
          </a:xfrm>
          <a:prstGeom prst="rect">
            <a:avLst/>
          </a:prstGeom>
        </p:spPr>
        <p:txBody>
          <a:bodyPr wrap="square" lIns="0" tIns="679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0"/>
              </a:spcBef>
            </a:pPr>
            <a:r>
              <a:rPr dirty="0" sz="7950" spc="-720">
                <a:latin typeface="Arial"/>
                <a:cs typeface="Arial"/>
              </a:rPr>
              <a:t>HOW</a:t>
            </a:r>
            <a:r>
              <a:rPr dirty="0" sz="7950" spc="-120">
                <a:latin typeface="Arial"/>
                <a:cs typeface="Arial"/>
              </a:rPr>
              <a:t> </a:t>
            </a:r>
            <a:r>
              <a:rPr dirty="0" sz="7950" spc="-195">
                <a:latin typeface="Arial"/>
                <a:cs typeface="Arial"/>
              </a:rPr>
              <a:t>(Rules)</a:t>
            </a:r>
            <a:r>
              <a:rPr dirty="0" sz="7950" spc="-195">
                <a:solidFill>
                  <a:srgbClr val="F96000"/>
                </a:solidFill>
                <a:latin typeface="Arial"/>
                <a:cs typeface="Arial"/>
              </a:rPr>
              <a:t>0</a:t>
            </a:r>
            <a:endParaRPr sz="79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2810"/>
              </a:spcBef>
            </a:pPr>
            <a:r>
              <a:rPr dirty="0" sz="4200" spc="-385">
                <a:solidFill>
                  <a:srgbClr val="013DB1"/>
                </a:solidFill>
                <a:latin typeface="Arial"/>
                <a:cs typeface="Arial"/>
              </a:rPr>
              <a:t>BRD:</a:t>
            </a:r>
            <a:r>
              <a:rPr dirty="0" sz="4200" spc="180">
                <a:solidFill>
                  <a:srgbClr val="013DB1"/>
                </a:solidFill>
                <a:latin typeface="Arial"/>
                <a:cs typeface="Arial"/>
              </a:rPr>
              <a:t> </a:t>
            </a:r>
            <a:r>
              <a:rPr dirty="0" sz="4200" spc="-180">
                <a:latin typeface="Arial"/>
                <a:cs typeface="Arial"/>
              </a:rPr>
              <a:t>Vision</a:t>
            </a:r>
            <a:r>
              <a:rPr dirty="0" sz="4200" spc="-35">
                <a:latin typeface="Arial"/>
                <a:cs typeface="Arial"/>
              </a:rPr>
              <a:t> </a:t>
            </a:r>
            <a:r>
              <a:rPr dirty="0" sz="4200" spc="-450">
                <a:latin typeface="Arial"/>
                <a:cs typeface="Arial"/>
              </a:rPr>
              <a:t>&amp;</a:t>
            </a:r>
            <a:r>
              <a:rPr dirty="0" sz="4200" spc="-185">
                <a:latin typeface="Arial"/>
                <a:cs typeface="Arial"/>
              </a:rPr>
              <a:t> </a:t>
            </a:r>
            <a:r>
              <a:rPr dirty="0" sz="4200" spc="-10">
                <a:latin typeface="Arial"/>
                <a:cs typeface="Arial"/>
              </a:rPr>
              <a:t>Need.</a:t>
            </a:r>
            <a:endParaRPr sz="42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23544" y="6469944"/>
            <a:ext cx="6951980" cy="23514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4930"/>
              </a:lnSpc>
              <a:spcBef>
                <a:spcPts val="105"/>
              </a:spcBef>
            </a:pPr>
            <a:r>
              <a:rPr dirty="0" sz="4300" spc="-430">
                <a:solidFill>
                  <a:srgbClr val="0841B3"/>
                </a:solidFill>
                <a:latin typeface="Arial"/>
                <a:cs typeface="Arial"/>
              </a:rPr>
              <a:t>FRD:</a:t>
            </a:r>
            <a:r>
              <a:rPr dirty="0" sz="4300" spc="204">
                <a:solidFill>
                  <a:srgbClr val="0841B3"/>
                </a:solidFill>
                <a:latin typeface="Arial"/>
                <a:cs typeface="Arial"/>
              </a:rPr>
              <a:t> </a:t>
            </a:r>
            <a:r>
              <a:rPr dirty="0" sz="4300" spc="-190">
                <a:latin typeface="Arial"/>
                <a:cs typeface="Arial"/>
              </a:rPr>
              <a:t>Functional</a:t>
            </a:r>
            <a:r>
              <a:rPr dirty="0" sz="4300" spc="135">
                <a:latin typeface="Arial"/>
                <a:cs typeface="Arial"/>
              </a:rPr>
              <a:t> </a:t>
            </a:r>
            <a:r>
              <a:rPr dirty="0" sz="4300" spc="-285">
                <a:latin typeface="Arial"/>
                <a:cs typeface="Arial"/>
              </a:rPr>
              <a:t>Scope.</a:t>
            </a:r>
            <a:endParaRPr sz="4300">
              <a:latin typeface="Arial"/>
              <a:cs typeface="Arial"/>
            </a:endParaRPr>
          </a:p>
          <a:p>
            <a:pPr marL="21590" marR="5080" indent="-6350">
              <a:lnSpc>
                <a:spcPts val="4400"/>
              </a:lnSpc>
              <a:spcBef>
                <a:spcPts val="250"/>
              </a:spcBef>
              <a:tabLst>
                <a:tab pos="1272540" algn="l"/>
              </a:tabLst>
            </a:pPr>
            <a:r>
              <a:rPr dirty="0" sz="4000" spc="-275">
                <a:solidFill>
                  <a:srgbClr val="053FB5"/>
                </a:solidFill>
                <a:latin typeface="Arial"/>
                <a:cs typeface="Arial"/>
              </a:rPr>
              <a:t>FRS:</a:t>
            </a:r>
            <a:r>
              <a:rPr dirty="0" sz="4000">
                <a:solidFill>
                  <a:srgbClr val="053FB5"/>
                </a:solidFill>
                <a:latin typeface="Arial"/>
                <a:cs typeface="Arial"/>
              </a:rPr>
              <a:t>	</a:t>
            </a:r>
            <a:r>
              <a:rPr dirty="0" sz="4000" spc="-50">
                <a:latin typeface="Arial"/>
                <a:cs typeface="Arial"/>
              </a:rPr>
              <a:t>Functional </a:t>
            </a:r>
            <a:r>
              <a:rPr dirty="0" sz="4000">
                <a:latin typeface="Arial"/>
                <a:cs typeface="Arial"/>
              </a:rPr>
              <a:t>Clarity</a:t>
            </a:r>
            <a:r>
              <a:rPr dirty="0" sz="4000" spc="-114">
                <a:latin typeface="Arial"/>
                <a:cs typeface="Arial"/>
              </a:rPr>
              <a:t> </a:t>
            </a:r>
            <a:r>
              <a:rPr dirty="0" sz="4000" spc="-15">
                <a:latin typeface="Arial"/>
                <a:cs typeface="Arial"/>
              </a:rPr>
              <a:t>(Logic). </a:t>
            </a:r>
            <a:r>
              <a:rPr dirty="0" sz="4000" spc="-285">
                <a:solidFill>
                  <a:srgbClr val="0744B6"/>
                </a:solidFill>
                <a:latin typeface="Arial"/>
                <a:cs typeface="Arial"/>
              </a:rPr>
              <a:t>SRS:</a:t>
            </a:r>
            <a:r>
              <a:rPr dirty="0" sz="4000" spc="290">
                <a:solidFill>
                  <a:srgbClr val="0744B6"/>
                </a:solidFill>
                <a:latin typeface="Arial"/>
                <a:cs typeface="Arial"/>
              </a:rPr>
              <a:t> </a:t>
            </a:r>
            <a:r>
              <a:rPr dirty="0" sz="4000" spc="-55">
                <a:latin typeface="Arial"/>
                <a:cs typeface="Arial"/>
              </a:rPr>
              <a:t>Technical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Rules.</a:t>
            </a:r>
            <a:endParaRPr sz="4000">
              <a:latin typeface="Arial"/>
              <a:cs typeface="Arial"/>
            </a:endParaRPr>
          </a:p>
          <a:p>
            <a:pPr marL="21590">
              <a:lnSpc>
                <a:spcPts val="4320"/>
              </a:lnSpc>
            </a:pPr>
            <a:r>
              <a:rPr dirty="0" sz="4000" spc="-120">
                <a:solidFill>
                  <a:srgbClr val="0849C1"/>
                </a:solidFill>
                <a:latin typeface="Arial"/>
                <a:cs typeface="Arial"/>
              </a:rPr>
              <a:t>SAD:</a:t>
            </a:r>
            <a:r>
              <a:rPr dirty="0" sz="4000" spc="-160">
                <a:solidFill>
                  <a:srgbClr val="0849C1"/>
                </a:solidFill>
                <a:latin typeface="Arial"/>
                <a:cs typeface="Arial"/>
              </a:rPr>
              <a:t> </a:t>
            </a:r>
            <a:r>
              <a:rPr dirty="0" sz="4000" spc="-60">
                <a:latin typeface="Arial"/>
                <a:cs typeface="Arial"/>
              </a:rPr>
              <a:t>System</a:t>
            </a:r>
            <a:r>
              <a:rPr dirty="0" sz="4000" spc="-16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Blueprint.</a:t>
            </a:r>
            <a:endParaRPr sz="4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105975" y="9413522"/>
            <a:ext cx="12306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Arial"/>
                <a:cs typeface="Arial"/>
              </a:rPr>
              <a:t>G</a:t>
            </a:r>
            <a:r>
              <a:rPr dirty="0" sz="1500" spc="270">
                <a:latin typeface="Arial"/>
                <a:cs typeface="Arial"/>
              </a:rPr>
              <a:t> </a:t>
            </a:r>
            <a:r>
              <a:rPr dirty="0" sz="1500" spc="-90">
                <a:latin typeface="Arial"/>
                <a:cs typeface="Arial"/>
              </a:rPr>
              <a:t>NotebookLM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62100" y="1866900"/>
            <a:ext cx="14351000" cy="6642100"/>
            <a:chOff x="1562100" y="1866900"/>
            <a:chExt cx="14351000" cy="66421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2100" y="1866900"/>
              <a:ext cx="14351000" cy="66421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06400" y="4991100"/>
              <a:ext cx="406400" cy="2413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8787" rIns="0" bIns="0" rtlCol="0" vert="horz">
            <a:spAutoFit/>
          </a:bodyPr>
          <a:lstStyle/>
          <a:p>
            <a:pPr marL="5344160">
              <a:lnSpc>
                <a:spcPct val="100000"/>
              </a:lnSpc>
              <a:spcBef>
                <a:spcPts val="105"/>
              </a:spcBef>
            </a:pPr>
            <a:r>
              <a:rPr dirty="0"/>
              <a:t>Clarity</a:t>
            </a:r>
            <a:r>
              <a:rPr dirty="0" spc="-170"/>
              <a:t> </a:t>
            </a:r>
            <a:r>
              <a:rPr dirty="0" spc="195">
                <a:solidFill>
                  <a:srgbClr val="073482"/>
                </a:solidFill>
              </a:rPr>
              <a:t>is</a:t>
            </a:r>
            <a:r>
              <a:rPr dirty="0" spc="-560">
                <a:solidFill>
                  <a:srgbClr val="073482"/>
                </a:solidFill>
              </a:rPr>
              <a:t> </a:t>
            </a:r>
            <a:r>
              <a:rPr dirty="0" spc="-20">
                <a:solidFill>
                  <a:srgbClr val="03317E"/>
                </a:solidFill>
              </a:rPr>
              <a:t>King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7258791" y="3126316"/>
            <a:ext cx="2910840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40">
                <a:solidFill>
                  <a:srgbClr val="052D70"/>
                </a:solidFill>
                <a:latin typeface="Arial"/>
                <a:cs typeface="Arial"/>
              </a:rPr>
              <a:t>Key</a:t>
            </a:r>
            <a:r>
              <a:rPr dirty="0" sz="3300" spc="-180">
                <a:solidFill>
                  <a:srgbClr val="052D70"/>
                </a:solidFill>
                <a:latin typeface="Arial"/>
                <a:cs typeface="Arial"/>
              </a:rPr>
              <a:t> </a:t>
            </a:r>
            <a:r>
              <a:rPr dirty="0" sz="3300" spc="-35">
                <a:solidFill>
                  <a:srgbClr val="0A235B"/>
                </a:solidFill>
                <a:latin typeface="Arial"/>
                <a:cs typeface="Arial"/>
              </a:rPr>
              <a:t>Takeaways</a:t>
            </a:r>
            <a:endParaRPr sz="33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378141" y="3126316"/>
            <a:ext cx="456565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185">
                <a:latin typeface="Arial"/>
                <a:cs typeface="Arial"/>
              </a:rPr>
              <a:t>°°°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412124" y="4035072"/>
            <a:ext cx="4696460" cy="3652520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algn="just" marL="338455" marR="5080" indent="-291465">
              <a:lnSpc>
                <a:spcPts val="2900"/>
              </a:lnSpc>
              <a:spcBef>
                <a:spcPts val="555"/>
              </a:spcBef>
              <a:buClr>
                <a:srgbClr val="C46733"/>
              </a:buClr>
              <a:buAutoNum type="arabicPeriod"/>
              <a:tabLst>
                <a:tab pos="353695" algn="l"/>
              </a:tabLst>
            </a:pPr>
            <a:r>
              <a:rPr dirty="0" sz="2750">
                <a:solidFill>
                  <a:srgbClr val="133F80"/>
                </a:solidFill>
                <a:latin typeface="Calibri"/>
                <a:cs typeface="Calibri"/>
              </a:rPr>
              <a:t>Bridge</a:t>
            </a:r>
            <a:r>
              <a:rPr dirty="0" sz="2750" spc="-70">
                <a:solidFill>
                  <a:srgbClr val="133F80"/>
                </a:solidFill>
                <a:latin typeface="Calibri"/>
                <a:cs typeface="Calibri"/>
              </a:rPr>
              <a:t> </a:t>
            </a:r>
            <a:r>
              <a:rPr dirty="0" sz="2750" spc="-20">
                <a:solidFill>
                  <a:srgbClr val="0A3B7E"/>
                </a:solidFill>
                <a:latin typeface="Calibri"/>
                <a:cs typeface="Calibri"/>
              </a:rPr>
              <a:t>the</a:t>
            </a:r>
            <a:r>
              <a:rPr dirty="0" sz="2750" spc="-114">
                <a:solidFill>
                  <a:srgbClr val="0A3B7E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113D7E"/>
                </a:solidFill>
                <a:latin typeface="Calibri"/>
                <a:cs typeface="Calibri"/>
              </a:rPr>
              <a:t>Gap:</a:t>
            </a:r>
            <a:r>
              <a:rPr dirty="0" sz="2750" spc="15">
                <a:solidFill>
                  <a:srgbClr val="113D7E"/>
                </a:solidFill>
                <a:latin typeface="Calibri"/>
                <a:cs typeface="Calibri"/>
              </a:rPr>
              <a:t> </a:t>
            </a:r>
            <a:r>
              <a:rPr dirty="0" sz="2750" spc="-90">
                <a:latin typeface="Calibri"/>
                <a:cs typeface="Calibri"/>
              </a:rPr>
              <a:t>Documentation </a:t>
            </a:r>
            <a:r>
              <a:rPr dirty="0" sz="2750" spc="-90">
                <a:latin typeface="Calibri"/>
                <a:cs typeface="Calibri"/>
              </a:rPr>
              <a:t>	</a:t>
            </a:r>
            <a:r>
              <a:rPr dirty="0" sz="2750">
                <a:latin typeface="Calibri"/>
                <a:cs typeface="Calibri"/>
              </a:rPr>
              <a:t>connects</a:t>
            </a:r>
            <a:r>
              <a:rPr dirty="0" sz="2750" spc="200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Business</a:t>
            </a:r>
            <a:r>
              <a:rPr dirty="0" sz="2750" spc="240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vision</a:t>
            </a:r>
            <a:r>
              <a:rPr dirty="0" sz="2750" spc="220">
                <a:latin typeface="Calibri"/>
                <a:cs typeface="Calibri"/>
              </a:rPr>
              <a:t> </a:t>
            </a:r>
            <a:r>
              <a:rPr dirty="0" sz="2750" spc="-20">
                <a:latin typeface="Calibri"/>
                <a:cs typeface="Calibri"/>
              </a:rPr>
              <a:t>with </a:t>
            </a:r>
            <a:r>
              <a:rPr dirty="0" sz="2750" spc="-20">
                <a:latin typeface="Calibri"/>
                <a:cs typeface="Calibri"/>
              </a:rPr>
              <a:t>	</a:t>
            </a:r>
            <a:r>
              <a:rPr dirty="0" sz="2750">
                <a:latin typeface="Calibri"/>
                <a:cs typeface="Calibri"/>
              </a:rPr>
              <a:t>Technical</a:t>
            </a:r>
            <a:r>
              <a:rPr dirty="0" sz="2750" spc="40">
                <a:latin typeface="Calibri"/>
                <a:cs typeface="Calibri"/>
              </a:rPr>
              <a:t> </a:t>
            </a:r>
            <a:r>
              <a:rPr dirty="0" sz="2750" spc="-10">
                <a:latin typeface="Calibri"/>
                <a:cs typeface="Calibri"/>
              </a:rPr>
              <a:t>execution.</a:t>
            </a:r>
            <a:endParaRPr sz="2750">
              <a:latin typeface="Calibri"/>
              <a:cs typeface="Calibri"/>
            </a:endParaRPr>
          </a:p>
          <a:p>
            <a:pPr marL="340360" marR="129539" indent="-324485">
              <a:lnSpc>
                <a:spcPts val="2900"/>
              </a:lnSpc>
              <a:spcBef>
                <a:spcPts val="1000"/>
              </a:spcBef>
              <a:buClr>
                <a:srgbClr val="D6753F"/>
              </a:buClr>
              <a:buAutoNum type="arabicPeriod"/>
              <a:tabLst>
                <a:tab pos="358775" algn="l"/>
              </a:tabLst>
            </a:pPr>
            <a:r>
              <a:rPr dirty="0" sz="2750" spc="-90">
                <a:solidFill>
                  <a:srgbClr val="18468C"/>
                </a:solidFill>
                <a:latin typeface="Arial"/>
                <a:cs typeface="Arial"/>
              </a:rPr>
              <a:t>Respect</a:t>
            </a:r>
            <a:r>
              <a:rPr dirty="0" sz="2750" spc="-105">
                <a:solidFill>
                  <a:srgbClr val="18468C"/>
                </a:solidFill>
                <a:latin typeface="Arial"/>
                <a:cs typeface="Arial"/>
              </a:rPr>
              <a:t> </a:t>
            </a:r>
            <a:r>
              <a:rPr dirty="0" sz="2750" spc="-25">
                <a:solidFill>
                  <a:srgbClr val="0A428C"/>
                </a:solidFill>
                <a:latin typeface="Arial"/>
                <a:cs typeface="Arial"/>
              </a:rPr>
              <a:t>the</a:t>
            </a:r>
            <a:r>
              <a:rPr dirty="0" sz="2750" spc="-204">
                <a:solidFill>
                  <a:srgbClr val="0A428C"/>
                </a:solidFill>
                <a:latin typeface="Arial"/>
                <a:cs typeface="Arial"/>
              </a:rPr>
              <a:t> </a:t>
            </a:r>
            <a:r>
              <a:rPr dirty="0" sz="2750" spc="-95">
                <a:solidFill>
                  <a:srgbClr val="0C4493"/>
                </a:solidFill>
                <a:latin typeface="Arial"/>
                <a:cs typeface="Arial"/>
              </a:rPr>
              <a:t>Layer: </a:t>
            </a:r>
            <a:r>
              <a:rPr dirty="0" sz="2750" spc="-45">
                <a:latin typeface="Arial"/>
                <a:cs typeface="Arial"/>
              </a:rPr>
              <a:t>Start</a:t>
            </a:r>
            <a:r>
              <a:rPr dirty="0" sz="2750" spc="-50">
                <a:latin typeface="Arial"/>
                <a:cs typeface="Arial"/>
              </a:rPr>
              <a:t> </a:t>
            </a:r>
            <a:r>
              <a:rPr dirty="0" sz="2750" spc="-35">
                <a:latin typeface="Arial"/>
                <a:cs typeface="Arial"/>
              </a:rPr>
              <a:t>with </a:t>
            </a:r>
            <a:r>
              <a:rPr dirty="0" sz="2750" spc="-35">
                <a:latin typeface="Arial"/>
                <a:cs typeface="Arial"/>
              </a:rPr>
              <a:t>	</a:t>
            </a:r>
            <a:r>
              <a:rPr dirty="0" sz="2700" spc="-20">
                <a:latin typeface="Arial"/>
                <a:cs typeface="Arial"/>
              </a:rPr>
              <a:t>the</a:t>
            </a:r>
            <a:r>
              <a:rPr dirty="0" sz="2700" spc="-170">
                <a:latin typeface="Arial"/>
                <a:cs typeface="Arial"/>
              </a:rPr>
              <a:t> </a:t>
            </a:r>
            <a:r>
              <a:rPr dirty="0" sz="2700" spc="-165">
                <a:latin typeface="Arial"/>
                <a:cs typeface="Arial"/>
              </a:rPr>
              <a:t>Why,</a:t>
            </a:r>
            <a:r>
              <a:rPr dirty="0" sz="2700" spc="-60">
                <a:latin typeface="Arial"/>
                <a:cs typeface="Arial"/>
              </a:rPr>
              <a:t> </a:t>
            </a:r>
            <a:r>
              <a:rPr dirty="0" sz="2700" spc="-45">
                <a:latin typeface="Arial"/>
                <a:cs typeface="Arial"/>
              </a:rPr>
              <a:t>define</a:t>
            </a:r>
            <a:r>
              <a:rPr dirty="0" sz="2700" spc="-120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the</a:t>
            </a:r>
            <a:r>
              <a:rPr dirty="0" sz="2700" spc="-125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What, </a:t>
            </a:r>
            <a:r>
              <a:rPr dirty="0" sz="2700" spc="-20">
                <a:latin typeface="Arial"/>
                <a:cs typeface="Arial"/>
              </a:rPr>
              <a:t>	</a:t>
            </a:r>
            <a:r>
              <a:rPr dirty="0" sz="2700" spc="-35">
                <a:latin typeface="Arial"/>
                <a:cs typeface="Arial"/>
              </a:rPr>
              <a:t>specify</a:t>
            </a:r>
            <a:r>
              <a:rPr dirty="0" sz="2700" spc="-100">
                <a:latin typeface="Arial"/>
                <a:cs typeface="Arial"/>
              </a:rPr>
              <a:t> </a:t>
            </a:r>
            <a:r>
              <a:rPr dirty="0" sz="2700" spc="-55">
                <a:latin typeface="Arial"/>
                <a:cs typeface="Arial"/>
              </a:rPr>
              <a:t>the</a:t>
            </a:r>
            <a:r>
              <a:rPr dirty="0" sz="2700" spc="-135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How.</a:t>
            </a:r>
            <a:endParaRPr sz="2700">
              <a:latin typeface="Arial"/>
              <a:cs typeface="Arial"/>
            </a:endParaRPr>
          </a:p>
          <a:p>
            <a:pPr algn="just" marL="358775" marR="142240" indent="-346710">
              <a:lnSpc>
                <a:spcPct val="93800"/>
              </a:lnSpc>
              <a:spcBef>
                <a:spcPts val="915"/>
              </a:spcBef>
              <a:buAutoNum type="arabicPeriod"/>
              <a:tabLst>
                <a:tab pos="358775" algn="l"/>
                <a:tab pos="368935" algn="l"/>
              </a:tabLst>
            </a:pPr>
            <a:r>
              <a:rPr dirty="0" sz="2600">
                <a:solidFill>
                  <a:srgbClr val="B85D2B"/>
                </a:solidFill>
                <a:latin typeface="Arial"/>
                <a:cs typeface="Arial"/>
              </a:rPr>
              <a:t>	</a:t>
            </a:r>
            <a:r>
              <a:rPr dirty="0" sz="2600">
                <a:solidFill>
                  <a:srgbClr val="0A48A1"/>
                </a:solidFill>
                <a:latin typeface="Arial"/>
                <a:cs typeface="Arial"/>
              </a:rPr>
              <a:t>Audience</a:t>
            </a:r>
            <a:r>
              <a:rPr dirty="0" sz="2600" spc="-114">
                <a:solidFill>
                  <a:srgbClr val="0A48A1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164890"/>
                </a:solidFill>
                <a:latin typeface="Arial"/>
                <a:cs typeface="Arial"/>
              </a:rPr>
              <a:t>First:</a:t>
            </a:r>
            <a:r>
              <a:rPr dirty="0" sz="2600" spc="-180">
                <a:solidFill>
                  <a:srgbClr val="164890"/>
                </a:solidFill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Write</a:t>
            </a:r>
            <a:r>
              <a:rPr dirty="0" sz="2600" spc="-2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for</a:t>
            </a:r>
            <a:r>
              <a:rPr dirty="0" sz="2600" spc="65">
                <a:latin typeface="Arial"/>
                <a:cs typeface="Arial"/>
              </a:rPr>
              <a:t> </a:t>
            </a:r>
            <a:r>
              <a:rPr dirty="0" sz="2600" spc="-25">
                <a:latin typeface="Arial"/>
                <a:cs typeface="Arial"/>
              </a:rPr>
              <a:t>the </a:t>
            </a:r>
            <a:r>
              <a:rPr dirty="0" sz="2600" spc="-80">
                <a:latin typeface="Arial"/>
                <a:cs typeface="Arial"/>
              </a:rPr>
              <a:t>reader—</a:t>
            </a:r>
            <a:r>
              <a:rPr dirty="0" sz="2600" spc="-90">
                <a:latin typeface="Arial"/>
                <a:cs typeface="Arial"/>
              </a:rPr>
              <a:t>Business</a:t>
            </a:r>
            <a:r>
              <a:rPr dirty="0" sz="2600" spc="-95">
                <a:latin typeface="Arial"/>
                <a:cs typeface="Arial"/>
              </a:rPr>
              <a:t> </a:t>
            </a:r>
            <a:r>
              <a:rPr dirty="0" sz="2600" spc="-35">
                <a:latin typeface="Arial"/>
                <a:cs typeface="Arial"/>
              </a:rPr>
              <a:t>users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need </a:t>
            </a:r>
            <a:r>
              <a:rPr dirty="0" sz="2600" spc="-50">
                <a:latin typeface="Arial"/>
                <a:cs typeface="Arial"/>
              </a:rPr>
              <a:t>goals;</a:t>
            </a:r>
            <a:r>
              <a:rPr dirty="0" sz="2600" spc="-135">
                <a:latin typeface="Arial"/>
                <a:cs typeface="Arial"/>
              </a:rPr>
              <a:t> </a:t>
            </a:r>
            <a:r>
              <a:rPr dirty="0" sz="2600" spc="-55">
                <a:latin typeface="Arial"/>
                <a:cs typeface="Arial"/>
              </a:rPr>
              <a:t>Developers </a:t>
            </a:r>
            <a:r>
              <a:rPr dirty="0" sz="2600" spc="-25">
                <a:latin typeface="Arial"/>
                <a:cs typeface="Arial"/>
              </a:rPr>
              <a:t>need</a:t>
            </a:r>
            <a:r>
              <a:rPr dirty="0" sz="2600" spc="-130">
                <a:latin typeface="Arial"/>
                <a:cs typeface="Arial"/>
              </a:rPr>
              <a:t> </a:t>
            </a:r>
            <a:r>
              <a:rPr dirty="0" sz="2600" spc="-50">
                <a:latin typeface="Arial"/>
                <a:cs typeface="Arial"/>
              </a:rPr>
              <a:t>rules.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20715" y="8774994"/>
            <a:ext cx="14160500" cy="681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300" spc="-10">
                <a:solidFill>
                  <a:srgbClr val="DD5B0C"/>
                </a:solidFill>
                <a:latin typeface="Arial"/>
                <a:cs typeface="Arial"/>
              </a:rPr>
              <a:t>Use</a:t>
            </a:r>
            <a:r>
              <a:rPr dirty="0" sz="4300" spc="-215">
                <a:solidFill>
                  <a:srgbClr val="DD5B0C"/>
                </a:solidFill>
                <a:latin typeface="Arial"/>
                <a:cs typeface="Arial"/>
              </a:rPr>
              <a:t> </a:t>
            </a:r>
            <a:r>
              <a:rPr dirty="0" sz="4300" spc="114">
                <a:solidFill>
                  <a:srgbClr val="E85D08"/>
                </a:solidFill>
                <a:latin typeface="Arial"/>
                <a:cs typeface="Arial"/>
              </a:rPr>
              <a:t>the</a:t>
            </a:r>
            <a:r>
              <a:rPr dirty="0" sz="4300" spc="-240">
                <a:solidFill>
                  <a:srgbClr val="E85D08"/>
                </a:solidFill>
                <a:latin typeface="Arial"/>
                <a:cs typeface="Arial"/>
              </a:rPr>
              <a:t> </a:t>
            </a:r>
            <a:r>
              <a:rPr dirty="0" sz="4300" spc="125">
                <a:solidFill>
                  <a:srgbClr val="E8600C"/>
                </a:solidFill>
                <a:latin typeface="Arial"/>
                <a:cs typeface="Arial"/>
              </a:rPr>
              <a:t>right</a:t>
            </a:r>
            <a:r>
              <a:rPr dirty="0" sz="4300" spc="-20">
                <a:solidFill>
                  <a:srgbClr val="E8600C"/>
                </a:solidFill>
                <a:latin typeface="Arial"/>
                <a:cs typeface="Arial"/>
              </a:rPr>
              <a:t> </a:t>
            </a:r>
            <a:r>
              <a:rPr dirty="0" sz="4300" spc="85">
                <a:solidFill>
                  <a:srgbClr val="E45B08"/>
                </a:solidFill>
                <a:latin typeface="Arial"/>
                <a:cs typeface="Arial"/>
              </a:rPr>
              <a:t>blueprint</a:t>
            </a:r>
            <a:r>
              <a:rPr dirty="0" sz="4300" spc="140">
                <a:solidFill>
                  <a:srgbClr val="E45B08"/>
                </a:solidFill>
                <a:latin typeface="Arial"/>
                <a:cs typeface="Arial"/>
              </a:rPr>
              <a:t> </a:t>
            </a:r>
            <a:r>
              <a:rPr dirty="0" sz="4300" spc="100">
                <a:solidFill>
                  <a:srgbClr val="E15E11"/>
                </a:solidFill>
                <a:latin typeface="Arial"/>
                <a:cs typeface="Arial"/>
              </a:rPr>
              <a:t>for</a:t>
            </a:r>
            <a:r>
              <a:rPr dirty="0" sz="4300" spc="-105">
                <a:solidFill>
                  <a:srgbClr val="E15E11"/>
                </a:solidFill>
                <a:latin typeface="Arial"/>
                <a:cs typeface="Arial"/>
              </a:rPr>
              <a:t> </a:t>
            </a:r>
            <a:r>
              <a:rPr dirty="0" sz="4300" spc="114">
                <a:solidFill>
                  <a:srgbClr val="E45B0E"/>
                </a:solidFill>
                <a:latin typeface="Arial"/>
                <a:cs typeface="Arial"/>
              </a:rPr>
              <a:t>the</a:t>
            </a:r>
            <a:r>
              <a:rPr dirty="0" sz="4300" spc="-240">
                <a:solidFill>
                  <a:srgbClr val="E45B0E"/>
                </a:solidFill>
                <a:latin typeface="Arial"/>
                <a:cs typeface="Arial"/>
              </a:rPr>
              <a:t> </a:t>
            </a:r>
            <a:r>
              <a:rPr dirty="0" sz="4300" spc="125">
                <a:solidFill>
                  <a:srgbClr val="E2590E"/>
                </a:solidFill>
                <a:latin typeface="Arial"/>
                <a:cs typeface="Arial"/>
              </a:rPr>
              <a:t>right</a:t>
            </a:r>
            <a:r>
              <a:rPr dirty="0" sz="4300" spc="25">
                <a:solidFill>
                  <a:srgbClr val="E2590E"/>
                </a:solidFill>
                <a:latin typeface="Arial"/>
                <a:cs typeface="Arial"/>
              </a:rPr>
              <a:t> </a:t>
            </a:r>
            <a:r>
              <a:rPr dirty="0" sz="4300" spc="55">
                <a:solidFill>
                  <a:srgbClr val="E15908"/>
                </a:solidFill>
                <a:latin typeface="Arial"/>
                <a:cs typeface="Arial"/>
              </a:rPr>
              <a:t>stage</a:t>
            </a:r>
            <a:r>
              <a:rPr dirty="0" sz="4300" spc="-150">
                <a:solidFill>
                  <a:srgbClr val="E15908"/>
                </a:solidFill>
                <a:latin typeface="Arial"/>
                <a:cs typeface="Arial"/>
              </a:rPr>
              <a:t> </a:t>
            </a:r>
            <a:r>
              <a:rPr dirty="0" sz="4300" spc="65">
                <a:solidFill>
                  <a:srgbClr val="E65E0E"/>
                </a:solidFill>
                <a:latin typeface="Arial"/>
                <a:cs typeface="Arial"/>
              </a:rPr>
              <a:t>of</a:t>
            </a:r>
            <a:r>
              <a:rPr dirty="0" sz="4300" spc="-50">
                <a:solidFill>
                  <a:srgbClr val="E65E0E"/>
                </a:solidFill>
                <a:latin typeface="Arial"/>
                <a:cs typeface="Arial"/>
              </a:rPr>
              <a:t> </a:t>
            </a:r>
            <a:r>
              <a:rPr dirty="0" sz="4300" spc="95">
                <a:solidFill>
                  <a:srgbClr val="DB590A"/>
                </a:solidFill>
                <a:latin typeface="Arial"/>
                <a:cs typeface="Arial"/>
              </a:rPr>
              <a:t>construction.</a:t>
            </a:r>
            <a:endParaRPr sz="4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2026-01-28T17:59:01Z</dcterms:created>
  <dcterms:modified xsi:type="dcterms:W3CDTF">2026-01-28T17:59:01Z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2026-01-28T00:00:00Z</vt:filetime>
  </property>
  <property fmtid="{D5CDD505-2E9C-101B-9397-08002B2CF9AE}" pid="3" name="LastSaved">
    <vt:filetime>2026-01-28T00:00:00Z</vt:filetime>
  </property>
  <property fmtid="{D5CDD505-2E9C-101B-9397-08002B2CF9AE}" pid="4" name="Producer">
    <vt:lpwstr>3-Heights(TM) PDF Security Shell 4.8.25.2 (http://www.pdf-tools.com)</vt:lpwstr>
  </property>
</Properties>
</file>