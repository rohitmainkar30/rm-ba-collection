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0" i="0">
                <a:solidFill>
                  <a:srgbClr val="03113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rgbClr val="03113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rgbClr val="03113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2286000"/>
            <a:ext cx="16306800" cy="641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600" y="8801100"/>
            <a:ext cx="317500" cy="2032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86200" y="8788400"/>
            <a:ext cx="25400" cy="215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rgbClr val="03113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432" y="430500"/>
            <a:ext cx="14679677" cy="1605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0" i="0">
                <a:solidFill>
                  <a:srgbClr val="03113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1033" y="2451100"/>
            <a:ext cx="15274290" cy="6259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jpg"/><Relationship Id="rId8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jpg"/><Relationship Id="rId8" Type="http://schemas.openxmlformats.org/officeDocument/2006/relationships/image" Target="../media/image2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3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jpg"/><Relationship Id="rId7" Type="http://schemas.openxmlformats.org/officeDocument/2006/relationships/image" Target="../media/image4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0970" rIns="0" bIns="0" rtlCol="0" vert="horz">
            <a:spAutoFit/>
          </a:bodyPr>
          <a:lstStyle/>
          <a:p>
            <a:pPr algn="ctr" marL="706755">
              <a:lnSpc>
                <a:spcPct val="100000"/>
              </a:lnSpc>
              <a:spcBef>
                <a:spcPts val="1110"/>
              </a:spcBef>
            </a:pPr>
            <a:r>
              <a:rPr dirty="0" sz="5450" spc="-200">
                <a:solidFill>
                  <a:srgbClr val="07315E"/>
                </a:solidFill>
              </a:rPr>
              <a:t>The</a:t>
            </a:r>
            <a:r>
              <a:rPr dirty="0" sz="5450" spc="-440">
                <a:solidFill>
                  <a:srgbClr val="07315E"/>
                </a:solidFill>
              </a:rPr>
              <a:t> </a:t>
            </a:r>
            <a:r>
              <a:rPr dirty="0" sz="5450" spc="-80">
                <a:solidFill>
                  <a:srgbClr val="052F5B"/>
                </a:solidFill>
              </a:rPr>
              <a:t>Blueprint:</a:t>
            </a:r>
            <a:r>
              <a:rPr dirty="0" sz="5450" spc="-335">
                <a:solidFill>
                  <a:srgbClr val="052F5B"/>
                </a:solidFill>
              </a:rPr>
              <a:t> </a:t>
            </a:r>
            <a:r>
              <a:rPr dirty="0" sz="5450" spc="-155">
                <a:solidFill>
                  <a:srgbClr val="052F5D"/>
                </a:solidFill>
              </a:rPr>
              <a:t>Decoding</a:t>
            </a:r>
            <a:r>
              <a:rPr dirty="0" sz="5450" spc="-185">
                <a:solidFill>
                  <a:srgbClr val="052F5D"/>
                </a:solidFill>
              </a:rPr>
              <a:t> </a:t>
            </a:r>
            <a:r>
              <a:rPr dirty="0" sz="5450" spc="-105">
                <a:solidFill>
                  <a:srgbClr val="052F5D"/>
                </a:solidFill>
              </a:rPr>
              <a:t>Project</a:t>
            </a:r>
            <a:r>
              <a:rPr dirty="0" sz="5450" spc="-235">
                <a:solidFill>
                  <a:srgbClr val="052F5D"/>
                </a:solidFill>
              </a:rPr>
              <a:t> </a:t>
            </a:r>
            <a:r>
              <a:rPr dirty="0" sz="5450" spc="-40">
                <a:solidFill>
                  <a:srgbClr val="032D59"/>
                </a:solidFill>
              </a:rPr>
              <a:t>Documentation</a:t>
            </a:r>
            <a:endParaRPr sz="5450"/>
          </a:p>
          <a:p>
            <a:pPr algn="ctr" marL="738505">
              <a:lnSpc>
                <a:spcPct val="100000"/>
              </a:lnSpc>
              <a:spcBef>
                <a:spcPts val="509"/>
              </a:spcBef>
            </a:pPr>
            <a:r>
              <a:rPr dirty="0" sz="2850" spc="-270">
                <a:solidFill>
                  <a:srgbClr val="112646"/>
                </a:solidFill>
              </a:rPr>
              <a:t>A</a:t>
            </a:r>
            <a:r>
              <a:rPr dirty="0" sz="2850" spc="-85">
                <a:solidFill>
                  <a:srgbClr val="112646"/>
                </a:solidFill>
              </a:rPr>
              <a:t> </a:t>
            </a:r>
            <a:r>
              <a:rPr dirty="0" sz="2850" spc="-75">
                <a:solidFill>
                  <a:srgbClr val="051A34"/>
                </a:solidFill>
              </a:rPr>
              <a:t>visual</a:t>
            </a:r>
            <a:r>
              <a:rPr dirty="0" sz="2850" spc="-125">
                <a:solidFill>
                  <a:srgbClr val="051A34"/>
                </a:solidFill>
              </a:rPr>
              <a:t> </a:t>
            </a:r>
            <a:r>
              <a:rPr dirty="0" sz="2850" spc="-60">
                <a:solidFill>
                  <a:srgbClr val="15263B"/>
                </a:solidFill>
              </a:rPr>
              <a:t>guide</a:t>
            </a:r>
            <a:r>
              <a:rPr dirty="0" sz="2850" spc="-110">
                <a:solidFill>
                  <a:srgbClr val="15263B"/>
                </a:solidFill>
              </a:rPr>
              <a:t> </a:t>
            </a:r>
            <a:r>
              <a:rPr dirty="0" sz="2850" spc="55">
                <a:solidFill>
                  <a:srgbClr val="16263D"/>
                </a:solidFill>
              </a:rPr>
              <a:t>to</a:t>
            </a:r>
            <a:r>
              <a:rPr dirty="0" sz="2850" spc="-180">
                <a:solidFill>
                  <a:srgbClr val="16263D"/>
                </a:solidFill>
              </a:rPr>
              <a:t> </a:t>
            </a:r>
            <a:r>
              <a:rPr dirty="0" sz="2850" spc="-280">
                <a:solidFill>
                  <a:srgbClr val="051C36"/>
                </a:solidFill>
              </a:rPr>
              <a:t>BRD,</a:t>
            </a:r>
            <a:r>
              <a:rPr dirty="0" sz="2850" spc="-95">
                <a:solidFill>
                  <a:srgbClr val="051C36"/>
                </a:solidFill>
              </a:rPr>
              <a:t> </a:t>
            </a:r>
            <a:r>
              <a:rPr dirty="0" sz="2850" spc="-290">
                <a:solidFill>
                  <a:srgbClr val="08162D"/>
                </a:solidFill>
              </a:rPr>
              <a:t>FRD,</a:t>
            </a:r>
            <a:r>
              <a:rPr dirty="0" sz="2850" spc="30">
                <a:solidFill>
                  <a:srgbClr val="08162D"/>
                </a:solidFill>
              </a:rPr>
              <a:t> </a:t>
            </a:r>
            <a:r>
              <a:rPr dirty="0" sz="2850" spc="-300">
                <a:solidFill>
                  <a:srgbClr val="07182B"/>
                </a:solidFill>
              </a:rPr>
              <a:t>FRS,</a:t>
            </a:r>
            <a:r>
              <a:rPr dirty="0" sz="2850" spc="35">
                <a:solidFill>
                  <a:srgbClr val="07182B"/>
                </a:solidFill>
              </a:rPr>
              <a:t> </a:t>
            </a:r>
            <a:r>
              <a:rPr dirty="0" sz="2850" spc="-290">
                <a:solidFill>
                  <a:srgbClr val="0C1F3B"/>
                </a:solidFill>
              </a:rPr>
              <a:t>SRS,</a:t>
            </a:r>
            <a:r>
              <a:rPr dirty="0" sz="2850" spc="55">
                <a:solidFill>
                  <a:srgbClr val="0C1F3B"/>
                </a:solidFill>
              </a:rPr>
              <a:t> </a:t>
            </a:r>
            <a:r>
              <a:rPr dirty="0" sz="2850" spc="-120">
                <a:solidFill>
                  <a:srgbClr val="081C34"/>
                </a:solidFill>
              </a:rPr>
              <a:t>and</a:t>
            </a:r>
            <a:r>
              <a:rPr dirty="0" sz="2850" spc="-50">
                <a:solidFill>
                  <a:srgbClr val="081C34"/>
                </a:solidFill>
              </a:rPr>
              <a:t> </a:t>
            </a:r>
            <a:r>
              <a:rPr dirty="0" sz="2850" spc="-260">
                <a:solidFill>
                  <a:srgbClr val="071A33"/>
                </a:solidFill>
              </a:rPr>
              <a:t>SAD</a:t>
            </a:r>
            <a:r>
              <a:rPr dirty="0" sz="2850" spc="55">
                <a:solidFill>
                  <a:srgbClr val="071A33"/>
                </a:solidFill>
              </a:rPr>
              <a:t> </a:t>
            </a:r>
            <a:r>
              <a:rPr dirty="0" sz="2850">
                <a:solidFill>
                  <a:srgbClr val="08152A"/>
                </a:solidFill>
              </a:rPr>
              <a:t>for</a:t>
            </a:r>
            <a:r>
              <a:rPr dirty="0" sz="2850" spc="-35">
                <a:solidFill>
                  <a:srgbClr val="08152A"/>
                </a:solidFill>
              </a:rPr>
              <a:t> </a:t>
            </a:r>
            <a:r>
              <a:rPr dirty="0" sz="2850" spc="-10">
                <a:solidFill>
                  <a:srgbClr val="131313"/>
                </a:solidFill>
              </a:rPr>
              <a:t>Stakeholders.</a:t>
            </a:r>
            <a:endParaRPr sz="2850"/>
          </a:p>
        </p:txBody>
      </p:sp>
      <p:sp>
        <p:nvSpPr>
          <p:cNvPr id="3" name="object 3" descr=""/>
          <p:cNvSpPr txBox="1"/>
          <p:nvPr/>
        </p:nvSpPr>
        <p:spPr>
          <a:xfrm>
            <a:off x="6432789" y="9098844"/>
            <a:ext cx="458660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62835" algn="l"/>
                <a:tab pos="3221990" algn="l"/>
              </a:tabLst>
            </a:pPr>
            <a:r>
              <a:rPr dirty="0" sz="1800" spc="-300">
                <a:solidFill>
                  <a:srgbClr val="13283F"/>
                </a:solidFill>
                <a:latin typeface="Arial MT"/>
                <a:cs typeface="Arial MT"/>
              </a:rPr>
              <a:t>FRON</a:t>
            </a:r>
            <a:r>
              <a:rPr dirty="0" sz="1800" spc="325">
                <a:solidFill>
                  <a:srgbClr val="13283F"/>
                </a:solidFill>
                <a:latin typeface="Arial MT"/>
                <a:cs typeface="Arial MT"/>
              </a:rPr>
              <a:t> </a:t>
            </a:r>
            <a:r>
              <a:rPr dirty="0" sz="1800" spc="-130">
                <a:solidFill>
                  <a:srgbClr val="0F2A46"/>
                </a:solidFill>
                <a:latin typeface="Arial MT"/>
                <a:cs typeface="Arial MT"/>
              </a:rPr>
              <a:t>TNE</a:t>
            </a:r>
            <a:r>
              <a:rPr dirty="0" sz="1800" spc="229">
                <a:solidFill>
                  <a:srgbClr val="0F2A46"/>
                </a:solidFill>
                <a:latin typeface="Arial MT"/>
                <a:cs typeface="Arial MT"/>
              </a:rPr>
              <a:t> </a:t>
            </a:r>
            <a:r>
              <a:rPr dirty="0" sz="1800" spc="-290">
                <a:solidFill>
                  <a:srgbClr val="1D334D"/>
                </a:solidFill>
                <a:latin typeface="Arial MT"/>
                <a:cs typeface="Arial MT"/>
              </a:rPr>
              <a:t>BOAROROtIB</a:t>
            </a:r>
            <a:r>
              <a:rPr dirty="0" sz="1800">
                <a:solidFill>
                  <a:srgbClr val="1D334D"/>
                </a:solidFill>
                <a:latin typeface="Arial MT"/>
                <a:cs typeface="Arial MT"/>
              </a:rPr>
              <a:t>	</a:t>
            </a:r>
            <a:r>
              <a:rPr dirty="0" sz="1800" spc="-280">
                <a:solidFill>
                  <a:srgbClr val="081A2B"/>
                </a:solidFill>
                <a:latin typeface="Arial MT"/>
                <a:cs typeface="Arial MT"/>
              </a:rPr>
              <a:t>TO</a:t>
            </a:r>
            <a:r>
              <a:rPr dirty="0" sz="1800" spc="440">
                <a:solidFill>
                  <a:srgbClr val="081A2B"/>
                </a:solidFill>
                <a:latin typeface="Arial MT"/>
                <a:cs typeface="Arial MT"/>
              </a:rPr>
              <a:t> </a:t>
            </a:r>
            <a:r>
              <a:rPr dirty="0" sz="1800" spc="-285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dirty="0" sz="1800">
                <a:solidFill>
                  <a:srgbClr val="1F1F1F"/>
                </a:solidFill>
                <a:latin typeface="Arial MT"/>
                <a:cs typeface="Arial MT"/>
              </a:rPr>
              <a:t>	</a:t>
            </a:r>
            <a:r>
              <a:rPr dirty="0" sz="1800" spc="-270">
                <a:solidFill>
                  <a:srgbClr val="0A2138"/>
                </a:solidFill>
                <a:latin typeface="Arial MT"/>
                <a:cs typeface="Arial MT"/>
              </a:rPr>
              <a:t>8ERVER</a:t>
            </a:r>
            <a:r>
              <a:rPr dirty="0" sz="1800">
                <a:solidFill>
                  <a:srgbClr val="0A2138"/>
                </a:solidFill>
                <a:latin typeface="Arial MT"/>
                <a:cs typeface="Arial MT"/>
              </a:rPr>
              <a:t>  </a:t>
            </a:r>
            <a:r>
              <a:rPr dirty="0" sz="1800" spc="-380">
                <a:solidFill>
                  <a:srgbClr val="B5CFED"/>
                </a:solidFill>
                <a:latin typeface="Arial MT"/>
                <a:cs typeface="Arial MT"/>
              </a:rPr>
              <a:t>ROON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139700"/>
            <a:ext cx="16992600" cy="9271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200" y="9486900"/>
            <a:ext cx="12700" cy="139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026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145">
                <a:solidFill>
                  <a:srgbClr val="081F4B"/>
                </a:solidFill>
                <a:latin typeface="Calibri"/>
                <a:cs typeface="Calibri"/>
              </a:rPr>
              <a:t>From</a:t>
            </a:r>
            <a:r>
              <a:rPr dirty="0" sz="4700" spc="-15">
                <a:solidFill>
                  <a:srgbClr val="081F4B"/>
                </a:solidFill>
                <a:latin typeface="Calibri"/>
                <a:cs typeface="Calibri"/>
              </a:rPr>
              <a:t> </a:t>
            </a:r>
            <a:r>
              <a:rPr dirty="0" sz="4700" spc="215">
                <a:solidFill>
                  <a:srgbClr val="051A48"/>
                </a:solidFill>
                <a:latin typeface="Calibri"/>
                <a:cs typeface="Calibri"/>
              </a:rPr>
              <a:t>Abstract</a:t>
            </a:r>
            <a:r>
              <a:rPr dirty="0" sz="4700" spc="280">
                <a:solidFill>
                  <a:srgbClr val="051A48"/>
                </a:solidFill>
                <a:latin typeface="Calibri"/>
                <a:cs typeface="Calibri"/>
              </a:rPr>
              <a:t> </a:t>
            </a:r>
            <a:r>
              <a:rPr dirty="0" sz="4700" spc="225">
                <a:solidFill>
                  <a:srgbClr val="051C46"/>
                </a:solidFill>
                <a:latin typeface="Calibri"/>
                <a:cs typeface="Calibri"/>
              </a:rPr>
              <a:t>Vision</a:t>
            </a:r>
            <a:r>
              <a:rPr dirty="0" sz="4700" spc="-5">
                <a:solidFill>
                  <a:srgbClr val="051C46"/>
                </a:solidFill>
                <a:latin typeface="Calibri"/>
                <a:cs typeface="Calibri"/>
              </a:rPr>
              <a:t> </a:t>
            </a:r>
            <a:r>
              <a:rPr dirty="0" sz="4700" spc="75">
                <a:solidFill>
                  <a:srgbClr val="031A42"/>
                </a:solidFill>
                <a:latin typeface="Calibri"/>
                <a:cs typeface="Calibri"/>
              </a:rPr>
              <a:t>to</a:t>
            </a:r>
            <a:r>
              <a:rPr dirty="0" sz="4700" spc="-50">
                <a:solidFill>
                  <a:srgbClr val="031A42"/>
                </a:solidFill>
                <a:latin typeface="Calibri"/>
                <a:cs typeface="Calibri"/>
              </a:rPr>
              <a:t> </a:t>
            </a:r>
            <a:r>
              <a:rPr dirty="0" sz="4700" spc="195">
                <a:solidFill>
                  <a:srgbClr val="031A46"/>
                </a:solidFill>
                <a:latin typeface="Calibri"/>
                <a:cs typeface="Calibri"/>
              </a:rPr>
              <a:t>Technical</a:t>
            </a:r>
            <a:r>
              <a:rPr dirty="0" sz="4700" spc="65">
                <a:solidFill>
                  <a:srgbClr val="031A46"/>
                </a:solidFill>
                <a:latin typeface="Calibri"/>
                <a:cs typeface="Calibri"/>
              </a:rPr>
              <a:t> </a:t>
            </a:r>
            <a:r>
              <a:rPr dirty="0" sz="4700" spc="150">
                <a:solidFill>
                  <a:srgbClr val="031A42"/>
                </a:solidFill>
                <a:latin typeface="Calibri"/>
                <a:cs typeface="Calibri"/>
              </a:rPr>
              <a:t>Reality</a:t>
            </a:r>
            <a:endParaRPr sz="4700">
              <a:latin typeface="Calibri"/>
              <a:cs typeface="Calibri"/>
            </a:endParaRPr>
          </a:p>
          <a:p>
            <a:pPr marL="34290">
              <a:lnSpc>
                <a:spcPct val="100000"/>
              </a:lnSpc>
              <a:spcBef>
                <a:spcPts val="60"/>
              </a:spcBef>
            </a:pPr>
            <a:r>
              <a:rPr dirty="0" sz="3400" spc="80">
                <a:solidFill>
                  <a:srgbClr val="03112B"/>
                </a:solidFill>
                <a:latin typeface="Calibri"/>
                <a:cs typeface="Calibri"/>
              </a:rPr>
              <a:t>The</a:t>
            </a:r>
            <a:r>
              <a:rPr dirty="0" sz="3400" spc="310">
                <a:solidFill>
                  <a:srgbClr val="03112B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0E1D36"/>
                </a:solidFill>
                <a:latin typeface="Calibri"/>
                <a:cs typeface="Calibri"/>
              </a:rPr>
              <a:t>Clarity</a:t>
            </a:r>
            <a:r>
              <a:rPr dirty="0" sz="3400" spc="475">
                <a:solidFill>
                  <a:srgbClr val="0E1D36"/>
                </a:solidFill>
                <a:latin typeface="Calibri"/>
                <a:cs typeface="Calibri"/>
              </a:rPr>
              <a:t> </a:t>
            </a:r>
            <a:r>
              <a:rPr dirty="0" sz="3400" spc="50">
                <a:solidFill>
                  <a:srgbClr val="131313"/>
                </a:solidFill>
                <a:latin typeface="Calibri"/>
                <a:cs typeface="Calibri"/>
              </a:rPr>
              <a:t>Spectrum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 spc="190">
                <a:latin typeface="Calibri"/>
                <a:cs typeface="Calibri"/>
              </a:rPr>
              <a:t>G</a:t>
            </a:r>
            <a:r>
              <a:rPr dirty="0" sz="1500" spc="34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28739" y="2620433"/>
            <a:ext cx="194310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335">
                <a:solidFill>
                  <a:srgbClr val="01163B"/>
                </a:solidFill>
                <a:latin typeface="Calibri"/>
                <a:cs typeface="Calibri"/>
              </a:rPr>
              <a:t>ABSTRACT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88015" y="6707021"/>
            <a:ext cx="2007235" cy="117030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835"/>
              </a:spcBef>
            </a:pPr>
            <a:r>
              <a:rPr dirty="0" sz="4200" spc="390">
                <a:solidFill>
                  <a:srgbClr val="FB5403"/>
                </a:solidFill>
                <a:latin typeface="Calibri"/>
                <a:cs typeface="Calibri"/>
              </a:rPr>
              <a:t>Why?</a:t>
            </a:r>
            <a:endParaRPr sz="4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dirty="0" sz="2350" spc="95">
                <a:solidFill>
                  <a:srgbClr val="030303"/>
                </a:solidFill>
                <a:latin typeface="Calibri"/>
                <a:cs typeface="Calibri"/>
              </a:rPr>
              <a:t>Business</a:t>
            </a:r>
            <a:r>
              <a:rPr dirty="0" sz="2350" spc="204">
                <a:solidFill>
                  <a:srgbClr val="030303"/>
                </a:solidFill>
                <a:latin typeface="Calibri"/>
                <a:cs typeface="Calibri"/>
              </a:rPr>
              <a:t> </a:t>
            </a:r>
            <a:r>
              <a:rPr dirty="0" sz="2350" spc="80">
                <a:solidFill>
                  <a:srgbClr val="0A0A0A"/>
                </a:solidFill>
                <a:latin typeface="Calibri"/>
                <a:cs typeface="Calibri"/>
              </a:rPr>
              <a:t>Goals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68242" y="6784975"/>
            <a:ext cx="2315210" cy="14128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25"/>
              </a:spcBef>
            </a:pPr>
            <a:r>
              <a:rPr dirty="0" sz="4350" spc="85">
                <a:solidFill>
                  <a:srgbClr val="058C85"/>
                </a:solidFill>
                <a:latin typeface="Arial MT"/>
                <a:cs typeface="Arial MT"/>
              </a:rPr>
              <a:t>What?</a:t>
            </a:r>
            <a:endParaRPr sz="4350">
              <a:latin typeface="Arial MT"/>
              <a:cs typeface="Arial MT"/>
            </a:endParaRPr>
          </a:p>
          <a:p>
            <a:pPr algn="ctr" marL="12700" marR="5080">
              <a:lnSpc>
                <a:spcPts val="2550"/>
              </a:lnSpc>
              <a:spcBef>
                <a:spcPts val="590"/>
              </a:spcBef>
            </a:pPr>
            <a:r>
              <a:rPr dirty="0" sz="2500">
                <a:latin typeface="Calibri"/>
                <a:cs typeface="Calibri"/>
              </a:rPr>
              <a:t>User</a:t>
            </a:r>
            <a:r>
              <a:rPr dirty="0" sz="2500" spc="135">
                <a:latin typeface="Calibri"/>
                <a:cs typeface="Calibri"/>
              </a:rPr>
              <a:t> </a:t>
            </a:r>
            <a:r>
              <a:rPr dirty="0" sz="2500" spc="-340">
                <a:solidFill>
                  <a:srgbClr val="0C1A38"/>
                </a:solidFill>
                <a:latin typeface="Calibri"/>
                <a:cs typeface="Calibri"/>
              </a:rPr>
              <a:t>&amp;</a:t>
            </a:r>
            <a:r>
              <a:rPr dirty="0" sz="2500" spc="105">
                <a:solidFill>
                  <a:srgbClr val="0C1A38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0A0A0A"/>
                </a:solidFill>
                <a:latin typeface="Calibri"/>
                <a:cs typeface="Calibri"/>
              </a:rPr>
              <a:t>Functional </a:t>
            </a:r>
            <a:r>
              <a:rPr dirty="0" sz="2500" spc="-10">
                <a:solidFill>
                  <a:srgbClr val="050505"/>
                </a:solidFill>
                <a:latin typeface="Calibri"/>
                <a:cs typeface="Calibri"/>
              </a:rPr>
              <a:t>Requirements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465708" y="6851153"/>
            <a:ext cx="2136775" cy="13487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ctr" marR="53975">
              <a:lnSpc>
                <a:spcPct val="100000"/>
              </a:lnSpc>
              <a:spcBef>
                <a:spcPts val="400"/>
              </a:spcBef>
            </a:pPr>
            <a:r>
              <a:rPr dirty="0" sz="3600" spc="75">
                <a:solidFill>
                  <a:srgbClr val="051C4B"/>
                </a:solidFill>
                <a:latin typeface="Calibri"/>
                <a:cs typeface="Calibri"/>
              </a:rPr>
              <a:t>!°/OWg</a:t>
            </a:r>
            <a:endParaRPr sz="3600">
              <a:latin typeface="Calibri"/>
              <a:cs typeface="Calibri"/>
            </a:endParaRPr>
          </a:p>
          <a:p>
            <a:pPr algn="ctr" marL="12700" marR="5080">
              <a:lnSpc>
                <a:spcPts val="2500"/>
              </a:lnSpc>
              <a:spcBef>
                <a:spcPts val="780"/>
              </a:spcBef>
            </a:pPr>
            <a:r>
              <a:rPr dirty="0" sz="2550">
                <a:solidFill>
                  <a:srgbClr val="080808"/>
                </a:solidFill>
                <a:latin typeface="Calibri"/>
                <a:cs typeface="Calibri"/>
              </a:rPr>
              <a:t>Technical</a:t>
            </a:r>
            <a:r>
              <a:rPr dirty="0" sz="2550" spc="1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2550" spc="40">
                <a:solidFill>
                  <a:srgbClr val="0A0A0A"/>
                </a:solidFill>
                <a:latin typeface="Calibri"/>
                <a:cs typeface="Calibri"/>
              </a:rPr>
              <a:t>Specs </a:t>
            </a:r>
            <a:r>
              <a:rPr dirty="0" sz="2550" spc="-280">
                <a:solidFill>
                  <a:srgbClr val="07112F"/>
                </a:solidFill>
                <a:latin typeface="Calibri"/>
                <a:cs typeface="Calibri"/>
              </a:rPr>
              <a:t>&amp;</a:t>
            </a:r>
            <a:r>
              <a:rPr dirty="0" sz="2550" spc="40">
                <a:solidFill>
                  <a:srgbClr val="07112F"/>
                </a:solidFill>
                <a:latin typeface="Calibri"/>
                <a:cs typeface="Calibri"/>
              </a:rPr>
              <a:t> </a:t>
            </a:r>
            <a:r>
              <a:rPr dirty="0" sz="2550" spc="-10">
                <a:solidFill>
                  <a:srgbClr val="0A0A0A"/>
                </a:solidFill>
                <a:latin typeface="Calibri"/>
                <a:cs typeface="Calibri"/>
              </a:rPr>
              <a:t>Architecture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49346" y="8776405"/>
            <a:ext cx="1184910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35">
                <a:solidFill>
                  <a:srgbClr val="111111"/>
                </a:solidFill>
                <a:latin typeface="Consolas"/>
                <a:cs typeface="Consolas"/>
              </a:rPr>
              <a:t>Projects</a:t>
            </a:r>
            <a:r>
              <a:rPr dirty="0" sz="1950" spc="-114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dirty="0" sz="1950" spc="-40">
                <a:solidFill>
                  <a:srgbClr val="151515"/>
                </a:solidFill>
                <a:latin typeface="Consolas"/>
                <a:cs typeface="Consolas"/>
              </a:rPr>
              <a:t>fail</a:t>
            </a:r>
            <a:r>
              <a:rPr dirty="0" sz="1950" spc="-225">
                <a:solidFill>
                  <a:srgbClr val="151515"/>
                </a:solidFill>
                <a:latin typeface="Consolas"/>
                <a:cs typeface="Consolas"/>
              </a:rPr>
              <a:t> </a:t>
            </a:r>
            <a:r>
              <a:rPr dirty="0" sz="1950">
                <a:solidFill>
                  <a:srgbClr val="0E0E0E"/>
                </a:solidFill>
                <a:latin typeface="Consolas"/>
                <a:cs typeface="Consolas"/>
              </a:rPr>
              <a:t>when</a:t>
            </a:r>
            <a:r>
              <a:rPr dirty="0" sz="1950" spc="-190">
                <a:solidFill>
                  <a:srgbClr val="0E0E0E"/>
                </a:solidFill>
                <a:latin typeface="Consolas"/>
                <a:cs typeface="Consolas"/>
              </a:rPr>
              <a:t> </a:t>
            </a:r>
            <a:r>
              <a:rPr dirty="0" sz="1950">
                <a:solidFill>
                  <a:srgbClr val="151515"/>
                </a:solidFill>
                <a:latin typeface="Consolas"/>
                <a:cs typeface="Consolas"/>
              </a:rPr>
              <a:t>we</a:t>
            </a:r>
            <a:r>
              <a:rPr dirty="0" sz="1950" spc="-225">
                <a:solidFill>
                  <a:srgbClr val="151515"/>
                </a:solidFill>
                <a:latin typeface="Consolas"/>
                <a:cs typeface="Consolas"/>
              </a:rPr>
              <a:t> </a:t>
            </a:r>
            <a:r>
              <a:rPr dirty="0" sz="1950" spc="-20">
                <a:solidFill>
                  <a:srgbClr val="080808"/>
                </a:solidFill>
                <a:latin typeface="Consolas"/>
                <a:cs typeface="Consolas"/>
              </a:rPr>
              <a:t>skip</a:t>
            </a:r>
            <a:r>
              <a:rPr dirty="0" sz="1950" spc="-165">
                <a:solidFill>
                  <a:srgbClr val="080808"/>
                </a:solidFill>
                <a:latin typeface="Consolas"/>
                <a:cs typeface="Consolas"/>
              </a:rPr>
              <a:t> </a:t>
            </a:r>
            <a:r>
              <a:rPr dirty="0" sz="1950" spc="-30">
                <a:solidFill>
                  <a:srgbClr val="050505"/>
                </a:solidFill>
                <a:latin typeface="Consolas"/>
                <a:cs typeface="Consolas"/>
              </a:rPr>
              <a:t>steps.</a:t>
            </a:r>
            <a:r>
              <a:rPr dirty="0" sz="1950" spc="-195">
                <a:solidFill>
                  <a:srgbClr val="050505"/>
                </a:solidFill>
                <a:latin typeface="Consolas"/>
                <a:cs typeface="Consolas"/>
              </a:rPr>
              <a:t> </a:t>
            </a:r>
            <a:r>
              <a:rPr dirty="0" sz="1950">
                <a:solidFill>
                  <a:srgbClr val="111111"/>
                </a:solidFill>
                <a:latin typeface="Consolas"/>
                <a:cs typeface="Consolas"/>
              </a:rPr>
              <a:t>Each</a:t>
            </a:r>
            <a:r>
              <a:rPr dirty="0" sz="1950" spc="-165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dirty="0" sz="1950" spc="-40">
                <a:solidFill>
                  <a:srgbClr val="0C0C0C"/>
                </a:solidFill>
                <a:latin typeface="Consolas"/>
                <a:cs typeface="Consolas"/>
              </a:rPr>
              <a:t>document</a:t>
            </a:r>
            <a:r>
              <a:rPr dirty="0" sz="1950" spc="-190">
                <a:solidFill>
                  <a:srgbClr val="0C0C0C"/>
                </a:solidFill>
                <a:latin typeface="Consolas"/>
                <a:cs typeface="Consolas"/>
              </a:rPr>
              <a:t> </a:t>
            </a:r>
            <a:r>
              <a:rPr dirty="0" sz="1950" spc="-45">
                <a:solidFill>
                  <a:srgbClr val="070707"/>
                </a:solidFill>
                <a:latin typeface="Consolas"/>
                <a:cs typeface="Consolas"/>
              </a:rPr>
              <a:t>represents</a:t>
            </a:r>
            <a:r>
              <a:rPr dirty="0" sz="1950" spc="-170">
                <a:solidFill>
                  <a:srgbClr val="070707"/>
                </a:solidFill>
                <a:latin typeface="Consolas"/>
                <a:cs typeface="Consolas"/>
              </a:rPr>
              <a:t> </a:t>
            </a:r>
            <a:r>
              <a:rPr dirty="0" sz="1950">
                <a:solidFill>
                  <a:srgbClr val="596074"/>
                </a:solidFill>
                <a:latin typeface="Consolas"/>
                <a:cs typeface="Consolas"/>
              </a:rPr>
              <a:t>a</a:t>
            </a:r>
            <a:r>
              <a:rPr dirty="0" sz="1950" spc="-270">
                <a:solidFill>
                  <a:srgbClr val="596074"/>
                </a:solidFill>
                <a:latin typeface="Consolas"/>
                <a:cs typeface="Consolas"/>
              </a:rPr>
              <a:t> </a:t>
            </a:r>
            <a:r>
              <a:rPr dirty="0" sz="1950" spc="-60">
                <a:solidFill>
                  <a:srgbClr val="0A0A0A"/>
                </a:solidFill>
                <a:latin typeface="Consolas"/>
                <a:cs typeface="Consolas"/>
              </a:rPr>
              <a:t>necessary</a:t>
            </a:r>
            <a:r>
              <a:rPr dirty="0" sz="1950" spc="-204">
                <a:solidFill>
                  <a:srgbClr val="0A0A0A"/>
                </a:solidFill>
                <a:latin typeface="Consolas"/>
                <a:cs typeface="Consolas"/>
              </a:rPr>
              <a:t> </a:t>
            </a:r>
            <a:r>
              <a:rPr dirty="0" sz="1950">
                <a:solidFill>
                  <a:srgbClr val="111111"/>
                </a:solidFill>
                <a:latin typeface="Consolas"/>
                <a:cs typeface="Consolas"/>
              </a:rPr>
              <a:t>layer</a:t>
            </a:r>
            <a:r>
              <a:rPr dirty="0" sz="1950" spc="-15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dirty="0" sz="1950">
                <a:solidFill>
                  <a:srgbClr val="0F0F0F"/>
                </a:solidFill>
                <a:latin typeface="Consolas"/>
                <a:cs typeface="Consolas"/>
              </a:rPr>
              <a:t>of</a:t>
            </a:r>
            <a:r>
              <a:rPr dirty="0" sz="1950" spc="-200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dirty="0" sz="1950" spc="-25">
                <a:solidFill>
                  <a:srgbClr val="0C0C0C"/>
                </a:solidFill>
                <a:latin typeface="Consolas"/>
                <a:cs typeface="Consolas"/>
              </a:rPr>
              <a:t>resolution.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358861" y="3496733"/>
            <a:ext cx="195580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285">
                <a:solidFill>
                  <a:srgbClr val="011638"/>
                </a:solidFill>
                <a:latin typeface="Calibri"/>
                <a:cs typeface="Calibri"/>
              </a:rPr>
              <a:t>CONCRETE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139700"/>
            <a:ext cx="16992600" cy="9271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200" y="9486900"/>
            <a:ext cx="25400" cy="139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4999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dirty="0" sz="4350" spc="95">
                <a:solidFill>
                  <a:srgbClr val="072352"/>
                </a:solidFill>
              </a:rPr>
              <a:t>The</a:t>
            </a:r>
            <a:r>
              <a:rPr dirty="0" sz="4350" spc="-160">
                <a:solidFill>
                  <a:srgbClr val="072352"/>
                </a:solidFill>
              </a:rPr>
              <a:t> </a:t>
            </a:r>
            <a:r>
              <a:rPr dirty="0" sz="4350" spc="195">
                <a:solidFill>
                  <a:srgbClr val="082450"/>
                </a:solidFill>
              </a:rPr>
              <a:t>Master</a:t>
            </a:r>
            <a:r>
              <a:rPr dirty="0" sz="4350" spc="165">
                <a:solidFill>
                  <a:srgbClr val="082450"/>
                </a:solidFill>
              </a:rPr>
              <a:t> </a:t>
            </a:r>
            <a:r>
              <a:rPr dirty="0" sz="4350" spc="140">
                <a:solidFill>
                  <a:srgbClr val="082356"/>
                </a:solidFill>
              </a:rPr>
              <a:t>Analogy:</a:t>
            </a:r>
            <a:r>
              <a:rPr dirty="0" sz="4350" spc="-15">
                <a:solidFill>
                  <a:srgbClr val="082356"/>
                </a:solidFill>
              </a:rPr>
              <a:t> </a:t>
            </a:r>
            <a:r>
              <a:rPr dirty="0" sz="4350" spc="165">
                <a:solidFill>
                  <a:srgbClr val="05234F"/>
                </a:solidFill>
              </a:rPr>
              <a:t>Building</a:t>
            </a:r>
            <a:r>
              <a:rPr dirty="0" sz="4350" spc="10">
                <a:solidFill>
                  <a:srgbClr val="05234F"/>
                </a:solidFill>
              </a:rPr>
              <a:t> </a:t>
            </a:r>
            <a:r>
              <a:rPr dirty="0" sz="4350">
                <a:solidFill>
                  <a:srgbClr val="051C46"/>
                </a:solidFill>
              </a:rPr>
              <a:t>a</a:t>
            </a:r>
            <a:r>
              <a:rPr dirty="0" sz="4350" spc="-200">
                <a:solidFill>
                  <a:srgbClr val="051C46"/>
                </a:solidFill>
              </a:rPr>
              <a:t> </a:t>
            </a:r>
            <a:r>
              <a:rPr dirty="0" sz="4350" spc="110">
                <a:solidFill>
                  <a:srgbClr val="08234F"/>
                </a:solidFill>
              </a:rPr>
              <a:t>House</a:t>
            </a:r>
            <a:endParaRPr sz="4350"/>
          </a:p>
        </p:txBody>
      </p:sp>
      <p:sp>
        <p:nvSpPr>
          <p:cNvPr id="10" name="object 10" descr="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 spc="190">
                <a:latin typeface="Calibri"/>
                <a:cs typeface="Calibri"/>
              </a:rPr>
              <a:t>G</a:t>
            </a:r>
            <a:r>
              <a:rPr dirty="0" sz="1500" spc="34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77333" y="2631369"/>
            <a:ext cx="1642110" cy="7480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615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Why</a:t>
            </a:r>
            <a:r>
              <a:rPr dirty="0" sz="2400" spc="10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50505"/>
                </a:solidFill>
                <a:latin typeface="Arial MT"/>
                <a:cs typeface="Arial MT"/>
              </a:rPr>
              <a:t>do</a:t>
            </a:r>
            <a:r>
              <a:rPr dirty="0" sz="2400" spc="-4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070707"/>
                </a:solidFill>
                <a:latin typeface="Arial MT"/>
                <a:cs typeface="Arial MT"/>
              </a:rPr>
              <a:t>you</a:t>
            </a:r>
            <a:endParaRPr sz="2400">
              <a:latin typeface="Arial MT"/>
              <a:cs typeface="Arial MT"/>
            </a:endParaRPr>
          </a:p>
          <a:p>
            <a:pPr marL="15240">
              <a:lnSpc>
                <a:spcPts val="3035"/>
              </a:lnSpc>
            </a:pPr>
            <a:r>
              <a:rPr dirty="0" sz="2750" spc="-160">
                <a:latin typeface="Arial MT"/>
                <a:cs typeface="Arial MT"/>
              </a:rPr>
              <a:t>want</a:t>
            </a:r>
            <a:r>
              <a:rPr dirty="0" sz="2750" spc="-20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it?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7333" y="7724069"/>
            <a:ext cx="2074545" cy="7410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740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materials</a:t>
            </a:r>
            <a:endParaRPr sz="2400">
              <a:latin typeface="Arial MT"/>
              <a:cs typeface="Arial MT"/>
            </a:endParaRPr>
          </a:p>
          <a:p>
            <a:pPr marL="15240">
              <a:lnSpc>
                <a:spcPts val="2860"/>
              </a:lnSpc>
            </a:pPr>
            <a:r>
              <a:rPr dirty="0" sz="2500" spc="-254">
                <a:solidFill>
                  <a:srgbClr val="050505"/>
                </a:solidFill>
                <a:latin typeface="Arial MT"/>
                <a:cs typeface="Arial MT"/>
              </a:rPr>
              <a:t>&amp;</a:t>
            </a:r>
            <a:r>
              <a:rPr dirty="0" sz="2500" spc="2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standards?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98110" y="2604911"/>
            <a:ext cx="1843405" cy="77089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7780" marR="5080" indent="-5715">
              <a:lnSpc>
                <a:spcPts val="2700"/>
              </a:lnSpc>
              <a:spcBef>
                <a:spcPts val="575"/>
              </a:spcBef>
            </a:pPr>
            <a:r>
              <a:rPr dirty="0" sz="2600" spc="-95">
                <a:solidFill>
                  <a:srgbClr val="050505"/>
                </a:solidFill>
                <a:latin typeface="Arial MT"/>
                <a:cs typeface="Arial MT"/>
              </a:rPr>
              <a:t>What</a:t>
            </a:r>
            <a:r>
              <a:rPr dirty="0" sz="2600" spc="-8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rooms </a:t>
            </a:r>
            <a:r>
              <a:rPr dirty="0" sz="2600" spc="-105">
                <a:solidFill>
                  <a:srgbClr val="030303"/>
                </a:solidFill>
                <a:latin typeface="Arial MT"/>
                <a:cs typeface="Arial MT"/>
              </a:rPr>
              <a:t>does</a:t>
            </a:r>
            <a:r>
              <a:rPr dirty="0" sz="2600" spc="30">
                <a:solidFill>
                  <a:srgbClr val="030303"/>
                </a:solidFill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</a:t>
            </a:r>
            <a:r>
              <a:rPr dirty="0" sz="2600" spc="-15">
                <a:latin typeface="Arial MT"/>
                <a:cs typeface="Arial MT"/>
              </a:rPr>
              <a:t> </a:t>
            </a:r>
            <a:r>
              <a:rPr dirty="0" sz="2600" spc="-180">
                <a:latin typeface="Arial MT"/>
                <a:cs typeface="Arial MT"/>
              </a:rPr>
              <a:t>have?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669086" y="2596091"/>
            <a:ext cx="2619375" cy="777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145">
              <a:lnSpc>
                <a:spcPts val="3045"/>
              </a:lnSpc>
              <a:spcBef>
                <a:spcPts val="105"/>
              </a:spcBef>
            </a:pPr>
            <a:r>
              <a:rPr dirty="0" sz="2700" spc="-190">
                <a:latin typeface="Arial MT"/>
                <a:cs typeface="Arial MT"/>
              </a:rPr>
              <a:t>What</a:t>
            </a:r>
            <a:r>
              <a:rPr dirty="0" sz="2700" spc="40">
                <a:latin typeface="Arial MT"/>
                <a:cs typeface="Arial MT"/>
              </a:rPr>
              <a:t> </a:t>
            </a:r>
            <a:r>
              <a:rPr dirty="0" sz="2700" spc="-175">
                <a:solidFill>
                  <a:srgbClr val="080808"/>
                </a:solidFill>
                <a:latin typeface="Arial MT"/>
                <a:cs typeface="Arial MT"/>
              </a:rPr>
              <a:t>are</a:t>
            </a:r>
            <a:r>
              <a:rPr dirty="0" sz="2700" spc="-1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700" spc="-100">
                <a:solidFill>
                  <a:srgbClr val="080808"/>
                </a:solidFill>
                <a:latin typeface="Arial MT"/>
                <a:cs typeface="Arial MT"/>
              </a:rPr>
              <a:t>the</a:t>
            </a:r>
            <a:r>
              <a:rPr dirty="0" sz="2700" spc="-9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700" spc="-120">
                <a:solidFill>
                  <a:srgbClr val="050505"/>
                </a:solidFill>
                <a:latin typeface="Arial MT"/>
                <a:cs typeface="Arial MT"/>
              </a:rPr>
              <a:t>exact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2865"/>
              </a:lnSpc>
            </a:pPr>
            <a:r>
              <a:rPr dirty="0" sz="2550" spc="-40">
                <a:latin typeface="Arial MT"/>
                <a:cs typeface="Arial MT"/>
              </a:rPr>
              <a:t>measurements?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665885" y="7774869"/>
            <a:ext cx="2649220" cy="72644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6510" marR="5080" indent="-4445">
              <a:lnSpc>
                <a:spcPts val="2600"/>
              </a:lnSpc>
              <a:spcBef>
                <a:spcPts val="450"/>
              </a:spcBef>
            </a:pPr>
            <a:r>
              <a:rPr dirty="0" sz="2400">
                <a:latin typeface="Arial MT"/>
                <a:cs typeface="Arial MT"/>
              </a:rPr>
              <a:t>How</a:t>
            </a:r>
            <a:r>
              <a:rPr dirty="0" sz="2400" spc="1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does</a:t>
            </a:r>
            <a:r>
              <a:rPr dirty="0" sz="2400" spc="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plumbing</a:t>
            </a:r>
            <a:r>
              <a:rPr dirty="0" sz="2400" spc="1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connect?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127000"/>
            <a:ext cx="17005300" cy="9283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200" y="9486900"/>
            <a:ext cx="25400" cy="139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43662" y="2819400"/>
            <a:ext cx="5017135" cy="109220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12700" marR="5080" indent="13335">
              <a:lnSpc>
                <a:spcPts val="3900"/>
              </a:lnSpc>
              <a:spcBef>
                <a:spcPts val="730"/>
              </a:spcBef>
            </a:pPr>
            <a:r>
              <a:rPr dirty="0" sz="3750" spc="-55">
                <a:solidFill>
                  <a:srgbClr val="071A36"/>
                </a:solidFill>
              </a:rPr>
              <a:t>The</a:t>
            </a:r>
            <a:r>
              <a:rPr dirty="0" sz="3750" spc="-204">
                <a:solidFill>
                  <a:srgbClr val="071A36"/>
                </a:solidFill>
              </a:rPr>
              <a:t> </a:t>
            </a:r>
            <a:r>
              <a:rPr dirty="0" sz="3750" spc="-10">
                <a:solidFill>
                  <a:srgbClr val="051838"/>
                </a:solidFill>
              </a:rPr>
              <a:t>Business </a:t>
            </a:r>
            <a:r>
              <a:rPr dirty="0" sz="3750" spc="-10">
                <a:solidFill>
                  <a:srgbClr val="051A38"/>
                </a:solidFill>
              </a:rPr>
              <a:t>Requirement</a:t>
            </a:r>
            <a:r>
              <a:rPr dirty="0" sz="3750" spc="-229">
                <a:solidFill>
                  <a:srgbClr val="051A38"/>
                </a:solidFill>
              </a:rPr>
              <a:t> </a:t>
            </a:r>
            <a:r>
              <a:rPr dirty="0" sz="3750" spc="-10">
                <a:solidFill>
                  <a:srgbClr val="081A36"/>
                </a:solidFill>
              </a:rPr>
              <a:t>Document</a:t>
            </a:r>
            <a:endParaRPr sz="3750"/>
          </a:p>
        </p:txBody>
      </p:sp>
      <p:sp>
        <p:nvSpPr>
          <p:cNvPr id="11" name="object 11" descr="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 spc="190">
                <a:latin typeface="Calibri"/>
                <a:cs typeface="Calibri"/>
              </a:rPr>
              <a:t>G</a:t>
            </a:r>
            <a:r>
              <a:rPr dirty="0" sz="1500" spc="34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1796" y="4410075"/>
            <a:ext cx="5154930" cy="2261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9685">
              <a:lnSpc>
                <a:spcPts val="3560"/>
              </a:lnSpc>
              <a:spcBef>
                <a:spcPts val="125"/>
              </a:spcBef>
            </a:pPr>
            <a:r>
              <a:rPr dirty="0" sz="3100" spc="-130">
                <a:latin typeface="Arial MT"/>
                <a:cs typeface="Arial MT"/>
              </a:rPr>
              <a:t>The</a:t>
            </a:r>
            <a:r>
              <a:rPr dirty="0" sz="3100" spc="-110">
                <a:latin typeface="Arial MT"/>
                <a:cs typeface="Arial MT"/>
              </a:rPr>
              <a:t> </a:t>
            </a:r>
            <a:r>
              <a:rPr dirty="0" sz="3100" spc="-35">
                <a:latin typeface="Arial MT"/>
                <a:cs typeface="Arial MT"/>
              </a:rPr>
              <a:t>Vision</a:t>
            </a:r>
            <a:r>
              <a:rPr dirty="0" sz="3100" spc="-125">
                <a:latin typeface="Arial MT"/>
                <a:cs typeface="Arial MT"/>
              </a:rPr>
              <a:t> </a:t>
            </a:r>
            <a:r>
              <a:rPr dirty="0" sz="3100" spc="-70">
                <a:latin typeface="Arial MT"/>
                <a:cs typeface="Arial MT"/>
              </a:rPr>
              <a:t>(’Why</a:t>
            </a:r>
            <a:r>
              <a:rPr dirty="0" sz="3100" spc="-155">
                <a:latin typeface="Arial MT"/>
                <a:cs typeface="Arial MT"/>
              </a:rPr>
              <a:t> </a:t>
            </a:r>
            <a:r>
              <a:rPr dirty="0" sz="3100" spc="-90">
                <a:latin typeface="Arial MT"/>
                <a:cs typeface="Arial MT"/>
              </a:rPr>
              <a:t>are</a:t>
            </a:r>
            <a:r>
              <a:rPr dirty="0" sz="3100" spc="-114">
                <a:latin typeface="Arial MT"/>
                <a:cs typeface="Arial MT"/>
              </a:rPr>
              <a:t> </a:t>
            </a:r>
            <a:r>
              <a:rPr dirty="0" sz="3100" spc="-25">
                <a:latin typeface="Arial MT"/>
                <a:cs typeface="Arial MT"/>
              </a:rPr>
              <a:t>we</a:t>
            </a:r>
            <a:endParaRPr sz="3100">
              <a:latin typeface="Arial MT"/>
              <a:cs typeface="Arial MT"/>
            </a:endParaRPr>
          </a:p>
          <a:p>
            <a:pPr marL="17145">
              <a:lnSpc>
                <a:spcPts val="3379"/>
              </a:lnSpc>
            </a:pPr>
            <a:r>
              <a:rPr dirty="0" sz="2950" spc="55">
                <a:latin typeface="Arial MT"/>
                <a:cs typeface="Arial MT"/>
              </a:rPr>
              <a:t>building</a:t>
            </a:r>
            <a:r>
              <a:rPr dirty="0" sz="2950" spc="-5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this?’)</a:t>
            </a:r>
            <a:endParaRPr sz="2950">
              <a:latin typeface="Arial MT"/>
              <a:cs typeface="Arial MT"/>
            </a:endParaRPr>
          </a:p>
          <a:p>
            <a:pPr marL="15240" marR="5080" indent="-3175">
              <a:lnSpc>
                <a:spcPts val="3000"/>
              </a:lnSpc>
              <a:spcBef>
                <a:spcPts val="1660"/>
              </a:spcBef>
            </a:pPr>
            <a:r>
              <a:rPr dirty="0" sz="2900" spc="-155">
                <a:latin typeface="Arial MT"/>
                <a:cs typeface="Arial MT"/>
              </a:rPr>
              <a:t>Explains</a:t>
            </a:r>
            <a:r>
              <a:rPr dirty="0" sz="2900" spc="-15">
                <a:latin typeface="Arial MT"/>
                <a:cs typeface="Arial MT"/>
              </a:rPr>
              <a:t> </a:t>
            </a:r>
            <a:r>
              <a:rPr dirty="0" sz="2900" spc="-65">
                <a:latin typeface="Arial MT"/>
                <a:cs typeface="Arial MT"/>
              </a:rPr>
              <a:t>the</a:t>
            </a:r>
            <a:r>
              <a:rPr dirty="0" sz="2900" spc="-13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business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problem, </a:t>
            </a:r>
            <a:r>
              <a:rPr dirty="0" sz="2900" spc="-140">
                <a:latin typeface="Arial MT"/>
                <a:cs typeface="Arial MT"/>
              </a:rPr>
              <a:t>goals,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pain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80">
                <a:latin typeface="Arial MT"/>
                <a:cs typeface="Arial MT"/>
              </a:rPr>
              <a:t>points,</a:t>
            </a:r>
            <a:r>
              <a:rPr dirty="0" sz="2900" spc="15">
                <a:latin typeface="Arial MT"/>
                <a:cs typeface="Arial MT"/>
              </a:rPr>
              <a:t> </a:t>
            </a:r>
            <a:r>
              <a:rPr dirty="0" sz="2900" spc="-170">
                <a:latin typeface="Arial MT"/>
                <a:cs typeface="Arial MT"/>
              </a:rPr>
              <a:t>and</a:t>
            </a:r>
            <a:r>
              <a:rPr dirty="0" sz="2900" spc="-60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high-</a:t>
            </a:r>
            <a:r>
              <a:rPr dirty="0" sz="2900" spc="-10">
                <a:latin typeface="Arial MT"/>
                <a:cs typeface="Arial MT"/>
              </a:rPr>
              <a:t>level </a:t>
            </a:r>
            <a:r>
              <a:rPr dirty="0" sz="2900" spc="-90">
                <a:latin typeface="Arial MT"/>
                <a:cs typeface="Arial MT"/>
              </a:rPr>
              <a:t>expectations.</a:t>
            </a:r>
            <a:r>
              <a:rPr dirty="0" sz="2900" spc="-110">
                <a:latin typeface="Arial MT"/>
                <a:cs typeface="Arial MT"/>
              </a:rPr>
              <a:t> </a:t>
            </a:r>
            <a:r>
              <a:rPr dirty="0" sz="2900" spc="-215">
                <a:latin typeface="Arial MT"/>
                <a:cs typeface="Arial MT"/>
              </a:rPr>
              <a:t>No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75">
                <a:latin typeface="Arial MT"/>
                <a:cs typeface="Arial MT"/>
              </a:rPr>
              <a:t>technical</a:t>
            </a:r>
            <a:r>
              <a:rPr dirty="0" sz="2900" spc="-35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jargon.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98661" y="7510991"/>
            <a:ext cx="3028315" cy="120015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 marR="5080" indent="14604">
              <a:lnSpc>
                <a:spcPts val="3000"/>
              </a:lnSpc>
              <a:spcBef>
                <a:spcPts val="405"/>
              </a:spcBef>
            </a:pPr>
            <a:r>
              <a:rPr dirty="0" sz="2700">
                <a:latin typeface="Arial MT"/>
                <a:cs typeface="Arial MT"/>
              </a:rPr>
              <a:t>Audience:</a:t>
            </a:r>
            <a:r>
              <a:rPr dirty="0" sz="2700" spc="375">
                <a:latin typeface="Arial MT"/>
                <a:cs typeface="Arial MT"/>
              </a:rPr>
              <a:t> </a:t>
            </a:r>
            <a:r>
              <a:rPr dirty="0" sz="2700" spc="-80">
                <a:latin typeface="Arial MT"/>
                <a:cs typeface="Arial MT"/>
              </a:rPr>
              <a:t>Business </a:t>
            </a:r>
            <a:r>
              <a:rPr dirty="0" sz="2700" spc="-10">
                <a:latin typeface="Arial MT"/>
                <a:cs typeface="Arial MT"/>
              </a:rPr>
              <a:t>Users,</a:t>
            </a:r>
            <a:r>
              <a:rPr dirty="0" sz="2700" spc="-14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Sponsors, </a:t>
            </a:r>
            <a:r>
              <a:rPr dirty="0" sz="2700">
                <a:latin typeface="Arial MT"/>
                <a:cs typeface="Arial MT"/>
              </a:rPr>
              <a:t>Project</a:t>
            </a:r>
            <a:r>
              <a:rPr dirty="0" sz="2700" spc="1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Managers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087858" y="781402"/>
            <a:ext cx="22332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0635" algn="l"/>
                <a:tab pos="1713864" algn="l"/>
              </a:tabLst>
            </a:pPr>
            <a:r>
              <a:rPr dirty="0" sz="1600">
                <a:solidFill>
                  <a:srgbClr val="131313"/>
                </a:solidFill>
                <a:latin typeface="Calibri"/>
                <a:cs typeface="Calibri"/>
              </a:rPr>
              <a:t>Z00rI</a:t>
            </a:r>
            <a:r>
              <a:rPr dirty="0" sz="1600" spc="48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F0F0F"/>
                </a:solidFill>
                <a:latin typeface="Calibri"/>
                <a:cs typeface="Calibri"/>
              </a:rPr>
              <a:t>LEVEL</a:t>
            </a:r>
            <a:r>
              <a:rPr dirty="0" sz="1600" spc="-5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111111"/>
                </a:solidFill>
                <a:latin typeface="Calibri"/>
                <a:cs typeface="Calibri"/>
              </a:rPr>
              <a:t>:</a:t>
            </a:r>
            <a:r>
              <a:rPr dirty="0" sz="1600">
                <a:solidFill>
                  <a:srgbClr val="111111"/>
                </a:solidFill>
                <a:latin typeface="Calibri"/>
                <a:cs typeface="Calibri"/>
              </a:rPr>
              <a:t>	</a:t>
            </a:r>
            <a:r>
              <a:rPr dirty="0" sz="1600" spc="-25">
                <a:solidFill>
                  <a:srgbClr val="1F1F1F"/>
                </a:solidFill>
                <a:latin typeface="Calibri"/>
                <a:cs typeface="Calibri"/>
              </a:rPr>
              <a:t>1/5</a:t>
            </a:r>
            <a:r>
              <a:rPr dirty="0" sz="1600">
                <a:solidFill>
                  <a:srgbClr val="1F1F1F"/>
                </a:solidFill>
                <a:latin typeface="Calibri"/>
                <a:cs typeface="Calibri"/>
              </a:rPr>
              <a:t>	</a:t>
            </a:r>
            <a:r>
              <a:rPr dirty="0" sz="1600" spc="-10">
                <a:solidFill>
                  <a:srgbClr val="111111"/>
                </a:solidFill>
                <a:latin typeface="Calibri"/>
                <a:cs typeface="Calibri"/>
              </a:rPr>
              <a:t>[¥/I0E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414319" y="781402"/>
            <a:ext cx="629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1A1A1A"/>
                </a:solidFill>
                <a:latin typeface="Calibri"/>
                <a:cs typeface="Calibri"/>
              </a:rPr>
              <a:t>ANGLE]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26715" y="4905727"/>
            <a:ext cx="875982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>
                <a:latin typeface="Arial MT"/>
                <a:cs typeface="Arial MT"/>
              </a:rPr>
              <a:t>Analogy: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My </a:t>
            </a:r>
            <a:r>
              <a:rPr dirty="0" sz="2200" spc="-10">
                <a:latin typeface="Arial MT"/>
                <a:cs typeface="Arial MT"/>
              </a:rPr>
              <a:t>family</a:t>
            </a:r>
            <a:r>
              <a:rPr dirty="0" sz="2200" spc="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has </a:t>
            </a:r>
            <a:r>
              <a:rPr dirty="0" sz="2200" spc="-10">
                <a:latin typeface="Arial MT"/>
                <a:cs typeface="Arial MT"/>
              </a:rPr>
              <a:t>grown;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renting</a:t>
            </a:r>
            <a:r>
              <a:rPr dirty="0" sz="2200" spc="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too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expensive.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need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home.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16814" y="8550627"/>
            <a:ext cx="883412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65">
                <a:latin typeface="Arial MT"/>
                <a:cs typeface="Arial MT"/>
              </a:rPr>
              <a:t>Real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World:</a:t>
            </a:r>
            <a:r>
              <a:rPr dirty="0" sz="2200" spc="-15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Customers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need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faster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delivery;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phone</a:t>
            </a:r>
            <a:r>
              <a:rPr dirty="0" sz="2200" spc="3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ordering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too</a:t>
            </a:r>
            <a:r>
              <a:rPr dirty="0" sz="2200" spc="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slow.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127000"/>
            <a:ext cx="17005300" cy="9283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200" y="9486900"/>
            <a:ext cx="25400" cy="1397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3662" y="2819400"/>
            <a:ext cx="5017135" cy="109220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 marR="5080" indent="13335">
              <a:lnSpc>
                <a:spcPts val="3900"/>
              </a:lnSpc>
              <a:spcBef>
                <a:spcPts val="730"/>
              </a:spcBef>
            </a:pPr>
            <a:r>
              <a:rPr dirty="0" sz="3750" spc="-70">
                <a:solidFill>
                  <a:srgbClr val="05182B"/>
                </a:solidFill>
                <a:latin typeface="Arial MT"/>
                <a:cs typeface="Arial MT"/>
              </a:rPr>
              <a:t>The</a:t>
            </a:r>
            <a:r>
              <a:rPr dirty="0" sz="3750" spc="-190">
                <a:solidFill>
                  <a:srgbClr val="05182B"/>
                </a:solidFill>
                <a:latin typeface="Arial MT"/>
                <a:cs typeface="Arial MT"/>
              </a:rPr>
              <a:t> </a:t>
            </a:r>
            <a:r>
              <a:rPr dirty="0" sz="3750" spc="-10">
                <a:solidFill>
                  <a:srgbClr val="05162A"/>
                </a:solidFill>
                <a:latin typeface="Arial MT"/>
                <a:cs typeface="Arial MT"/>
              </a:rPr>
              <a:t>Functional </a:t>
            </a:r>
            <a:r>
              <a:rPr dirty="0" sz="3750" spc="-10">
                <a:solidFill>
                  <a:srgbClr val="031326"/>
                </a:solidFill>
                <a:latin typeface="Arial MT"/>
                <a:cs typeface="Arial MT"/>
              </a:rPr>
              <a:t>Requirement</a:t>
            </a:r>
            <a:r>
              <a:rPr dirty="0" sz="3750" spc="-229">
                <a:solidFill>
                  <a:srgbClr val="031326"/>
                </a:solidFill>
                <a:latin typeface="Arial MT"/>
                <a:cs typeface="Arial MT"/>
              </a:rPr>
              <a:t> </a:t>
            </a:r>
            <a:r>
              <a:rPr dirty="0" sz="3750" spc="-10">
                <a:solidFill>
                  <a:srgbClr val="030F21"/>
                </a:solidFill>
                <a:latin typeface="Arial MT"/>
                <a:cs typeface="Arial MT"/>
              </a:rPr>
              <a:t>Document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107677" y="9462029"/>
            <a:ext cx="123761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500" spc="190">
                <a:latin typeface="Calibri"/>
                <a:cs typeface="Calibri"/>
              </a:rPr>
              <a:t>G</a:t>
            </a:r>
            <a:r>
              <a:rPr dirty="0" sz="1500" spc="34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4704" y="4427713"/>
            <a:ext cx="5293995" cy="262382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4130" marR="445770" indent="2540">
              <a:lnSpc>
                <a:spcPts val="3300"/>
              </a:lnSpc>
              <a:spcBef>
                <a:spcPts val="445"/>
              </a:spcBef>
            </a:pPr>
            <a:r>
              <a:rPr dirty="0" sz="2950">
                <a:latin typeface="Arial MT"/>
                <a:cs typeface="Arial MT"/>
              </a:rPr>
              <a:t>The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User</a:t>
            </a:r>
            <a:r>
              <a:rPr dirty="0" sz="2950" spc="-4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Experience</a:t>
            </a:r>
            <a:r>
              <a:rPr dirty="0" sz="2950" spc="125">
                <a:latin typeface="Arial MT"/>
                <a:cs typeface="Arial MT"/>
              </a:rPr>
              <a:t> </a:t>
            </a:r>
            <a:r>
              <a:rPr dirty="0" sz="2950" spc="55">
                <a:latin typeface="Arial MT"/>
                <a:cs typeface="Arial MT"/>
              </a:rPr>
              <a:t>(”What </a:t>
            </a:r>
            <a:r>
              <a:rPr dirty="0" sz="2950" spc="50">
                <a:latin typeface="Arial MT"/>
                <a:cs typeface="Arial MT"/>
              </a:rPr>
              <a:t>should</a:t>
            </a:r>
            <a:r>
              <a:rPr dirty="0" sz="2950" spc="-30">
                <a:latin typeface="Arial MT"/>
                <a:cs typeface="Arial MT"/>
              </a:rPr>
              <a:t> </a:t>
            </a:r>
            <a:r>
              <a:rPr dirty="0" sz="2950" spc="90">
                <a:latin typeface="Arial MT"/>
                <a:cs typeface="Arial MT"/>
              </a:rPr>
              <a:t>the</a:t>
            </a:r>
            <a:r>
              <a:rPr dirty="0" sz="2950" spc="-145">
                <a:latin typeface="Arial MT"/>
                <a:cs typeface="Arial MT"/>
              </a:rPr>
              <a:t> </a:t>
            </a:r>
            <a:r>
              <a:rPr dirty="0" sz="2950" spc="75">
                <a:latin typeface="Arial MT"/>
                <a:cs typeface="Arial MT"/>
              </a:rPr>
              <a:t>system</a:t>
            </a:r>
            <a:r>
              <a:rPr dirty="0" sz="2950" spc="-5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do?”)</a:t>
            </a:r>
            <a:endParaRPr sz="2950">
              <a:latin typeface="Arial MT"/>
              <a:cs typeface="Arial MT"/>
            </a:endParaRPr>
          </a:p>
          <a:p>
            <a:pPr marL="12700" marR="5080" indent="6350">
              <a:lnSpc>
                <a:spcPts val="3000"/>
              </a:lnSpc>
              <a:spcBef>
                <a:spcPts val="1540"/>
              </a:spcBef>
            </a:pPr>
            <a:r>
              <a:rPr dirty="0" sz="2950" spc="-170">
                <a:latin typeface="Arial MT"/>
                <a:cs typeface="Arial MT"/>
              </a:rPr>
              <a:t>Explains</a:t>
            </a:r>
            <a:r>
              <a:rPr dirty="0" sz="2950" spc="-35">
                <a:latin typeface="Arial MT"/>
                <a:cs typeface="Arial MT"/>
              </a:rPr>
              <a:t> </a:t>
            </a:r>
            <a:r>
              <a:rPr dirty="0" sz="2950" spc="-80">
                <a:latin typeface="Arial MT"/>
                <a:cs typeface="Arial MT"/>
              </a:rPr>
              <a:t>functions</a:t>
            </a:r>
            <a:r>
              <a:rPr dirty="0" sz="2950" spc="-90">
                <a:latin typeface="Arial MT"/>
                <a:cs typeface="Arial MT"/>
              </a:rPr>
              <a:t> </a:t>
            </a:r>
            <a:r>
              <a:rPr dirty="0" sz="2950" spc="-120">
                <a:latin typeface="Arial MT"/>
                <a:cs typeface="Arial MT"/>
              </a:rPr>
              <a:t>from</a:t>
            </a:r>
            <a:r>
              <a:rPr dirty="0" sz="2950" spc="-85">
                <a:latin typeface="Arial MT"/>
                <a:cs typeface="Arial MT"/>
              </a:rPr>
              <a:t> </a:t>
            </a:r>
            <a:r>
              <a:rPr dirty="0" sz="2950" spc="-280">
                <a:latin typeface="Arial MT"/>
                <a:cs typeface="Arial MT"/>
              </a:rPr>
              <a:t>a</a:t>
            </a:r>
            <a:r>
              <a:rPr dirty="0" sz="2950" spc="-70">
                <a:latin typeface="Arial MT"/>
                <a:cs typeface="Arial MT"/>
              </a:rPr>
              <a:t> </a:t>
            </a:r>
            <a:r>
              <a:rPr dirty="0" sz="2950" spc="-20">
                <a:latin typeface="Arial MT"/>
                <a:cs typeface="Arial MT"/>
              </a:rPr>
              <a:t>user </a:t>
            </a:r>
            <a:r>
              <a:rPr dirty="0" sz="2900" spc="-45">
                <a:latin typeface="Arial MT"/>
                <a:cs typeface="Arial MT"/>
              </a:rPr>
              <a:t>point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of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155">
                <a:latin typeface="Arial MT"/>
                <a:cs typeface="Arial MT"/>
              </a:rPr>
              <a:t>view.</a:t>
            </a:r>
            <a:r>
              <a:rPr dirty="0" sz="2900" spc="-114">
                <a:latin typeface="Arial MT"/>
                <a:cs typeface="Arial MT"/>
              </a:rPr>
              <a:t> </a:t>
            </a:r>
            <a:r>
              <a:rPr dirty="0" sz="2900" spc="-150">
                <a:latin typeface="Arial MT"/>
                <a:cs typeface="Arial MT"/>
              </a:rPr>
              <a:t>Focuses</a:t>
            </a:r>
            <a:r>
              <a:rPr dirty="0" sz="2900" spc="5">
                <a:latin typeface="Arial MT"/>
                <a:cs typeface="Arial MT"/>
              </a:rPr>
              <a:t> </a:t>
            </a:r>
            <a:r>
              <a:rPr dirty="0" sz="2900" spc="-170">
                <a:latin typeface="Arial MT"/>
                <a:cs typeface="Arial MT"/>
              </a:rPr>
              <a:t>on</a:t>
            </a:r>
            <a:r>
              <a:rPr dirty="0" sz="2900" spc="-60">
                <a:latin typeface="Arial MT"/>
                <a:cs typeface="Arial MT"/>
              </a:rPr>
              <a:t> </a:t>
            </a:r>
            <a:r>
              <a:rPr dirty="0" sz="2900" spc="-70">
                <a:latin typeface="Arial MT"/>
                <a:cs typeface="Arial MT"/>
              </a:rPr>
              <a:t>features, </a:t>
            </a:r>
            <a:r>
              <a:rPr dirty="0" sz="2900" spc="-100">
                <a:latin typeface="Arial MT"/>
                <a:cs typeface="Arial MT"/>
              </a:rPr>
              <a:t>user </a:t>
            </a:r>
            <a:r>
              <a:rPr dirty="0" sz="2900" spc="-85">
                <a:latin typeface="Arial MT"/>
                <a:cs typeface="Arial MT"/>
              </a:rPr>
              <a:t>actions,</a:t>
            </a:r>
            <a:r>
              <a:rPr dirty="0" sz="2900" spc="-90">
                <a:latin typeface="Arial MT"/>
                <a:cs typeface="Arial MT"/>
              </a:rPr>
              <a:t> </a:t>
            </a:r>
            <a:r>
              <a:rPr dirty="0" sz="2900" spc="-120">
                <a:latin typeface="Arial MT"/>
                <a:cs typeface="Arial MT"/>
              </a:rPr>
              <a:t>business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14">
                <a:latin typeface="Arial MT"/>
                <a:cs typeface="Arial MT"/>
              </a:rPr>
              <a:t>rules,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and </a:t>
            </a:r>
            <a:r>
              <a:rPr dirty="0" sz="2850" spc="-40">
                <a:latin typeface="Arial MT"/>
                <a:cs typeface="Arial MT"/>
              </a:rPr>
              <a:t>functional</a:t>
            </a:r>
            <a:r>
              <a:rPr dirty="0" sz="2850" spc="-15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flows.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4732" y="7502172"/>
            <a:ext cx="3258820" cy="121094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 indent="8255">
              <a:lnSpc>
                <a:spcPct val="90900"/>
              </a:lnSpc>
              <a:spcBef>
                <a:spcPts val="425"/>
              </a:spcBef>
            </a:pPr>
            <a:r>
              <a:rPr dirty="0" sz="2750">
                <a:latin typeface="Arial MT"/>
                <a:cs typeface="Arial MT"/>
              </a:rPr>
              <a:t>Audience:</a:t>
            </a:r>
            <a:r>
              <a:rPr dirty="0" sz="2750" spc="17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Business </a:t>
            </a:r>
            <a:r>
              <a:rPr dirty="0" sz="2750" spc="-40">
                <a:latin typeface="Arial MT"/>
                <a:cs typeface="Arial MT"/>
              </a:rPr>
              <a:t>Analysts,</a:t>
            </a:r>
            <a:r>
              <a:rPr dirty="0" sz="2750" spc="-105">
                <a:latin typeface="Arial MT"/>
                <a:cs typeface="Arial MT"/>
              </a:rPr>
              <a:t> </a:t>
            </a:r>
            <a:r>
              <a:rPr dirty="0" sz="2750" spc="-70">
                <a:latin typeface="Arial MT"/>
                <a:cs typeface="Arial MT"/>
              </a:rPr>
              <a:t>Developers, </a:t>
            </a:r>
            <a:r>
              <a:rPr dirty="0" sz="2750" spc="-10">
                <a:latin typeface="Arial MT"/>
                <a:cs typeface="Arial MT"/>
              </a:rPr>
              <a:t>Testers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26795" y="2131483"/>
            <a:ext cx="90170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">
                <a:latin typeface="Arial MT"/>
                <a:cs typeface="Arial MT"/>
              </a:rPr>
              <a:t>Bedroom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111203" y="3714044"/>
            <a:ext cx="918844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40">
                <a:latin typeface="Arial MT"/>
                <a:cs typeface="Arial MT"/>
              </a:rPr>
              <a:t>Bedroom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02009" y="1144058"/>
            <a:ext cx="635000" cy="18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>
                <a:solidFill>
                  <a:srgbClr val="313131"/>
                </a:solidFill>
                <a:latin typeface="Arial MT"/>
                <a:cs typeface="Arial MT"/>
              </a:rPr>
              <a:t>9G</a:t>
            </a:r>
            <a:r>
              <a:rPr dirty="0" sz="1050" spc="23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33333"/>
                </a:solidFill>
                <a:latin typeface="Arial MT"/>
                <a:cs typeface="Arial MT"/>
              </a:rPr>
              <a:t>x</a:t>
            </a:r>
            <a:r>
              <a:rPr dirty="0" sz="1050" spc="3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50" spc="-80">
                <a:solidFill>
                  <a:srgbClr val="0C0C0C"/>
                </a:solidFill>
                <a:latin typeface="Arial MT"/>
                <a:cs typeface="Arial MT"/>
              </a:rPr>
              <a:t>6O</a:t>
            </a:r>
            <a:r>
              <a:rPr dirty="0" sz="1050" spc="-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545454"/>
                </a:solidFill>
                <a:latin typeface="Arial MT"/>
                <a:cs typeface="Arial MT"/>
              </a:rPr>
              <a:t>’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941295" y="2131483"/>
            <a:ext cx="90170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">
                <a:latin typeface="Arial MT"/>
                <a:cs typeface="Arial MT"/>
              </a:rPr>
              <a:t>Bedroom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990803" y="3714044"/>
            <a:ext cx="76708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25">
                <a:latin typeface="Arial MT"/>
                <a:cs typeface="Arial MT"/>
              </a:rPr>
              <a:t>Kitchen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30769" y="7888110"/>
            <a:ext cx="4300220" cy="7289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955">
              <a:lnSpc>
                <a:spcPts val="2810"/>
              </a:lnSpc>
              <a:spcBef>
                <a:spcPts val="135"/>
              </a:spcBef>
            </a:pPr>
            <a:r>
              <a:rPr dirty="0" sz="2600" spc="-80">
                <a:latin typeface="Arial MT"/>
                <a:cs typeface="Arial MT"/>
              </a:rPr>
              <a:t>Analogy: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 spc="-320">
                <a:latin typeface="Arial MT"/>
                <a:cs typeface="Arial MT"/>
              </a:rPr>
              <a:t>2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55">
                <a:latin typeface="Arial MT"/>
                <a:cs typeface="Arial MT"/>
              </a:rPr>
              <a:t>bedrooms,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1</a:t>
            </a:r>
            <a:r>
              <a:rPr dirty="0" sz="2600" spc="-365">
                <a:latin typeface="Arial MT"/>
                <a:cs typeface="Arial MT"/>
              </a:rPr>
              <a:t> </a:t>
            </a:r>
            <a:r>
              <a:rPr dirty="0" sz="2600" spc="-90">
                <a:latin typeface="Arial MT"/>
                <a:cs typeface="Arial MT"/>
              </a:rPr>
              <a:t>kitchen,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ts val="2690"/>
              </a:lnSpc>
            </a:pPr>
            <a:r>
              <a:rPr dirty="0" sz="2500" spc="-50">
                <a:latin typeface="Arial MT"/>
                <a:cs typeface="Arial MT"/>
              </a:rPr>
              <a:t>parking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space.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178891" y="799041"/>
            <a:ext cx="119062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Arial MT"/>
                <a:cs typeface="Arial MT"/>
              </a:rPr>
              <a:t>Z00</a:t>
            </a:r>
            <a:r>
              <a:rPr dirty="0" sz="1450" spc="19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I</a:t>
            </a:r>
            <a:r>
              <a:rPr dirty="0" sz="1450" spc="434">
                <a:latin typeface="Arial MT"/>
                <a:cs typeface="Arial MT"/>
              </a:rPr>
              <a:t> </a:t>
            </a:r>
            <a:r>
              <a:rPr dirty="0" sz="1450" spc="-85">
                <a:latin typeface="Arial MT"/>
                <a:cs typeface="Arial MT"/>
              </a:rPr>
              <a:t>LEVEL</a:t>
            </a:r>
            <a:r>
              <a:rPr dirty="0" sz="1450" spc="-105">
                <a:latin typeface="Arial MT"/>
                <a:cs typeface="Arial MT"/>
              </a:rPr>
              <a:t> </a:t>
            </a:r>
            <a:r>
              <a:rPr dirty="0" sz="1450" spc="-50">
                <a:latin typeface="Arial MT"/>
                <a:cs typeface="Arial MT"/>
              </a:rPr>
              <a:t>: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497913" y="799041"/>
            <a:ext cx="155257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74980" algn="l"/>
              </a:tabLst>
            </a:pPr>
            <a:r>
              <a:rPr dirty="0" sz="1450" spc="-25">
                <a:latin typeface="Arial MT"/>
                <a:cs typeface="Arial MT"/>
              </a:rPr>
              <a:t>2/5</a:t>
            </a:r>
            <a:r>
              <a:rPr dirty="0" sz="1450">
                <a:latin typeface="Arial MT"/>
                <a:cs typeface="Arial MT"/>
              </a:rPr>
              <a:t>	</a:t>
            </a:r>
            <a:r>
              <a:rPr dirty="0" sz="1450" spc="-50">
                <a:latin typeface="Arial MT"/>
                <a:cs typeface="Arial MT"/>
              </a:rPr>
              <a:t>[STANDARD</a:t>
            </a:r>
            <a:r>
              <a:rPr dirty="0" sz="1450" spc="-50">
                <a:solidFill>
                  <a:srgbClr val="2F2F2F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167735" y="7914569"/>
            <a:ext cx="4182745" cy="10185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25400" marR="5080" indent="-13335">
              <a:lnSpc>
                <a:spcPct val="85100"/>
              </a:lnSpc>
              <a:spcBef>
                <a:spcPts val="560"/>
              </a:spcBef>
            </a:pPr>
            <a:r>
              <a:rPr dirty="0" sz="2400" spc="-55">
                <a:latin typeface="Arial MT"/>
                <a:cs typeface="Arial MT"/>
              </a:rPr>
              <a:t>Real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World: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User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login,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Product </a:t>
            </a:r>
            <a:r>
              <a:rPr dirty="0" sz="2400" spc="-30">
                <a:latin typeface="Arial MT"/>
                <a:cs typeface="Arial MT"/>
              </a:rPr>
              <a:t>search,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Order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placement, </a:t>
            </a:r>
            <a:r>
              <a:rPr dirty="0" sz="2400" spc="-25">
                <a:latin typeface="Arial MT"/>
                <a:cs typeface="Arial MT"/>
              </a:rPr>
              <a:t>Delivery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tracking.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00" y="9144000"/>
            <a:ext cx="1790700" cy="139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900" y="6794500"/>
            <a:ext cx="139700" cy="1930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6500" y="7518400"/>
            <a:ext cx="800100" cy="1219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900" y="469900"/>
            <a:ext cx="1587500" cy="2286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24100" y="1181100"/>
            <a:ext cx="2260600" cy="14097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72300" y="482600"/>
            <a:ext cx="9867900" cy="8394700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560916" y="457200"/>
            <a:ext cx="0" cy="8873490"/>
          </a:xfrm>
          <a:custGeom>
            <a:avLst/>
            <a:gdLst/>
            <a:ahLst/>
            <a:cxnLst/>
            <a:rect l="l" t="t" r="r" b="b"/>
            <a:pathLst>
              <a:path w="0" h="8873490">
                <a:moveTo>
                  <a:pt x="0" y="8873067"/>
                </a:moveTo>
                <a:lnTo>
                  <a:pt x="0" y="0"/>
                </a:lnTo>
              </a:path>
            </a:pathLst>
          </a:custGeom>
          <a:ln w="21166">
            <a:solidFill>
              <a:srgbClr val="3F484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550333" y="457200"/>
            <a:ext cx="16315690" cy="8873490"/>
            <a:chOff x="550333" y="457200"/>
            <a:chExt cx="16315690" cy="8873490"/>
          </a:xfrm>
        </p:grpSpPr>
        <p:sp>
          <p:nvSpPr>
            <p:cNvPr id="10" name="object 10" descr=""/>
            <p:cNvSpPr/>
            <p:nvPr/>
          </p:nvSpPr>
          <p:spPr>
            <a:xfrm>
              <a:off x="16855012" y="457200"/>
              <a:ext cx="0" cy="8873490"/>
            </a:xfrm>
            <a:custGeom>
              <a:avLst/>
              <a:gdLst/>
              <a:ahLst/>
              <a:cxnLst/>
              <a:rect l="l" t="t" r="r" b="b"/>
              <a:pathLst>
                <a:path w="0" h="8873490">
                  <a:moveTo>
                    <a:pt x="0" y="88730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F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50333" y="467783"/>
              <a:ext cx="16315690" cy="0"/>
            </a:xfrm>
            <a:custGeom>
              <a:avLst/>
              <a:gdLst/>
              <a:ahLst/>
              <a:cxnLst/>
              <a:rect l="l" t="t" r="r" b="b"/>
              <a:pathLst>
                <a:path w="16315690" h="0">
                  <a:moveTo>
                    <a:pt x="0" y="0"/>
                  </a:moveTo>
                  <a:lnTo>
                    <a:pt x="16315267" y="0"/>
                  </a:lnTo>
                </a:path>
              </a:pathLst>
            </a:custGeom>
            <a:ln w="21166">
              <a:solidFill>
                <a:srgbClr val="3F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0333" y="9319683"/>
              <a:ext cx="16315690" cy="0"/>
            </a:xfrm>
            <a:custGeom>
              <a:avLst/>
              <a:gdLst/>
              <a:ahLst/>
              <a:cxnLst/>
              <a:rect l="l" t="t" r="r" b="b"/>
              <a:pathLst>
                <a:path w="16315690" h="0">
                  <a:moveTo>
                    <a:pt x="0" y="0"/>
                  </a:moveTo>
                  <a:lnTo>
                    <a:pt x="16315267" y="0"/>
                  </a:lnTo>
                </a:path>
              </a:pathLst>
            </a:custGeom>
            <a:ln w="21166">
              <a:solidFill>
                <a:srgbClr val="3F48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4200" y="9486900"/>
            <a:ext cx="25400" cy="1524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143662" y="2819400"/>
            <a:ext cx="5681345" cy="1092200"/>
          </a:xfrm>
          <a:prstGeom prst="rect"/>
        </p:spPr>
        <p:txBody>
          <a:bodyPr wrap="square" lIns="0" tIns="92710" rIns="0" bIns="0" rtlCol="0" vert="horz">
            <a:spAutoFit/>
          </a:bodyPr>
          <a:lstStyle/>
          <a:p>
            <a:pPr marL="12700" marR="5080" indent="13335">
              <a:lnSpc>
                <a:spcPts val="3900"/>
              </a:lnSpc>
              <a:spcBef>
                <a:spcPts val="730"/>
              </a:spcBef>
            </a:pPr>
            <a:r>
              <a:rPr dirty="0" sz="3750" spc="-70">
                <a:solidFill>
                  <a:srgbClr val="010A1C"/>
                </a:solidFill>
              </a:rPr>
              <a:t>The</a:t>
            </a:r>
            <a:r>
              <a:rPr dirty="0" sz="3750" spc="-190">
                <a:solidFill>
                  <a:srgbClr val="010A1C"/>
                </a:solidFill>
              </a:rPr>
              <a:t> </a:t>
            </a:r>
            <a:r>
              <a:rPr dirty="0" sz="3750" spc="-10">
                <a:solidFill>
                  <a:srgbClr val="080808"/>
                </a:solidFill>
              </a:rPr>
              <a:t>Functional </a:t>
            </a:r>
            <a:r>
              <a:rPr dirty="0" sz="3750" spc="-10">
                <a:solidFill>
                  <a:srgbClr val="0F0F0F"/>
                </a:solidFill>
              </a:rPr>
              <a:t>Requirement</a:t>
            </a:r>
            <a:r>
              <a:rPr dirty="0" sz="3750" spc="-114">
                <a:solidFill>
                  <a:srgbClr val="0F0F0F"/>
                </a:solidFill>
              </a:rPr>
              <a:t> </a:t>
            </a:r>
            <a:r>
              <a:rPr dirty="0" sz="3750" spc="-10">
                <a:solidFill>
                  <a:srgbClr val="051523"/>
                </a:solidFill>
              </a:rPr>
              <a:t>Specification</a:t>
            </a:r>
            <a:endParaRPr sz="3750"/>
          </a:p>
        </p:txBody>
      </p:sp>
      <p:sp>
        <p:nvSpPr>
          <p:cNvPr id="23" name="object 23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249554" algn="l"/>
              </a:tabLst>
            </a:pPr>
            <a:r>
              <a:rPr dirty="0" sz="1300" spc="-50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Nc•tebookLM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42433" y="4418894"/>
            <a:ext cx="5295900" cy="263080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 marR="459105" indent="16510">
              <a:lnSpc>
                <a:spcPts val="3300"/>
              </a:lnSpc>
              <a:spcBef>
                <a:spcPts val="515"/>
              </a:spcBef>
            </a:pPr>
            <a:r>
              <a:rPr dirty="0" sz="3050" spc="-65">
                <a:latin typeface="Arial MT"/>
                <a:cs typeface="Arial MT"/>
              </a:rPr>
              <a:t>The</a:t>
            </a:r>
            <a:r>
              <a:rPr dirty="0" sz="3050" spc="-10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Specifics</a:t>
            </a:r>
            <a:r>
              <a:rPr dirty="0" sz="3050" spc="22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(“Exactly</a:t>
            </a:r>
            <a:r>
              <a:rPr dirty="0" sz="3050" spc="200">
                <a:latin typeface="Arial MT"/>
                <a:cs typeface="Arial MT"/>
              </a:rPr>
              <a:t> </a:t>
            </a:r>
            <a:r>
              <a:rPr dirty="0" sz="3050" spc="-25">
                <a:latin typeface="Arial MT"/>
                <a:cs typeface="Arial MT"/>
              </a:rPr>
              <a:t>how </a:t>
            </a:r>
            <a:r>
              <a:rPr dirty="0" sz="3050">
                <a:latin typeface="Arial MT"/>
                <a:cs typeface="Arial MT"/>
              </a:rPr>
              <a:t>does</a:t>
            </a:r>
            <a:r>
              <a:rPr dirty="0" sz="3050" spc="-18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it</a:t>
            </a:r>
            <a:r>
              <a:rPr dirty="0" sz="3050" spc="229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behave?”)</a:t>
            </a:r>
            <a:endParaRPr sz="3050">
              <a:latin typeface="Arial MT"/>
              <a:cs typeface="Arial MT"/>
            </a:endParaRPr>
          </a:p>
          <a:p>
            <a:pPr marL="15240" marR="5080" indent="10160">
              <a:lnSpc>
                <a:spcPct val="88600"/>
              </a:lnSpc>
              <a:spcBef>
                <a:spcPts val="1535"/>
              </a:spcBef>
            </a:pPr>
            <a:r>
              <a:rPr dirty="0" sz="2900" spc="-390">
                <a:latin typeface="Arial MT"/>
                <a:cs typeface="Arial MT"/>
              </a:rPr>
              <a:t>A</a:t>
            </a:r>
            <a:r>
              <a:rPr dirty="0" sz="2900" spc="30">
                <a:latin typeface="Arial MT"/>
                <a:cs typeface="Arial MT"/>
              </a:rPr>
              <a:t> </a:t>
            </a:r>
            <a:r>
              <a:rPr dirty="0" sz="2900" spc="-45">
                <a:latin typeface="Arial MT"/>
                <a:cs typeface="Arial MT"/>
              </a:rPr>
              <a:t>detailed,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structured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90">
                <a:latin typeface="Arial MT"/>
                <a:cs typeface="Arial MT"/>
              </a:rPr>
              <a:t>version</a:t>
            </a:r>
            <a:r>
              <a:rPr dirty="0" sz="2900" spc="-6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of </a:t>
            </a:r>
            <a:r>
              <a:rPr dirty="0" sz="2850">
                <a:latin typeface="Arial MT"/>
                <a:cs typeface="Arial MT"/>
              </a:rPr>
              <a:t>the</a:t>
            </a:r>
            <a:r>
              <a:rPr dirty="0" sz="2850" spc="-200">
                <a:latin typeface="Arial MT"/>
                <a:cs typeface="Arial MT"/>
              </a:rPr>
              <a:t> </a:t>
            </a:r>
            <a:r>
              <a:rPr dirty="0" sz="2850" spc="-320">
                <a:latin typeface="Arial MT"/>
                <a:cs typeface="Arial MT"/>
              </a:rPr>
              <a:t>FRD.</a:t>
            </a:r>
            <a:r>
              <a:rPr dirty="0" sz="2850" spc="70">
                <a:latin typeface="Arial MT"/>
                <a:cs typeface="Arial MT"/>
              </a:rPr>
              <a:t> </a:t>
            </a:r>
            <a:r>
              <a:rPr dirty="0" sz="2850" spc="-95">
                <a:latin typeface="Arial MT"/>
                <a:cs typeface="Arial MT"/>
              </a:rPr>
              <a:t>Focuses</a:t>
            </a:r>
            <a:r>
              <a:rPr dirty="0" sz="2850" spc="45">
                <a:latin typeface="Arial MT"/>
                <a:cs typeface="Arial MT"/>
              </a:rPr>
              <a:t> </a:t>
            </a:r>
            <a:r>
              <a:rPr dirty="0" sz="2850" spc="-95">
                <a:latin typeface="Arial MT"/>
                <a:cs typeface="Arial MT"/>
              </a:rPr>
              <a:t>on </a:t>
            </a:r>
            <a:r>
              <a:rPr dirty="0" sz="2850" spc="-10">
                <a:latin typeface="Arial MT"/>
                <a:cs typeface="Arial MT"/>
              </a:rPr>
              <a:t>input/output </a:t>
            </a:r>
            <a:r>
              <a:rPr dirty="0" sz="2750">
                <a:latin typeface="Arial MT"/>
                <a:cs typeface="Arial MT"/>
              </a:rPr>
              <a:t>rules,</a:t>
            </a:r>
            <a:r>
              <a:rPr dirty="0" sz="2750" spc="-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validations,</a:t>
            </a:r>
            <a:r>
              <a:rPr dirty="0" sz="2750" spc="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error</a:t>
            </a:r>
            <a:r>
              <a:rPr dirty="0" sz="2750" spc="-30">
                <a:latin typeface="Arial MT"/>
                <a:cs typeface="Arial MT"/>
              </a:rPr>
              <a:t> </a:t>
            </a:r>
            <a:r>
              <a:rPr dirty="0" sz="2750" spc="-45">
                <a:latin typeface="Arial MT"/>
                <a:cs typeface="Arial MT"/>
              </a:rPr>
              <a:t>messages,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-7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edge </a:t>
            </a:r>
            <a:r>
              <a:rPr dirty="0" sz="2750" spc="-10">
                <a:latin typeface="Arial MT"/>
                <a:cs typeface="Arial MT"/>
              </a:rPr>
              <a:t>cases.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397119" y="7484533"/>
            <a:ext cx="3585845" cy="123190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algn="just" marL="12700" marR="5080" indent="15875">
              <a:lnSpc>
                <a:spcPts val="3000"/>
              </a:lnSpc>
              <a:spcBef>
                <a:spcPts val="615"/>
              </a:spcBef>
            </a:pPr>
            <a:r>
              <a:rPr dirty="0" sz="2900" spc="-55">
                <a:latin typeface="Arial MT"/>
                <a:cs typeface="Arial MT"/>
              </a:rPr>
              <a:t>Audience:</a:t>
            </a:r>
            <a:r>
              <a:rPr dirty="0" sz="2900" spc="-145">
                <a:latin typeface="Arial MT"/>
                <a:cs typeface="Arial MT"/>
              </a:rPr>
              <a:t> </a:t>
            </a:r>
            <a:r>
              <a:rPr dirty="0" sz="2900" spc="-370">
                <a:latin typeface="Arial MT"/>
                <a:cs typeface="Arial MT"/>
              </a:rPr>
              <a:t>QA</a:t>
            </a:r>
            <a:r>
              <a:rPr dirty="0" sz="2900" spc="170">
                <a:latin typeface="Arial MT"/>
                <a:cs typeface="Arial MT"/>
              </a:rPr>
              <a:t> </a:t>
            </a:r>
            <a:r>
              <a:rPr dirty="0" sz="2900" spc="-225">
                <a:latin typeface="Arial MT"/>
                <a:cs typeface="Arial MT"/>
              </a:rPr>
              <a:t>Teams</a:t>
            </a:r>
            <a:r>
              <a:rPr dirty="0" sz="2900" spc="65">
                <a:latin typeface="Arial MT"/>
                <a:cs typeface="Arial MT"/>
              </a:rPr>
              <a:t> </a:t>
            </a:r>
            <a:r>
              <a:rPr dirty="0" sz="2900" spc="-360">
                <a:latin typeface="Arial MT"/>
                <a:cs typeface="Arial MT"/>
              </a:rPr>
              <a:t>&amp; </a:t>
            </a:r>
            <a:r>
              <a:rPr dirty="0" sz="2900" spc="-80">
                <a:latin typeface="Arial MT"/>
                <a:cs typeface="Arial MT"/>
              </a:rPr>
              <a:t>Developers</a:t>
            </a:r>
            <a:r>
              <a:rPr dirty="0" sz="2900" spc="-9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(Critical</a:t>
            </a:r>
            <a:r>
              <a:rPr dirty="0" sz="2900" spc="-140">
                <a:latin typeface="Arial MT"/>
                <a:cs typeface="Arial MT"/>
              </a:rPr>
              <a:t> </a:t>
            </a:r>
            <a:r>
              <a:rPr dirty="0" sz="2900" spc="-25">
                <a:latin typeface="Arial MT"/>
                <a:cs typeface="Arial MT"/>
              </a:rPr>
              <a:t>for </a:t>
            </a:r>
            <a:r>
              <a:rPr dirty="0" sz="2900" spc="-10">
                <a:latin typeface="Arial MT"/>
                <a:cs typeface="Arial MT"/>
              </a:rPr>
              <a:t>logic)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089458" y="772583"/>
            <a:ext cx="293878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277620" algn="l"/>
                <a:tab pos="1791335" algn="l"/>
                <a:tab pos="2439670" algn="l"/>
              </a:tabLst>
            </a:pPr>
            <a:r>
              <a:rPr dirty="0" sz="1650" spc="-335">
                <a:latin typeface="Arial MT"/>
                <a:cs typeface="Arial MT"/>
              </a:rPr>
              <a:t>ZOOI1</a:t>
            </a:r>
            <a:r>
              <a:rPr dirty="0" sz="1650" spc="3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LEVEL</a:t>
            </a:r>
            <a:r>
              <a:rPr dirty="0" sz="1650" spc="-10">
                <a:solidFill>
                  <a:srgbClr val="131313"/>
                </a:solidFill>
                <a:latin typeface="Arial MT"/>
                <a:cs typeface="Arial MT"/>
              </a:rPr>
              <a:t>'</a:t>
            </a:r>
            <a:r>
              <a:rPr dirty="0" sz="1650">
                <a:solidFill>
                  <a:srgbClr val="131313"/>
                </a:solidFill>
                <a:latin typeface="Arial MT"/>
                <a:cs typeface="Arial MT"/>
              </a:rPr>
              <a:t>	</a:t>
            </a: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3/</a:t>
            </a:r>
            <a:r>
              <a:rPr dirty="0" sz="1650" spc="-1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131313"/>
                </a:solidFill>
                <a:latin typeface="Arial MT"/>
                <a:cs typeface="Arial MT"/>
              </a:rPr>
              <a:t>5</a:t>
            </a:r>
            <a:r>
              <a:rPr dirty="0" sz="1650">
                <a:solidFill>
                  <a:srgbClr val="131313"/>
                </a:solidFill>
                <a:latin typeface="Arial MT"/>
                <a:cs typeface="Arial MT"/>
              </a:rPr>
              <a:t>	</a:t>
            </a:r>
            <a:r>
              <a:rPr dirty="0" sz="1650" spc="-434">
                <a:latin typeface="Arial MT"/>
                <a:cs typeface="Arial MT"/>
              </a:rPr>
              <a:t>MACRO</a:t>
            </a:r>
            <a:r>
              <a:rPr dirty="0" sz="1650">
                <a:latin typeface="Arial MT"/>
                <a:cs typeface="Arial MT"/>
              </a:rPr>
              <a:t>	</a:t>
            </a:r>
            <a:r>
              <a:rPr dirty="0" sz="1650" spc="-200">
                <a:latin typeface="Arial MT"/>
                <a:cs typeface="Arial MT"/>
              </a:rPr>
              <a:t>LENS}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409637" y="2552700"/>
            <a:ext cx="18300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0">
                <a:latin typeface="Arial MT"/>
                <a:cs typeface="Arial MT"/>
              </a:rPr>
              <a:t>South</a:t>
            </a:r>
            <a:r>
              <a:rPr dirty="0" sz="2500" spc="-145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Facing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226715" y="4905727"/>
            <a:ext cx="904430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>
                <a:latin typeface="Arial MT"/>
                <a:cs typeface="Arial MT"/>
              </a:rPr>
              <a:t>Analogy: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Master</a:t>
            </a:r>
            <a:r>
              <a:rPr dirty="0" sz="2200" spc="1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bedroom</a:t>
            </a:r>
            <a:r>
              <a:rPr dirty="0" sz="2200" spc="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must</a:t>
            </a:r>
            <a:r>
              <a:rPr dirty="0" sz="2200" spc="110">
                <a:latin typeface="Arial MT"/>
                <a:cs typeface="Arial MT"/>
              </a:rPr>
              <a:t> </a:t>
            </a:r>
            <a:r>
              <a:rPr dirty="0" sz="2200" spc="-35">
                <a:latin typeface="Arial MT"/>
                <a:cs typeface="Arial MT"/>
              </a:rPr>
              <a:t>be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120</a:t>
            </a:r>
            <a:r>
              <a:rPr dirty="0" sz="2200" spc="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sq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ft,</a:t>
            </a:r>
            <a:r>
              <a:rPr dirty="0" sz="2200" spc="65">
                <a:latin typeface="Arial MT"/>
                <a:cs typeface="Arial MT"/>
              </a:rPr>
              <a:t> </a:t>
            </a:r>
            <a:r>
              <a:rPr dirty="0" sz="2200" spc="75">
                <a:latin typeface="Arial MT"/>
                <a:cs typeface="Arial MT"/>
              </a:rPr>
              <a:t>two </a:t>
            </a:r>
            <a:r>
              <a:rPr dirty="0" sz="2200">
                <a:latin typeface="Arial MT"/>
                <a:cs typeface="Arial MT"/>
              </a:rPr>
              <a:t>south-facing</a:t>
            </a:r>
            <a:r>
              <a:rPr dirty="0" sz="2200" spc="2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windows.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178238" y="5837413"/>
            <a:ext cx="117157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7532" sz="4425" spc="-15">
                <a:latin typeface="Arial MT"/>
                <a:cs typeface="Arial MT"/>
              </a:rPr>
              <a:t>Pa</a:t>
            </a:r>
            <a:r>
              <a:rPr dirty="0" baseline="-3766" sz="4425" spc="-15">
                <a:latin typeface="Arial MT"/>
                <a:cs typeface="Arial MT"/>
              </a:rPr>
              <a:t>s</a:t>
            </a:r>
            <a:r>
              <a:rPr dirty="0" sz="2950" spc="-10">
                <a:latin typeface="Arial MT"/>
                <a:cs typeface="Arial MT"/>
              </a:rPr>
              <a:t>sw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299069" y="5723113"/>
            <a:ext cx="56261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25">
                <a:latin typeface="Arial MT"/>
                <a:cs typeface="Arial MT"/>
              </a:rPr>
              <a:t>ord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212655" y="8510410"/>
            <a:ext cx="7890509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275">
                <a:latin typeface="Arial MT"/>
                <a:cs typeface="Arial MT"/>
              </a:rPr>
              <a:t>Real</a:t>
            </a:r>
            <a:r>
              <a:rPr dirty="0" sz="2600" spc="-135">
                <a:latin typeface="Arial MT"/>
                <a:cs typeface="Arial MT"/>
              </a:rPr>
              <a:t> </a:t>
            </a:r>
            <a:r>
              <a:rPr dirty="0" sz="2600" spc="-185">
                <a:latin typeface="Arial MT"/>
                <a:cs typeface="Arial MT"/>
              </a:rPr>
              <a:t>World:</a:t>
            </a:r>
            <a:r>
              <a:rPr dirty="0" sz="2600" spc="-165">
                <a:latin typeface="Arial MT"/>
                <a:cs typeface="Arial MT"/>
              </a:rPr>
              <a:t> </a:t>
            </a:r>
            <a:r>
              <a:rPr dirty="0" sz="2600" spc="-265">
                <a:latin typeface="Arial MT"/>
                <a:cs typeface="Arial MT"/>
              </a:rPr>
              <a:t>Password</a:t>
            </a:r>
            <a:r>
              <a:rPr dirty="0" sz="2600" spc="150">
                <a:latin typeface="Arial MT"/>
                <a:cs typeface="Arial MT"/>
              </a:rPr>
              <a:t> </a:t>
            </a:r>
            <a:r>
              <a:rPr dirty="0" sz="2600" spc="-440">
                <a:latin typeface="Arial MT"/>
                <a:cs typeface="Arial MT"/>
              </a:rPr>
              <a:t>&gt;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 spc="-190">
                <a:latin typeface="Arial MT"/>
                <a:cs typeface="Arial MT"/>
              </a:rPr>
              <a:t>8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00">
                <a:latin typeface="Arial MT"/>
                <a:cs typeface="Arial MT"/>
              </a:rPr>
              <a:t>chars;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210">
                <a:latin typeface="Arial MT"/>
                <a:cs typeface="Arial MT"/>
              </a:rPr>
              <a:t>Account</a:t>
            </a:r>
            <a:r>
              <a:rPr dirty="0" sz="2600" spc="80">
                <a:latin typeface="Arial MT"/>
                <a:cs typeface="Arial MT"/>
              </a:rPr>
              <a:t> </a:t>
            </a:r>
            <a:r>
              <a:rPr dirty="0" sz="2600" spc="-185">
                <a:latin typeface="Arial MT"/>
                <a:cs typeface="Arial MT"/>
              </a:rPr>
              <a:t>locks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20">
                <a:latin typeface="Arial MT"/>
                <a:cs typeface="Arial MT"/>
              </a:rPr>
              <a:t>after</a:t>
            </a:r>
            <a:r>
              <a:rPr dirty="0" sz="2600" spc="110">
                <a:latin typeface="Arial MT"/>
                <a:cs typeface="Arial MT"/>
              </a:rPr>
              <a:t> </a:t>
            </a:r>
            <a:r>
              <a:rPr dirty="0" sz="2600" spc="-305">
                <a:latin typeface="Arial MT"/>
                <a:cs typeface="Arial MT"/>
              </a:rPr>
              <a:t>3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130">
                <a:latin typeface="Arial MT"/>
                <a:cs typeface="Arial MT"/>
              </a:rPr>
              <a:t>failures.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00" y="9144000"/>
            <a:ext cx="1790700" cy="139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900" y="6794500"/>
            <a:ext cx="139700" cy="1930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7670800"/>
            <a:ext cx="965200" cy="977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900" y="469900"/>
            <a:ext cx="1587500" cy="2286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24100" y="1181100"/>
            <a:ext cx="2260600" cy="14097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72300" y="482600"/>
            <a:ext cx="9867900" cy="8394700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560916" y="457200"/>
            <a:ext cx="0" cy="8873490"/>
          </a:xfrm>
          <a:custGeom>
            <a:avLst/>
            <a:gdLst/>
            <a:ahLst/>
            <a:cxnLst/>
            <a:rect l="l" t="t" r="r" b="b"/>
            <a:pathLst>
              <a:path w="0" h="8873490">
                <a:moveTo>
                  <a:pt x="0" y="8873067"/>
                </a:moveTo>
                <a:lnTo>
                  <a:pt x="0" y="0"/>
                </a:lnTo>
              </a:path>
            </a:pathLst>
          </a:custGeom>
          <a:ln w="21166">
            <a:solidFill>
              <a:srgbClr val="3F484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550333" y="457200"/>
            <a:ext cx="16315690" cy="8873490"/>
            <a:chOff x="550333" y="457200"/>
            <a:chExt cx="16315690" cy="8873490"/>
          </a:xfrm>
        </p:grpSpPr>
        <p:sp>
          <p:nvSpPr>
            <p:cNvPr id="10" name="object 10" descr=""/>
            <p:cNvSpPr/>
            <p:nvPr/>
          </p:nvSpPr>
          <p:spPr>
            <a:xfrm>
              <a:off x="16855012" y="457200"/>
              <a:ext cx="0" cy="8873490"/>
            </a:xfrm>
            <a:custGeom>
              <a:avLst/>
              <a:gdLst/>
              <a:ahLst/>
              <a:cxnLst/>
              <a:rect l="l" t="t" r="r" b="b"/>
              <a:pathLst>
                <a:path w="0" h="8873490">
                  <a:moveTo>
                    <a:pt x="0" y="88730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F4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50333" y="467783"/>
              <a:ext cx="16315690" cy="0"/>
            </a:xfrm>
            <a:custGeom>
              <a:avLst/>
              <a:gdLst/>
              <a:ahLst/>
              <a:cxnLst/>
              <a:rect l="l" t="t" r="r" b="b"/>
              <a:pathLst>
                <a:path w="16315690" h="0">
                  <a:moveTo>
                    <a:pt x="0" y="0"/>
                  </a:moveTo>
                  <a:lnTo>
                    <a:pt x="16315267" y="0"/>
                  </a:lnTo>
                </a:path>
              </a:pathLst>
            </a:custGeom>
            <a:ln w="21166">
              <a:solidFill>
                <a:srgbClr val="3F48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0333" y="9319683"/>
              <a:ext cx="16315690" cy="0"/>
            </a:xfrm>
            <a:custGeom>
              <a:avLst/>
              <a:gdLst/>
              <a:ahLst/>
              <a:cxnLst/>
              <a:rect l="l" t="t" r="r" b="b"/>
              <a:pathLst>
                <a:path w="16315690" h="0">
                  <a:moveTo>
                    <a:pt x="0" y="0"/>
                  </a:moveTo>
                  <a:lnTo>
                    <a:pt x="16315267" y="0"/>
                  </a:lnTo>
                </a:path>
              </a:pathLst>
            </a:custGeom>
            <a:ln w="21166">
              <a:solidFill>
                <a:srgbClr val="3F48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4200" y="9486900"/>
            <a:ext cx="25400" cy="15240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40889" y="2810580"/>
            <a:ext cx="5658485" cy="11080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8575">
              <a:lnSpc>
                <a:spcPts val="4130"/>
              </a:lnSpc>
              <a:spcBef>
                <a:spcPts val="120"/>
              </a:spcBef>
            </a:pPr>
            <a:r>
              <a:rPr dirty="0" sz="3800" spc="-9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3800" spc="-1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800" spc="-10">
                <a:solidFill>
                  <a:srgbClr val="131313"/>
                </a:solidFill>
                <a:latin typeface="Arial MT"/>
                <a:cs typeface="Arial MT"/>
              </a:rPr>
              <a:t>Software</a:t>
            </a:r>
            <a:endParaRPr sz="3800">
              <a:latin typeface="Arial MT"/>
              <a:cs typeface="Arial MT"/>
            </a:endParaRPr>
          </a:p>
          <a:p>
            <a:pPr marL="12700">
              <a:lnSpc>
                <a:spcPts val="4370"/>
              </a:lnSpc>
            </a:pPr>
            <a:r>
              <a:rPr dirty="0" sz="4000" spc="-155">
                <a:latin typeface="Arial MT"/>
                <a:cs typeface="Arial MT"/>
              </a:rPr>
              <a:t>Requirement</a:t>
            </a:r>
            <a:r>
              <a:rPr dirty="0" sz="4000" spc="-40">
                <a:latin typeface="Arial MT"/>
                <a:cs typeface="Arial MT"/>
              </a:rPr>
              <a:t> </a:t>
            </a:r>
            <a:r>
              <a:rPr dirty="0" sz="4000" spc="-50">
                <a:latin typeface="Arial MT"/>
                <a:cs typeface="Arial MT"/>
              </a:rPr>
              <a:t>Specification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249554" algn="l"/>
              </a:tabLst>
            </a:pPr>
            <a:r>
              <a:rPr dirty="0" sz="1300" spc="-50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Nc•tebookLM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38588" y="4427713"/>
            <a:ext cx="5550535" cy="262699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7145" marR="1101090" indent="3175">
              <a:lnSpc>
                <a:spcPts val="3300"/>
              </a:lnSpc>
              <a:spcBef>
                <a:spcPts val="445"/>
              </a:spcBef>
            </a:pPr>
            <a:r>
              <a:rPr dirty="0" sz="2950">
                <a:latin typeface="Arial MT"/>
                <a:cs typeface="Arial MT"/>
              </a:rPr>
              <a:t>The</a:t>
            </a:r>
            <a:r>
              <a:rPr dirty="0" sz="2950" spc="-18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Rules</a:t>
            </a:r>
            <a:r>
              <a:rPr dirty="0" sz="2950" spc="60">
                <a:latin typeface="Arial MT"/>
                <a:cs typeface="Arial MT"/>
              </a:rPr>
              <a:t> </a:t>
            </a:r>
            <a:r>
              <a:rPr dirty="0" sz="2950" spc="50">
                <a:latin typeface="Arial MT"/>
                <a:cs typeface="Arial MT"/>
              </a:rPr>
              <a:t>(“The</a:t>
            </a:r>
            <a:r>
              <a:rPr dirty="0" sz="2950" spc="-35">
                <a:latin typeface="Arial MT"/>
                <a:cs typeface="Arial MT"/>
              </a:rPr>
              <a:t> </a:t>
            </a:r>
            <a:r>
              <a:rPr dirty="0" sz="2950" spc="75">
                <a:latin typeface="Arial MT"/>
                <a:cs typeface="Arial MT"/>
              </a:rPr>
              <a:t>technical </a:t>
            </a:r>
            <a:r>
              <a:rPr dirty="0" sz="2950" spc="40">
                <a:latin typeface="Arial MT"/>
                <a:cs typeface="Arial MT"/>
              </a:rPr>
              <a:t>blueprint.")</a:t>
            </a:r>
            <a:endParaRPr sz="2950">
              <a:latin typeface="Arial MT"/>
              <a:cs typeface="Arial MT"/>
            </a:endParaRPr>
          </a:p>
          <a:p>
            <a:pPr marL="12700" marR="5080" indent="11430">
              <a:lnSpc>
                <a:spcPct val="84600"/>
              </a:lnSpc>
              <a:spcBef>
                <a:spcPts val="1505"/>
              </a:spcBef>
            </a:pPr>
            <a:r>
              <a:rPr dirty="0" sz="3050" spc="-225">
                <a:latin typeface="Arial MT"/>
                <a:cs typeface="Arial MT"/>
              </a:rPr>
              <a:t>Explains</a:t>
            </a:r>
            <a:r>
              <a:rPr dirty="0" sz="3050" spc="15">
                <a:latin typeface="Arial MT"/>
                <a:cs typeface="Arial MT"/>
              </a:rPr>
              <a:t> </a:t>
            </a:r>
            <a:r>
              <a:rPr dirty="0" sz="3050" spc="-250">
                <a:latin typeface="Arial MT"/>
                <a:cs typeface="Arial MT"/>
              </a:rPr>
              <a:t>how</a:t>
            </a:r>
            <a:r>
              <a:rPr dirty="0" sz="3050" spc="20">
                <a:latin typeface="Arial MT"/>
                <a:cs typeface="Arial MT"/>
              </a:rPr>
              <a:t> </a:t>
            </a:r>
            <a:r>
              <a:rPr dirty="0" sz="3050" spc="-95">
                <a:latin typeface="Arial MT"/>
                <a:cs typeface="Arial MT"/>
              </a:rPr>
              <a:t>the</a:t>
            </a:r>
            <a:r>
              <a:rPr dirty="0" sz="3050" spc="-105">
                <a:latin typeface="Arial MT"/>
                <a:cs typeface="Arial MT"/>
              </a:rPr>
              <a:t> </a:t>
            </a:r>
            <a:r>
              <a:rPr dirty="0" sz="3050" spc="-150">
                <a:latin typeface="Arial MT"/>
                <a:cs typeface="Arial MT"/>
              </a:rPr>
              <a:t>software</a:t>
            </a:r>
            <a:r>
              <a:rPr dirty="0" sz="3050" spc="20">
                <a:latin typeface="Arial MT"/>
                <a:cs typeface="Arial MT"/>
              </a:rPr>
              <a:t> </a:t>
            </a:r>
            <a:r>
              <a:rPr dirty="0" sz="3050" spc="-140">
                <a:latin typeface="Arial MT"/>
                <a:cs typeface="Arial MT"/>
              </a:rPr>
              <a:t>is</a:t>
            </a:r>
            <a:r>
              <a:rPr dirty="0" sz="3050" spc="-90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built. </a:t>
            </a:r>
            <a:r>
              <a:rPr dirty="0" sz="2900" spc="-155">
                <a:latin typeface="Arial MT"/>
                <a:cs typeface="Arial MT"/>
              </a:rPr>
              <a:t>Focuses</a:t>
            </a:r>
            <a:r>
              <a:rPr dirty="0" sz="2900" spc="25">
                <a:latin typeface="Arial MT"/>
                <a:cs typeface="Arial MT"/>
              </a:rPr>
              <a:t> </a:t>
            </a:r>
            <a:r>
              <a:rPr dirty="0" sz="2900" spc="-165">
                <a:latin typeface="Arial MT"/>
                <a:cs typeface="Arial MT"/>
              </a:rPr>
              <a:t>on</a:t>
            </a:r>
            <a:r>
              <a:rPr dirty="0" sz="2900" spc="-55">
                <a:latin typeface="Arial MT"/>
                <a:cs typeface="Arial MT"/>
              </a:rPr>
              <a:t> </a:t>
            </a:r>
            <a:r>
              <a:rPr dirty="0" sz="2900" spc="-105">
                <a:latin typeface="Arial MT"/>
                <a:cs typeface="Arial MT"/>
              </a:rPr>
              <a:t>Non-</a:t>
            </a:r>
            <a:r>
              <a:rPr dirty="0" sz="2900" spc="-10">
                <a:latin typeface="Arial MT"/>
                <a:cs typeface="Arial MT"/>
              </a:rPr>
              <a:t>Functional </a:t>
            </a:r>
            <a:r>
              <a:rPr dirty="0" sz="2950" spc="-145">
                <a:latin typeface="Arial MT"/>
                <a:cs typeface="Arial MT"/>
              </a:rPr>
              <a:t>Requirements</a:t>
            </a:r>
            <a:r>
              <a:rPr dirty="0" sz="2950" spc="20">
                <a:latin typeface="Arial MT"/>
                <a:cs typeface="Arial MT"/>
              </a:rPr>
              <a:t> </a:t>
            </a:r>
            <a:r>
              <a:rPr dirty="0" sz="2950" spc="-240">
                <a:latin typeface="Arial MT"/>
                <a:cs typeface="Arial MT"/>
              </a:rPr>
              <a:t>(NFRs):</a:t>
            </a:r>
            <a:r>
              <a:rPr dirty="0" sz="2950" spc="30">
                <a:latin typeface="Arial MT"/>
                <a:cs typeface="Arial MT"/>
              </a:rPr>
              <a:t> </a:t>
            </a:r>
            <a:r>
              <a:rPr dirty="0" sz="2950" spc="-110">
                <a:latin typeface="Arial MT"/>
                <a:cs typeface="Arial MT"/>
              </a:rPr>
              <a:t>Performance, Security,</a:t>
            </a:r>
            <a:r>
              <a:rPr dirty="0" sz="2950" spc="-40">
                <a:latin typeface="Arial MT"/>
                <a:cs typeface="Arial MT"/>
              </a:rPr>
              <a:t> </a:t>
            </a:r>
            <a:r>
              <a:rPr dirty="0" sz="2950" spc="-120">
                <a:latin typeface="Arial MT"/>
                <a:cs typeface="Arial MT"/>
              </a:rPr>
              <a:t>Scalability,</a:t>
            </a:r>
            <a:r>
              <a:rPr dirty="0" sz="2950" spc="15">
                <a:latin typeface="Arial MT"/>
                <a:cs typeface="Arial MT"/>
              </a:rPr>
              <a:t> </a:t>
            </a:r>
            <a:r>
              <a:rPr dirty="0" sz="2950" spc="-125">
                <a:latin typeface="Arial MT"/>
                <a:cs typeface="Arial MT"/>
              </a:rPr>
              <a:t>and</a:t>
            </a:r>
            <a:r>
              <a:rPr dirty="0" sz="2950" spc="-85">
                <a:latin typeface="Arial MT"/>
                <a:cs typeface="Arial MT"/>
              </a:rPr>
              <a:t> </a:t>
            </a:r>
            <a:r>
              <a:rPr dirty="0" sz="2950" spc="-105">
                <a:latin typeface="Arial MT"/>
                <a:cs typeface="Arial MT"/>
              </a:rPr>
              <a:t>Availability.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413543" y="7860594"/>
            <a:ext cx="3705225" cy="855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354"/>
              </a:lnSpc>
              <a:spcBef>
                <a:spcPts val="105"/>
              </a:spcBef>
            </a:pPr>
            <a:r>
              <a:rPr dirty="0" sz="3050" spc="-140">
                <a:latin typeface="Arial MT"/>
                <a:cs typeface="Arial MT"/>
              </a:rPr>
              <a:t>Audience:</a:t>
            </a:r>
            <a:r>
              <a:rPr dirty="0" sz="3050" spc="-70">
                <a:latin typeface="Arial MT"/>
                <a:cs typeface="Arial MT"/>
              </a:rPr>
              <a:t> </a:t>
            </a:r>
            <a:r>
              <a:rPr dirty="0" sz="3050" spc="-204">
                <a:latin typeface="Arial MT"/>
                <a:cs typeface="Arial MT"/>
              </a:rPr>
              <a:t>Developers</a:t>
            </a:r>
            <a:r>
              <a:rPr dirty="0" sz="3050" spc="80">
                <a:latin typeface="Arial MT"/>
                <a:cs typeface="Arial MT"/>
              </a:rPr>
              <a:t> </a:t>
            </a:r>
            <a:r>
              <a:rPr dirty="0" sz="3050" spc="-580">
                <a:latin typeface="Arial MT"/>
                <a:cs typeface="Arial MT"/>
              </a:rPr>
              <a:t>&amp;</a:t>
            </a:r>
            <a:endParaRPr sz="3050">
              <a:latin typeface="Arial MT"/>
              <a:cs typeface="Arial MT"/>
            </a:endParaRPr>
          </a:p>
          <a:p>
            <a:pPr marL="12700">
              <a:lnSpc>
                <a:spcPts val="3175"/>
              </a:lnSpc>
            </a:pPr>
            <a:r>
              <a:rPr dirty="0" sz="2900" spc="-10">
                <a:latin typeface="Arial MT"/>
                <a:cs typeface="Arial MT"/>
              </a:rPr>
              <a:t>Architects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140436" y="781402"/>
            <a:ext cx="2890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96670" algn="l"/>
                <a:tab pos="1742439" algn="l"/>
              </a:tabLst>
            </a:pPr>
            <a:r>
              <a:rPr dirty="0" sz="1600" spc="-130">
                <a:latin typeface="Arial MT"/>
                <a:cs typeface="Arial MT"/>
              </a:rPr>
              <a:t>Z00I4</a:t>
            </a:r>
            <a:r>
              <a:rPr dirty="0" sz="1600" spc="18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LEVEL:</a:t>
            </a:r>
            <a:r>
              <a:rPr dirty="0" sz="1600">
                <a:latin typeface="Arial MT"/>
                <a:cs typeface="Arial MT"/>
              </a:rPr>
              <a:t>	</a:t>
            </a:r>
            <a:r>
              <a:rPr dirty="0" sz="1600" spc="35">
                <a:latin typeface="Arial MT"/>
                <a:cs typeface="Arial MT"/>
              </a:rPr>
              <a:t>4/5</a:t>
            </a:r>
            <a:r>
              <a:rPr dirty="0" sz="1600">
                <a:latin typeface="Arial MT"/>
                <a:cs typeface="Arial MT"/>
              </a:rPr>
              <a:t>	</a:t>
            </a:r>
            <a:r>
              <a:rPr dirty="0" sz="1600" spc="-95">
                <a:latin typeface="Arial MT"/>
                <a:cs typeface="Arial MT"/>
              </a:rPr>
              <a:t>[TECHNICAL]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399991" y="1536700"/>
            <a:ext cx="132143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355">
                <a:solidFill>
                  <a:srgbClr val="525252"/>
                </a:solidFill>
                <a:latin typeface="Arial MT"/>
                <a:cs typeface="Arial MT"/>
              </a:rPr>
              <a:t>C</a:t>
            </a:r>
            <a:r>
              <a:rPr dirty="0" sz="1250" spc="32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1C1C1C"/>
                </a:solidFill>
                <a:latin typeface="Arial MT"/>
                <a:cs typeface="Arial MT"/>
              </a:rPr>
              <a:t>Reboy</a:t>
            </a:r>
            <a:r>
              <a:rPr dirty="0" sz="1250" spc="35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83838"/>
                </a:solidFill>
                <a:latin typeface="Arial MT"/>
                <a:cs typeface="Arial MT"/>
              </a:rPr>
              <a:t>ZB”</a:t>
            </a:r>
            <a:r>
              <a:rPr dirty="0" sz="1250" spc="4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250" spc="-290">
                <a:solidFill>
                  <a:srgbClr val="111111"/>
                </a:solidFill>
                <a:latin typeface="Arial MT"/>
                <a:cs typeface="Arial MT"/>
              </a:rPr>
              <a:t>SQA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251301" y="3492147"/>
            <a:ext cx="322072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40">
                <a:latin typeface="Arial MT"/>
                <a:cs typeface="Arial MT"/>
              </a:rPr>
              <a:t>Grade</a:t>
            </a:r>
            <a:r>
              <a:rPr dirty="0" sz="3400" spc="-15">
                <a:latin typeface="Arial MT"/>
                <a:cs typeface="Arial MT"/>
              </a:rPr>
              <a:t> </a:t>
            </a:r>
            <a:r>
              <a:rPr dirty="0" sz="3400">
                <a:latin typeface="Arial MT"/>
                <a:cs typeface="Arial MT"/>
              </a:rPr>
              <a:t>40</a:t>
            </a:r>
            <a:r>
              <a:rPr dirty="0" sz="3400" spc="-235">
                <a:latin typeface="Arial MT"/>
                <a:cs typeface="Arial MT"/>
              </a:rPr>
              <a:t> </a:t>
            </a:r>
            <a:r>
              <a:rPr dirty="0" sz="3400" spc="-150">
                <a:latin typeface="Arial MT"/>
                <a:cs typeface="Arial MT"/>
              </a:rPr>
              <a:t>Cement</a:t>
            </a:r>
            <a:endParaRPr sz="34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226715" y="4905727"/>
            <a:ext cx="769302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>
                <a:latin typeface="Arial MT"/>
                <a:cs typeface="Arial MT"/>
              </a:rPr>
              <a:t>Analogy:</a:t>
            </a:r>
            <a:r>
              <a:rPr dirty="0" sz="2200" spc="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Wiring</a:t>
            </a:r>
            <a:r>
              <a:rPr dirty="0" sz="2200" spc="1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standards,</a:t>
            </a:r>
            <a:r>
              <a:rPr dirty="0" sz="2200" spc="1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cement</a:t>
            </a:r>
            <a:r>
              <a:rPr dirty="0" sz="2200" spc="1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grade,</a:t>
            </a:r>
            <a:r>
              <a:rPr dirty="0" sz="2200" spc="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foundation</a:t>
            </a:r>
            <a:r>
              <a:rPr dirty="0" sz="2200" spc="2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depth.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848910" y="5865283"/>
            <a:ext cx="198183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45">
                <a:latin typeface="Arial MT"/>
                <a:cs typeface="Arial MT"/>
              </a:rPr>
              <a:t>Application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 spc="-70">
                <a:latin typeface="Arial MT"/>
                <a:cs typeface="Arial MT"/>
              </a:rPr>
              <a:t>Dashboard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624659" y="7413272"/>
            <a:ext cx="925830" cy="624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125"/>
              </a:lnSpc>
              <a:spcBef>
                <a:spcPts val="125"/>
              </a:spcBef>
            </a:pPr>
            <a:r>
              <a:rPr dirty="0" sz="2750" spc="-135">
                <a:latin typeface="Arial MT"/>
                <a:cs typeface="Arial MT"/>
              </a:rPr>
              <a:t>99.9%</a:t>
            </a:r>
            <a:endParaRPr sz="2750">
              <a:latin typeface="Arial MT"/>
              <a:cs typeface="Arial MT"/>
            </a:endParaRPr>
          </a:p>
          <a:p>
            <a:pPr marL="294005">
              <a:lnSpc>
                <a:spcPts val="1565"/>
              </a:lnSpc>
            </a:pPr>
            <a:r>
              <a:rPr dirty="0" sz="1450" spc="-25">
                <a:latin typeface="Arial MT"/>
                <a:cs typeface="Arial MT"/>
              </a:rPr>
              <a:t>pti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310133" y="7455252"/>
            <a:ext cx="2816225" cy="804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035"/>
              </a:lnSpc>
              <a:spcBef>
                <a:spcPts val="95"/>
              </a:spcBef>
            </a:pPr>
            <a:r>
              <a:rPr dirty="0" sz="2850" spc="-305">
                <a:latin typeface="Arial MT"/>
                <a:cs typeface="Arial MT"/>
              </a:rPr>
              <a:t>AES-</a:t>
            </a:r>
            <a:r>
              <a:rPr dirty="0" sz="2850" spc="-290">
                <a:latin typeface="Arial MT"/>
                <a:cs typeface="Arial MT"/>
              </a:rPr>
              <a:t>256</a:t>
            </a:r>
            <a:r>
              <a:rPr dirty="0" sz="2850" spc="25">
                <a:latin typeface="Arial MT"/>
                <a:cs typeface="Arial MT"/>
              </a:rPr>
              <a:t> </a:t>
            </a:r>
            <a:r>
              <a:rPr dirty="0" sz="2850" spc="-165">
                <a:latin typeface="Arial MT"/>
                <a:cs typeface="Arial MT"/>
              </a:rPr>
              <a:t>Encryption</a:t>
            </a:r>
            <a:endParaRPr sz="2850">
              <a:latin typeface="Arial MT"/>
              <a:cs typeface="Arial MT"/>
            </a:endParaRPr>
          </a:p>
          <a:p>
            <a:pPr marL="152400">
              <a:lnSpc>
                <a:spcPts val="3095"/>
              </a:lnSpc>
            </a:pPr>
            <a:r>
              <a:rPr dirty="0" sz="2900" spc="-135">
                <a:latin typeface="Arial MT"/>
                <a:cs typeface="Arial MT"/>
              </a:rPr>
              <a:t>in</a:t>
            </a:r>
            <a:r>
              <a:rPr dirty="0" sz="2900" spc="-215">
                <a:latin typeface="Arial MT"/>
                <a:cs typeface="Arial MT"/>
              </a:rPr>
              <a:t> JetBrains</a:t>
            </a:r>
            <a:r>
              <a:rPr dirty="0" sz="2900" spc="60">
                <a:latin typeface="Arial MT"/>
                <a:cs typeface="Arial MT"/>
              </a:rPr>
              <a:t> </a:t>
            </a:r>
            <a:r>
              <a:rPr dirty="0" sz="2900" spc="-315">
                <a:latin typeface="Arial MT"/>
                <a:cs typeface="Arial MT"/>
              </a:rPr>
              <a:t>Mono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214041" y="8528050"/>
            <a:ext cx="83077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10">
                <a:latin typeface="Arial MT"/>
                <a:cs typeface="Arial MT"/>
              </a:rPr>
              <a:t>Real</a:t>
            </a:r>
            <a:r>
              <a:rPr dirty="0" sz="2500" spc="-150"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World: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Support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170">
                <a:latin typeface="Arial MT"/>
                <a:cs typeface="Arial MT"/>
              </a:rPr>
              <a:t>10k</a:t>
            </a:r>
            <a:r>
              <a:rPr dirty="0" sz="2500" spc="-5">
                <a:latin typeface="Arial MT"/>
                <a:cs typeface="Arial MT"/>
              </a:rPr>
              <a:t> </a:t>
            </a:r>
            <a:r>
              <a:rPr dirty="0" sz="2500" spc="-140">
                <a:latin typeface="Arial MT"/>
                <a:cs typeface="Arial MT"/>
              </a:rPr>
              <a:t>users,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20">
                <a:latin typeface="Arial MT"/>
                <a:cs typeface="Arial MT"/>
              </a:rPr>
              <a:t>&lt;3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95">
                <a:latin typeface="Arial MT"/>
                <a:cs typeface="Arial MT"/>
              </a:rPr>
              <a:t>sec</a:t>
            </a:r>
            <a:r>
              <a:rPr dirty="0" sz="2500" spc="15">
                <a:latin typeface="Arial MT"/>
                <a:cs typeface="Arial MT"/>
              </a:rPr>
              <a:t> </a:t>
            </a:r>
            <a:r>
              <a:rPr dirty="0" sz="2500" spc="-114">
                <a:latin typeface="Arial MT"/>
                <a:cs typeface="Arial MT"/>
              </a:rPr>
              <a:t>load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114">
                <a:latin typeface="Arial MT"/>
                <a:cs typeface="Arial MT"/>
              </a:rPr>
              <a:t>time,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145">
                <a:latin typeface="Arial MT"/>
                <a:cs typeface="Arial MT"/>
              </a:rPr>
              <a:t>data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75">
                <a:latin typeface="Arial MT"/>
                <a:cs typeface="Arial MT"/>
              </a:rPr>
              <a:t>encryption.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00" y="9144000"/>
            <a:ext cx="1790700" cy="139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900" y="6794500"/>
            <a:ext cx="139700" cy="1930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7658100"/>
            <a:ext cx="977900" cy="990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900" y="469900"/>
            <a:ext cx="2984500" cy="2286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08400" y="1206500"/>
            <a:ext cx="1155700" cy="13589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68400" y="6311900"/>
            <a:ext cx="660400" cy="19431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40800" y="838200"/>
            <a:ext cx="5511800" cy="3886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154400" y="482600"/>
            <a:ext cx="685800" cy="609600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560916" y="461432"/>
            <a:ext cx="0" cy="8864600"/>
          </a:xfrm>
          <a:custGeom>
            <a:avLst/>
            <a:gdLst/>
            <a:ahLst/>
            <a:cxnLst/>
            <a:rect l="l" t="t" r="r" b="b"/>
            <a:pathLst>
              <a:path w="0" h="8864600">
                <a:moveTo>
                  <a:pt x="0" y="8864600"/>
                </a:moveTo>
                <a:lnTo>
                  <a:pt x="0" y="0"/>
                </a:lnTo>
              </a:path>
            </a:pathLst>
          </a:custGeom>
          <a:ln w="12700">
            <a:solidFill>
              <a:srgbClr val="3B483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554566" y="461432"/>
            <a:ext cx="16637000" cy="8864600"/>
            <a:chOff x="554566" y="461432"/>
            <a:chExt cx="16637000" cy="8864600"/>
          </a:xfrm>
        </p:grpSpPr>
        <p:sp>
          <p:nvSpPr>
            <p:cNvPr id="12" name="object 12" descr=""/>
            <p:cNvSpPr/>
            <p:nvPr/>
          </p:nvSpPr>
          <p:spPr>
            <a:xfrm>
              <a:off x="17185221" y="461432"/>
              <a:ext cx="0" cy="8864600"/>
            </a:xfrm>
            <a:custGeom>
              <a:avLst/>
              <a:gdLst/>
              <a:ahLst/>
              <a:cxnLst/>
              <a:rect l="l" t="t" r="r" b="b"/>
              <a:pathLst>
                <a:path w="0" h="8864600">
                  <a:moveTo>
                    <a:pt x="0" y="8864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3B48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54566" y="467782"/>
              <a:ext cx="16637000" cy="0"/>
            </a:xfrm>
            <a:custGeom>
              <a:avLst/>
              <a:gdLst/>
              <a:ahLst/>
              <a:cxnLst/>
              <a:rect l="l" t="t" r="r" b="b"/>
              <a:pathLst>
                <a:path w="16637000" h="0">
                  <a:moveTo>
                    <a:pt x="0" y="0"/>
                  </a:moveTo>
                  <a:lnTo>
                    <a:pt x="16637000" y="0"/>
                  </a:lnTo>
                </a:path>
              </a:pathLst>
            </a:custGeom>
            <a:ln w="12700">
              <a:solidFill>
                <a:srgbClr val="3B48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4566" y="9319682"/>
              <a:ext cx="16306800" cy="0"/>
            </a:xfrm>
            <a:custGeom>
              <a:avLst/>
              <a:gdLst/>
              <a:ahLst/>
              <a:cxnLst/>
              <a:rect l="l" t="t" r="r" b="b"/>
              <a:pathLst>
                <a:path w="16306800" h="0">
                  <a:moveTo>
                    <a:pt x="0" y="0"/>
                  </a:moveTo>
                  <a:lnTo>
                    <a:pt x="16306800" y="0"/>
                  </a:lnTo>
                </a:path>
              </a:pathLst>
            </a:custGeom>
            <a:ln w="12700">
              <a:solidFill>
                <a:srgbClr val="3B48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012516" y="694267"/>
              <a:ext cx="0" cy="8170545"/>
            </a:xfrm>
            <a:custGeom>
              <a:avLst/>
              <a:gdLst/>
              <a:ahLst/>
              <a:cxnLst/>
              <a:rect l="l" t="t" r="r" b="b"/>
              <a:pathLst>
                <a:path w="0" h="8170545">
                  <a:moveTo>
                    <a:pt x="0" y="8170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B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997700" y="5496983"/>
              <a:ext cx="9326245" cy="0"/>
            </a:xfrm>
            <a:custGeom>
              <a:avLst/>
              <a:gdLst/>
              <a:ahLst/>
              <a:cxnLst/>
              <a:rect l="l" t="t" r="r" b="b"/>
              <a:pathLst>
                <a:path w="9326244" h="0">
                  <a:moveTo>
                    <a:pt x="0" y="0"/>
                  </a:moveTo>
                  <a:lnTo>
                    <a:pt x="9326033" y="0"/>
                  </a:lnTo>
                </a:path>
              </a:pathLst>
            </a:custGeom>
            <a:ln w="4233">
              <a:solidFill>
                <a:srgbClr val="3B48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411199" y="556683"/>
              <a:ext cx="2633345" cy="0"/>
            </a:xfrm>
            <a:custGeom>
              <a:avLst/>
              <a:gdLst/>
              <a:ahLst/>
              <a:cxnLst/>
              <a:rect l="l" t="t" r="r" b="b"/>
              <a:pathLst>
                <a:path w="2633344" h="0">
                  <a:moveTo>
                    <a:pt x="0" y="0"/>
                  </a:moveTo>
                  <a:lnTo>
                    <a:pt x="2633133" y="0"/>
                  </a:lnTo>
                </a:path>
              </a:pathLst>
            </a:custGeom>
            <a:ln w="29633">
              <a:solidFill>
                <a:srgbClr val="4F54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4200" y="9474200"/>
            <a:ext cx="25400" cy="16510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43297" y="2779183"/>
            <a:ext cx="5430520" cy="1143000"/>
          </a:xfrm>
          <a:prstGeom prst="rect"/>
        </p:spPr>
        <p:txBody>
          <a:bodyPr wrap="square" lIns="0" tIns="164465" rIns="0" bIns="0" rtlCol="0" vert="horz">
            <a:spAutoFit/>
          </a:bodyPr>
          <a:lstStyle/>
          <a:p>
            <a:pPr marL="25400" marR="5080" indent="-13335">
              <a:lnSpc>
                <a:spcPct val="76300"/>
              </a:lnSpc>
              <a:spcBef>
                <a:spcPts val="1295"/>
              </a:spcBef>
            </a:pPr>
            <a:r>
              <a:rPr dirty="0" sz="4150" spc="-55">
                <a:solidFill>
                  <a:srgbClr val="111111"/>
                </a:solidFill>
              </a:rPr>
              <a:t>The</a:t>
            </a:r>
            <a:r>
              <a:rPr dirty="0" sz="4150" spc="-270">
                <a:solidFill>
                  <a:srgbClr val="111111"/>
                </a:solidFill>
              </a:rPr>
              <a:t> </a:t>
            </a:r>
            <a:r>
              <a:rPr dirty="0" sz="4150" spc="-10">
                <a:solidFill>
                  <a:srgbClr val="181818"/>
                </a:solidFill>
              </a:rPr>
              <a:t>System </a:t>
            </a:r>
            <a:r>
              <a:rPr dirty="0" sz="4150">
                <a:solidFill>
                  <a:srgbClr val="131313"/>
                </a:solidFill>
              </a:rPr>
              <a:t>Architecture</a:t>
            </a:r>
            <a:r>
              <a:rPr dirty="0" sz="4150" spc="430">
                <a:solidFill>
                  <a:srgbClr val="131313"/>
                </a:solidFill>
              </a:rPr>
              <a:t> </a:t>
            </a:r>
            <a:r>
              <a:rPr dirty="0" sz="4150" spc="-40">
                <a:solidFill>
                  <a:srgbClr val="111111"/>
                </a:solidFill>
              </a:rPr>
              <a:t>Document</a:t>
            </a:r>
            <a:endParaRPr sz="4150"/>
          </a:p>
        </p:txBody>
      </p:sp>
      <p:sp>
        <p:nvSpPr>
          <p:cNvPr id="28" name="object 28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249554" algn="l"/>
              </a:tabLst>
            </a:pPr>
            <a:r>
              <a:rPr dirty="0" sz="1300" spc="-50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Nc•tebookLM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43337" y="4418894"/>
            <a:ext cx="5516880" cy="263207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7780" marR="471805" indent="-2540">
              <a:lnSpc>
                <a:spcPts val="3300"/>
              </a:lnSpc>
              <a:spcBef>
                <a:spcPts val="515"/>
              </a:spcBef>
            </a:pPr>
            <a:r>
              <a:rPr dirty="0" sz="3050">
                <a:latin typeface="Arial MT"/>
                <a:cs typeface="Arial MT"/>
              </a:rPr>
              <a:t>The</a:t>
            </a:r>
            <a:r>
              <a:rPr dirty="0" sz="3050" spc="-105">
                <a:latin typeface="Arial MT"/>
                <a:cs typeface="Arial MT"/>
              </a:rPr>
              <a:t> </a:t>
            </a:r>
            <a:r>
              <a:rPr dirty="0" sz="3050" spc="50">
                <a:latin typeface="Arial MT"/>
                <a:cs typeface="Arial MT"/>
              </a:rPr>
              <a:t>Structure</a:t>
            </a:r>
            <a:r>
              <a:rPr dirty="0" sz="3050" spc="4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(“How</a:t>
            </a:r>
            <a:r>
              <a:rPr dirty="0" sz="3050" spc="-7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it</a:t>
            </a:r>
            <a:r>
              <a:rPr dirty="0" sz="3050" spc="23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all</a:t>
            </a:r>
            <a:r>
              <a:rPr dirty="0" sz="3050" spc="-225">
                <a:latin typeface="Arial MT"/>
                <a:cs typeface="Arial MT"/>
              </a:rPr>
              <a:t> </a:t>
            </a:r>
            <a:r>
              <a:rPr dirty="0" sz="3050" spc="125">
                <a:latin typeface="Arial MT"/>
                <a:cs typeface="Arial MT"/>
              </a:rPr>
              <a:t>fits </a:t>
            </a:r>
            <a:r>
              <a:rPr dirty="0" sz="3050" spc="-10">
                <a:latin typeface="Arial MT"/>
                <a:cs typeface="Arial MT"/>
              </a:rPr>
              <a:t>together.“)</a:t>
            </a:r>
            <a:endParaRPr sz="3050">
              <a:latin typeface="Arial MT"/>
              <a:cs typeface="Arial MT"/>
            </a:endParaRPr>
          </a:p>
          <a:p>
            <a:pPr marL="12700" marR="5080" indent="8255">
              <a:lnSpc>
                <a:spcPct val="86700"/>
              </a:lnSpc>
              <a:spcBef>
                <a:spcPts val="1645"/>
              </a:spcBef>
            </a:pPr>
            <a:r>
              <a:rPr dirty="0" sz="2850" spc="-75">
                <a:latin typeface="Arial MT"/>
                <a:cs typeface="Arial MT"/>
              </a:rPr>
              <a:t>Shows</a:t>
            </a:r>
            <a:r>
              <a:rPr dirty="0" sz="2850" spc="-125">
                <a:latin typeface="Arial MT"/>
                <a:cs typeface="Arial MT"/>
              </a:rPr>
              <a:t> </a:t>
            </a:r>
            <a:r>
              <a:rPr dirty="0" sz="2850" spc="-50">
                <a:latin typeface="Arial MT"/>
                <a:cs typeface="Arial MT"/>
              </a:rPr>
              <a:t>overall</a:t>
            </a:r>
            <a:r>
              <a:rPr dirty="0" sz="2850" spc="-140">
                <a:latin typeface="Arial MT"/>
                <a:cs typeface="Arial MT"/>
              </a:rPr>
              <a:t> </a:t>
            </a:r>
            <a:r>
              <a:rPr dirty="0" sz="2850" spc="-30">
                <a:latin typeface="Arial MT"/>
                <a:cs typeface="Arial MT"/>
              </a:rPr>
              <a:t>system</a:t>
            </a:r>
            <a:r>
              <a:rPr dirty="0" sz="2850" spc="-125">
                <a:latin typeface="Arial MT"/>
                <a:cs typeface="Arial MT"/>
              </a:rPr>
              <a:t> </a:t>
            </a:r>
            <a:r>
              <a:rPr dirty="0" sz="2850" spc="-40">
                <a:latin typeface="Arial MT"/>
                <a:cs typeface="Arial MT"/>
              </a:rPr>
              <a:t>design</a:t>
            </a:r>
            <a:r>
              <a:rPr dirty="0" sz="2850" spc="-160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and </a:t>
            </a:r>
            <a:r>
              <a:rPr dirty="0" sz="2850" spc="-50">
                <a:latin typeface="Arial MT"/>
                <a:cs typeface="Arial MT"/>
              </a:rPr>
              <a:t>component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 spc="-20">
                <a:latin typeface="Arial MT"/>
                <a:cs typeface="Arial MT"/>
              </a:rPr>
              <a:t>interaction.</a:t>
            </a:r>
            <a:r>
              <a:rPr dirty="0" sz="2850" spc="-175">
                <a:latin typeface="Arial MT"/>
                <a:cs typeface="Arial MT"/>
              </a:rPr>
              <a:t> </a:t>
            </a:r>
            <a:r>
              <a:rPr dirty="0" sz="2850" spc="-95">
                <a:latin typeface="Arial MT"/>
                <a:cs typeface="Arial MT"/>
              </a:rPr>
              <a:t>Focuses</a:t>
            </a:r>
            <a:r>
              <a:rPr dirty="0" sz="2850" spc="-65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on </a:t>
            </a:r>
            <a:r>
              <a:rPr dirty="0" sz="2850" spc="-20">
                <a:latin typeface="Arial MT"/>
                <a:cs typeface="Arial MT"/>
              </a:rPr>
              <a:t>architecture</a:t>
            </a:r>
            <a:r>
              <a:rPr dirty="0" sz="2850" spc="-65">
                <a:latin typeface="Arial MT"/>
                <a:cs typeface="Arial MT"/>
              </a:rPr>
              <a:t> diagrams,</a:t>
            </a:r>
            <a:r>
              <a:rPr dirty="0" sz="2850" spc="-9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tech</a:t>
            </a:r>
            <a:r>
              <a:rPr dirty="0" sz="2850" spc="-6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stack, </a:t>
            </a:r>
            <a:r>
              <a:rPr dirty="0" sz="2850">
                <a:latin typeface="Arial MT"/>
                <a:cs typeface="Arial MT"/>
              </a:rPr>
              <a:t>data</a:t>
            </a:r>
            <a:r>
              <a:rPr dirty="0" sz="2850" spc="-130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flow,</a:t>
            </a:r>
            <a:r>
              <a:rPr dirty="0" sz="2850" spc="-170">
                <a:latin typeface="Arial MT"/>
                <a:cs typeface="Arial MT"/>
              </a:rPr>
              <a:t> </a:t>
            </a:r>
            <a:r>
              <a:rPr dirty="0" sz="2850" spc="-50">
                <a:latin typeface="Arial MT"/>
                <a:cs typeface="Arial MT"/>
              </a:rPr>
              <a:t>and</a:t>
            </a:r>
            <a:r>
              <a:rPr dirty="0" sz="2850" spc="-15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integrations.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409456" y="7887052"/>
            <a:ext cx="3573779" cy="8280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 marR="5080" indent="3810">
              <a:lnSpc>
                <a:spcPts val="2900"/>
              </a:lnSpc>
              <a:spcBef>
                <a:spcPts val="625"/>
              </a:spcBef>
            </a:pPr>
            <a:r>
              <a:rPr dirty="0" sz="2850" spc="-20">
                <a:latin typeface="Arial MT"/>
                <a:cs typeface="Arial MT"/>
              </a:rPr>
              <a:t>Audience:</a:t>
            </a:r>
            <a:r>
              <a:rPr dirty="0" sz="2850" spc="-114">
                <a:latin typeface="Arial MT"/>
                <a:cs typeface="Arial MT"/>
              </a:rPr>
              <a:t> </a:t>
            </a:r>
            <a:r>
              <a:rPr dirty="0" sz="2850" spc="-30">
                <a:latin typeface="Arial MT"/>
                <a:cs typeface="Arial MT"/>
              </a:rPr>
              <a:t>Architects</a:t>
            </a:r>
            <a:r>
              <a:rPr dirty="0" sz="2850" spc="-160">
                <a:latin typeface="Arial MT"/>
                <a:cs typeface="Arial MT"/>
              </a:rPr>
              <a:t> </a:t>
            </a:r>
            <a:r>
              <a:rPr dirty="0" sz="2850" spc="-335">
                <a:latin typeface="Arial MT"/>
                <a:cs typeface="Arial MT"/>
              </a:rPr>
              <a:t>&amp; </a:t>
            </a:r>
            <a:r>
              <a:rPr dirty="0" sz="2850" spc="-105">
                <a:latin typeface="Arial MT"/>
                <a:cs typeface="Arial MT"/>
              </a:rPr>
              <a:t>Senior</a:t>
            </a:r>
            <a:r>
              <a:rPr dirty="0" sz="2850" spc="-70">
                <a:latin typeface="Arial MT"/>
                <a:cs typeface="Arial MT"/>
              </a:rPr>
              <a:t> </a:t>
            </a:r>
            <a:r>
              <a:rPr dirty="0" sz="2850" spc="-20">
                <a:latin typeface="Arial MT"/>
                <a:cs typeface="Arial MT"/>
              </a:rPr>
              <a:t>Devs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886258" y="785283"/>
            <a:ext cx="314325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366520" algn="l"/>
                <a:tab pos="1830705" algn="l"/>
                <a:tab pos="2606675" algn="l"/>
              </a:tabLst>
            </a:pPr>
            <a:r>
              <a:rPr dirty="0" sz="1650" spc="-10">
                <a:latin typeface="Arial MT"/>
                <a:cs typeface="Arial MT"/>
              </a:rPr>
              <a:t>Z008</a:t>
            </a:r>
            <a:r>
              <a:rPr dirty="0" sz="1650" spc="254">
                <a:latin typeface="Arial MT"/>
                <a:cs typeface="Arial MT"/>
              </a:rPr>
              <a:t> </a:t>
            </a:r>
            <a:r>
              <a:rPr dirty="0" sz="1650" spc="-185">
                <a:latin typeface="Arial MT"/>
                <a:cs typeface="Arial MT"/>
              </a:rPr>
              <a:t>LEVEL</a:t>
            </a:r>
            <a:r>
              <a:rPr dirty="0" sz="1650" spc="-14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:</a:t>
            </a:r>
            <a:r>
              <a:rPr dirty="0" sz="1650">
                <a:latin typeface="Arial MT"/>
                <a:cs typeface="Arial MT"/>
              </a:rPr>
              <a:t>	</a:t>
            </a:r>
            <a:r>
              <a:rPr dirty="0" sz="1650" spc="-20">
                <a:latin typeface="Arial MT"/>
                <a:cs typeface="Arial MT"/>
              </a:rPr>
              <a:t>5/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0F0F0F"/>
                </a:solidFill>
                <a:latin typeface="Arial MT"/>
                <a:cs typeface="Arial MT"/>
              </a:rPr>
              <a:t>5</a:t>
            </a:r>
            <a:r>
              <a:rPr dirty="0" sz="1650">
                <a:solidFill>
                  <a:srgbClr val="0F0F0F"/>
                </a:solidFill>
                <a:latin typeface="Arial MT"/>
                <a:cs typeface="Arial MT"/>
              </a:rPr>
              <a:t>	</a:t>
            </a:r>
            <a:r>
              <a:rPr dirty="0" sz="1650" spc="-285">
                <a:latin typeface="Arial MT"/>
                <a:cs typeface="Arial MT"/>
              </a:rPr>
              <a:t>[X—</a:t>
            </a:r>
            <a:r>
              <a:rPr dirty="0" sz="1650" spc="-325">
                <a:latin typeface="Arial MT"/>
                <a:cs typeface="Arial MT"/>
              </a:rPr>
              <a:t>RAY</a:t>
            </a:r>
            <a:r>
              <a:rPr dirty="0" sz="1650">
                <a:latin typeface="Arial MT"/>
                <a:cs typeface="Arial MT"/>
              </a:rPr>
              <a:t>	</a:t>
            </a:r>
            <a:r>
              <a:rPr dirty="0" sz="1650" spc="-60">
                <a:latin typeface="Arial MT"/>
                <a:cs typeface="Arial MT"/>
              </a:rPr>
              <a:t>VIE¥/]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226701" y="4914547"/>
            <a:ext cx="896874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Arial MT"/>
                <a:cs typeface="Arial MT"/>
              </a:rPr>
              <a:t>Analogy:</a:t>
            </a:r>
            <a:r>
              <a:rPr dirty="0" sz="2150" spc="22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Electrical</a:t>
            </a:r>
            <a:r>
              <a:rPr dirty="0" sz="2150" spc="28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wiring</a:t>
            </a:r>
            <a:r>
              <a:rPr dirty="0" sz="2150" spc="18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diagrams,</a:t>
            </a:r>
            <a:r>
              <a:rPr dirty="0" sz="2150" spc="31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plumbing</a:t>
            </a:r>
            <a:r>
              <a:rPr dirty="0" sz="2150" spc="21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layout,</a:t>
            </a:r>
            <a:r>
              <a:rPr dirty="0" sz="2150" spc="135">
                <a:latin typeface="Arial MT"/>
                <a:cs typeface="Arial MT"/>
              </a:rPr>
              <a:t> </a:t>
            </a:r>
            <a:r>
              <a:rPr dirty="0" sz="2150" spc="-40">
                <a:latin typeface="Arial MT"/>
                <a:cs typeface="Arial MT"/>
              </a:rPr>
              <a:t>HVAC</a:t>
            </a:r>
            <a:r>
              <a:rPr dirty="0" sz="2150" spc="210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integration.</a:t>
            </a:r>
            <a:endParaRPr sz="2150">
              <a:latin typeface="Arial MT"/>
              <a:cs typeface="Arial MT"/>
            </a:endParaRPr>
          </a:p>
        </p:txBody>
      </p:sp>
      <p:graphicFrame>
        <p:nvGraphicFramePr>
          <p:cNvPr id="24" name="object 24" descr=""/>
          <p:cNvGraphicFramePr>
            <a:graphicFrameLocks noGrp="1"/>
          </p:cNvGraphicFramePr>
          <p:nvPr/>
        </p:nvGraphicFramePr>
        <p:xfrm>
          <a:off x="7281333" y="6705600"/>
          <a:ext cx="6608445" cy="846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8155"/>
                <a:gridCol w="630555"/>
                <a:gridCol w="1756410"/>
                <a:gridCol w="617854"/>
                <a:gridCol w="1765300"/>
              </a:tblGrid>
              <a:tr h="431800">
                <a:tc rowSpan="2"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200">
                          <a:latin typeface="Arial MT"/>
                          <a:cs typeface="Arial MT"/>
                        </a:rPr>
                        <a:t>Mobile</a:t>
                      </a:r>
                      <a:r>
                        <a:rPr dirty="0" sz="2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5">
                          <a:latin typeface="Arial MT"/>
                          <a:cs typeface="Arial MT"/>
                        </a:rPr>
                        <a:t>App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21590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200" spc="-110">
                          <a:latin typeface="Arial MT"/>
                          <a:cs typeface="Arial MT"/>
                        </a:rPr>
                        <a:t>API</a:t>
                      </a:r>
                      <a:r>
                        <a:rPr dirty="0" sz="2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10">
                          <a:latin typeface="Arial MT"/>
                          <a:cs typeface="Arial MT"/>
                        </a:rPr>
                        <a:t>Gateway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21590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dirty="0" sz="2150" spc="-10">
                          <a:latin typeface="Arial MT"/>
                          <a:cs typeface="Arial MT"/>
                        </a:rPr>
                        <a:t>Backend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22225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</a:tr>
              <a:tr h="4146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1590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1590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22250">
                    <a:lnL w="12700">
                      <a:solidFill>
                        <a:srgbClr val="28383B"/>
                      </a:solidFill>
                      <a:prstDash val="solid"/>
                    </a:lnL>
                    <a:lnR w="12700">
                      <a:solidFill>
                        <a:srgbClr val="28383B"/>
                      </a:solidFill>
                      <a:prstDash val="solid"/>
                    </a:lnR>
                    <a:lnT w="12700">
                      <a:solidFill>
                        <a:srgbClr val="28383B"/>
                      </a:solidFill>
                      <a:prstDash val="solid"/>
                    </a:lnT>
                    <a:lnB w="12700">
                      <a:solidFill>
                        <a:srgbClr val="28383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 descr=""/>
          <p:cNvSpPr txBox="1"/>
          <p:nvPr/>
        </p:nvSpPr>
        <p:spPr>
          <a:xfrm>
            <a:off x="14416613" y="5975350"/>
            <a:ext cx="1765300" cy="847090"/>
          </a:xfrm>
          <a:prstGeom prst="rect">
            <a:avLst/>
          </a:prstGeom>
          <a:ln w="21166">
            <a:solidFill>
              <a:srgbClr val="28383B"/>
            </a:solidFill>
          </a:ln>
        </p:spPr>
        <p:txBody>
          <a:bodyPr wrap="square" lIns="0" tIns="215900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700"/>
              </a:spcBef>
            </a:pPr>
            <a:r>
              <a:rPr dirty="0" sz="2200" spc="-10">
                <a:latin typeface="Arial MT"/>
                <a:cs typeface="Arial MT"/>
              </a:rPr>
              <a:t>Database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4378520" y="7452783"/>
            <a:ext cx="1803400" cy="842644"/>
          </a:xfrm>
          <a:prstGeom prst="rect">
            <a:avLst/>
          </a:prstGeom>
          <a:ln w="12700">
            <a:solidFill>
              <a:srgbClr val="28383B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393065">
              <a:lnSpc>
                <a:spcPts val="2665"/>
              </a:lnSpc>
              <a:spcBef>
                <a:spcPts val="265"/>
              </a:spcBef>
            </a:pPr>
            <a:r>
              <a:rPr dirty="0" sz="2400" spc="-10">
                <a:latin typeface="Arial MT"/>
                <a:cs typeface="Arial MT"/>
              </a:rPr>
              <a:t>Payment</a:t>
            </a:r>
            <a:endParaRPr sz="2400">
              <a:latin typeface="Arial MT"/>
              <a:cs typeface="Arial MT"/>
            </a:endParaRPr>
          </a:p>
          <a:p>
            <a:pPr marL="400685">
              <a:lnSpc>
                <a:spcPts val="2605"/>
              </a:lnSpc>
            </a:pPr>
            <a:r>
              <a:rPr dirty="0" sz="2350" spc="-10">
                <a:latin typeface="Arial MT"/>
                <a:cs typeface="Arial MT"/>
              </a:rPr>
              <a:t>Gateway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216120" y="8548158"/>
            <a:ext cx="900176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23160" algn="l"/>
              </a:tabLst>
            </a:pPr>
            <a:r>
              <a:rPr dirty="0" sz="2300" spc="-120">
                <a:latin typeface="Arial MT"/>
                <a:cs typeface="Arial MT"/>
              </a:rPr>
              <a:t>Real</a:t>
            </a:r>
            <a:r>
              <a:rPr dirty="0" sz="2300" spc="-12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World:</a:t>
            </a:r>
            <a:r>
              <a:rPr dirty="0" sz="2300" spc="-140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App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 spc="-60">
                <a:latin typeface="Arial MT"/>
                <a:cs typeface="Arial MT"/>
              </a:rPr>
              <a:t>-</a:t>
            </a:r>
            <a:r>
              <a:rPr dirty="0" sz="2300" spc="-50">
                <a:latin typeface="Arial MT"/>
                <a:cs typeface="Arial MT"/>
              </a:rPr>
              <a:t>›</a:t>
            </a:r>
            <a:r>
              <a:rPr dirty="0" sz="2300">
                <a:latin typeface="Arial MT"/>
                <a:cs typeface="Arial MT"/>
              </a:rPr>
              <a:t>	</a:t>
            </a:r>
            <a:r>
              <a:rPr dirty="0" sz="2300" spc="-120">
                <a:latin typeface="Arial MT"/>
                <a:cs typeface="Arial MT"/>
              </a:rPr>
              <a:t>API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 spc="-1175">
                <a:latin typeface="Arial MT"/>
                <a:cs typeface="Arial MT"/>
              </a:rPr>
              <a:t>—</a:t>
            </a:r>
            <a:r>
              <a:rPr dirty="0" sz="2300" spc="-390">
                <a:latin typeface="Arial MT"/>
                <a:cs typeface="Arial MT"/>
              </a:rPr>
              <a:t>›</a:t>
            </a:r>
            <a:r>
              <a:rPr dirty="0" sz="2300" spc="65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Backend</a:t>
            </a:r>
            <a:r>
              <a:rPr dirty="0" sz="2300">
                <a:latin typeface="Arial MT"/>
                <a:cs typeface="Arial MT"/>
              </a:rPr>
              <a:t> </a:t>
            </a:r>
            <a:r>
              <a:rPr dirty="0" sz="2300" spc="-45">
                <a:latin typeface="Arial MT"/>
                <a:cs typeface="Arial MT"/>
              </a:rPr>
              <a:t>-</a:t>
            </a:r>
            <a:r>
              <a:rPr dirty="0" sz="2300">
                <a:latin typeface="Arial MT"/>
                <a:cs typeface="Arial MT"/>
              </a:rPr>
              <a:t>›</a:t>
            </a:r>
            <a:r>
              <a:rPr dirty="0" sz="2300" spc="70">
                <a:latin typeface="Arial MT"/>
                <a:cs typeface="Arial MT"/>
              </a:rPr>
              <a:t> </a:t>
            </a:r>
            <a:r>
              <a:rPr dirty="0" sz="2300" spc="-60">
                <a:latin typeface="Arial MT"/>
                <a:cs typeface="Arial MT"/>
              </a:rPr>
              <a:t>Database</a:t>
            </a:r>
            <a:r>
              <a:rPr dirty="0" sz="2300" spc="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+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3rd</a:t>
            </a:r>
            <a:r>
              <a:rPr dirty="0" sz="2300" spc="-130">
                <a:latin typeface="Arial MT"/>
                <a:cs typeface="Arial MT"/>
              </a:rPr>
              <a:t> </a:t>
            </a:r>
            <a:r>
              <a:rPr dirty="0" sz="2300" spc="-40">
                <a:latin typeface="Arial MT"/>
                <a:cs typeface="Arial MT"/>
              </a:rPr>
              <a:t>Party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Integrations.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8600" y="457200"/>
            <a:ext cx="16941800" cy="8953500"/>
            <a:chOff x="228600" y="457200"/>
            <a:chExt cx="16941800" cy="89535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482600"/>
              <a:ext cx="16624300" cy="89281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40200" y="3302000"/>
              <a:ext cx="330200" cy="29083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60916" y="457200"/>
              <a:ext cx="0" cy="8877300"/>
            </a:xfrm>
            <a:custGeom>
              <a:avLst/>
              <a:gdLst/>
              <a:ahLst/>
              <a:cxnLst/>
              <a:rect l="l" t="t" r="r" b="b"/>
              <a:pathLst>
                <a:path w="0" h="8877300">
                  <a:moveTo>
                    <a:pt x="0" y="8877300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8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855013" y="457200"/>
              <a:ext cx="0" cy="8877300"/>
            </a:xfrm>
            <a:custGeom>
              <a:avLst/>
              <a:gdLst/>
              <a:ahLst/>
              <a:cxnLst/>
              <a:rect l="l" t="t" r="r" b="b"/>
              <a:pathLst>
                <a:path w="0" h="8877300">
                  <a:moveTo>
                    <a:pt x="0" y="8877300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8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50333" y="467783"/>
              <a:ext cx="16315690" cy="0"/>
            </a:xfrm>
            <a:custGeom>
              <a:avLst/>
              <a:gdLst/>
              <a:ahLst/>
              <a:cxnLst/>
              <a:rect l="l" t="t" r="r" b="b"/>
              <a:pathLst>
                <a:path w="16315690" h="0">
                  <a:moveTo>
                    <a:pt x="0" y="0"/>
                  </a:moveTo>
                  <a:lnTo>
                    <a:pt x="16315267" y="0"/>
                  </a:lnTo>
                </a:path>
              </a:pathLst>
            </a:custGeom>
            <a:ln w="21166">
              <a:solidFill>
                <a:srgbClr val="38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50333" y="9323916"/>
              <a:ext cx="16315690" cy="0"/>
            </a:xfrm>
            <a:custGeom>
              <a:avLst/>
              <a:gdLst/>
              <a:ahLst/>
              <a:cxnLst/>
              <a:rect l="l" t="t" r="r" b="b"/>
              <a:pathLst>
                <a:path w="16315690" h="0">
                  <a:moveTo>
                    <a:pt x="0" y="0"/>
                  </a:moveTo>
                  <a:lnTo>
                    <a:pt x="16315267" y="0"/>
                  </a:lnTo>
                </a:path>
              </a:pathLst>
            </a:custGeom>
            <a:ln w="21166">
              <a:solidFill>
                <a:srgbClr val="38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4200" y="9474200"/>
            <a:ext cx="25400" cy="1651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99946" y="850194"/>
            <a:ext cx="8922385" cy="10629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800" spc="-70">
                <a:solidFill>
                  <a:srgbClr val="03182D"/>
                </a:solidFill>
              </a:rPr>
              <a:t>Clearing</a:t>
            </a:r>
            <a:r>
              <a:rPr dirty="0" sz="6800" spc="-315">
                <a:solidFill>
                  <a:srgbClr val="03182D"/>
                </a:solidFill>
              </a:rPr>
              <a:t> </a:t>
            </a:r>
            <a:r>
              <a:rPr dirty="0" sz="6800" spc="90">
                <a:solidFill>
                  <a:srgbClr val="0A233A"/>
                </a:solidFill>
              </a:rPr>
              <a:t>the</a:t>
            </a:r>
            <a:r>
              <a:rPr dirty="0" sz="6800" spc="-475">
                <a:solidFill>
                  <a:srgbClr val="0A233A"/>
                </a:solidFill>
              </a:rPr>
              <a:t> </a:t>
            </a:r>
            <a:r>
              <a:rPr dirty="0" sz="6800" spc="-10">
                <a:solidFill>
                  <a:srgbClr val="0E1F38"/>
                </a:solidFill>
              </a:rPr>
              <a:t>Confusion:</a:t>
            </a:r>
            <a:endParaRPr sz="6800"/>
          </a:p>
        </p:txBody>
      </p:sp>
      <p:sp>
        <p:nvSpPr>
          <p:cNvPr id="18" name="object 18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  <a:tabLst>
                <a:tab pos="249554" algn="l"/>
              </a:tabLst>
            </a:pPr>
            <a:r>
              <a:rPr dirty="0" sz="1300" spc="-50">
                <a:latin typeface="Arial MT"/>
                <a:cs typeface="Arial MT"/>
              </a:rPr>
              <a:t>G</a:t>
            </a:r>
            <a:r>
              <a:rPr dirty="0" sz="1300">
                <a:latin typeface="Arial MT"/>
                <a:cs typeface="Arial MT"/>
              </a:rPr>
              <a:t>	</a:t>
            </a:r>
            <a:r>
              <a:rPr dirty="0" sz="1300" spc="-10">
                <a:latin typeface="Arial MT"/>
                <a:cs typeface="Arial MT"/>
              </a:rPr>
              <a:t>Nc•tebookLM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3546" y="1457476"/>
            <a:ext cx="7372350" cy="1861820"/>
          </a:xfrm>
          <a:prstGeom prst="rect">
            <a:avLst/>
          </a:prstGeom>
        </p:spPr>
        <p:txBody>
          <a:bodyPr wrap="square" lIns="0" tIns="275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dirty="0" sz="6650" spc="-550">
                <a:solidFill>
                  <a:srgbClr val="0C1F38"/>
                </a:solidFill>
                <a:latin typeface="Arial MT"/>
                <a:cs typeface="Arial MT"/>
              </a:rPr>
              <a:t>FRD</a:t>
            </a:r>
            <a:r>
              <a:rPr dirty="0" sz="6650" spc="-245">
                <a:solidFill>
                  <a:srgbClr val="0C1F38"/>
                </a:solidFill>
                <a:latin typeface="Arial MT"/>
                <a:cs typeface="Arial MT"/>
              </a:rPr>
              <a:t> </a:t>
            </a:r>
            <a:r>
              <a:rPr dirty="0" sz="6650" spc="135">
                <a:solidFill>
                  <a:srgbClr val="0E2842"/>
                </a:solidFill>
                <a:latin typeface="Arial MT"/>
                <a:cs typeface="Arial MT"/>
              </a:rPr>
              <a:t>vs.</a:t>
            </a:r>
            <a:r>
              <a:rPr dirty="0" sz="6650" spc="-844">
                <a:solidFill>
                  <a:srgbClr val="0E2842"/>
                </a:solidFill>
                <a:latin typeface="Arial MT"/>
                <a:cs typeface="Arial MT"/>
              </a:rPr>
              <a:t> </a:t>
            </a:r>
            <a:r>
              <a:rPr dirty="0" sz="6650" spc="-660">
                <a:solidFill>
                  <a:srgbClr val="0E263F"/>
                </a:solidFill>
                <a:latin typeface="Arial MT"/>
                <a:cs typeface="Arial MT"/>
              </a:rPr>
              <a:t>FRS</a:t>
            </a:r>
            <a:endParaRPr sz="6650">
              <a:latin typeface="Arial MT"/>
              <a:cs typeface="Arial MT"/>
            </a:endParaRPr>
          </a:p>
          <a:p>
            <a:pPr marL="73025">
              <a:lnSpc>
                <a:spcPct val="100000"/>
              </a:lnSpc>
              <a:spcBef>
                <a:spcPts val="919"/>
              </a:spcBef>
            </a:pPr>
            <a:r>
              <a:rPr dirty="0" sz="2900">
                <a:latin typeface="Arial MT"/>
                <a:cs typeface="Arial MT"/>
              </a:rPr>
              <a:t>The</a:t>
            </a:r>
            <a:r>
              <a:rPr dirty="0" sz="2900" spc="-7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difference</a:t>
            </a:r>
            <a:r>
              <a:rPr dirty="0" sz="2900" spc="2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between</a:t>
            </a:r>
            <a:r>
              <a:rPr dirty="0" sz="2900" spc="-9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a</a:t>
            </a:r>
            <a:r>
              <a:rPr dirty="0" sz="2900" spc="-155">
                <a:latin typeface="Arial MT"/>
                <a:cs typeface="Arial MT"/>
              </a:rPr>
              <a:t> </a:t>
            </a:r>
            <a:r>
              <a:rPr dirty="0" sz="2900" spc="-35">
                <a:latin typeface="Arial MT"/>
                <a:cs typeface="Arial MT"/>
              </a:rPr>
              <a:t>Feature</a:t>
            </a:r>
            <a:r>
              <a:rPr dirty="0" sz="2900" spc="1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and</a:t>
            </a:r>
            <a:r>
              <a:rPr dirty="0" sz="2900" spc="-8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Logic.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36456" y="5183363"/>
            <a:ext cx="4677410" cy="1957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dirty="0" sz="4200" spc="-380">
                <a:solidFill>
                  <a:srgbClr val="051A2B"/>
                </a:solidFill>
                <a:latin typeface="Arial MT"/>
                <a:cs typeface="Arial MT"/>
              </a:rPr>
              <a:t>FRD</a:t>
            </a:r>
            <a:endParaRPr sz="4200">
              <a:latin typeface="Arial MT"/>
              <a:cs typeface="Arial MT"/>
            </a:endParaRPr>
          </a:p>
          <a:p>
            <a:pPr marL="31750" marR="503555" indent="3175">
              <a:lnSpc>
                <a:spcPts val="2950"/>
              </a:lnSpc>
              <a:spcBef>
                <a:spcPts val="600"/>
              </a:spcBef>
            </a:pPr>
            <a:r>
              <a:rPr dirty="0" sz="2950" spc="-145">
                <a:latin typeface="Arial MT"/>
                <a:cs typeface="Arial MT"/>
              </a:rPr>
              <a:t>The</a:t>
            </a:r>
            <a:r>
              <a:rPr dirty="0" sz="2950" spc="-290">
                <a:latin typeface="Arial MT"/>
                <a:cs typeface="Arial MT"/>
              </a:rPr>
              <a:t> </a:t>
            </a:r>
            <a:r>
              <a:rPr dirty="0" sz="2950" spc="-55">
                <a:latin typeface="Arial MT"/>
                <a:cs typeface="Arial MT"/>
              </a:rPr>
              <a:t>Feature:”The</a:t>
            </a:r>
            <a:r>
              <a:rPr dirty="0" sz="2950" spc="-20">
                <a:latin typeface="Arial MT"/>
                <a:cs typeface="Arial MT"/>
              </a:rPr>
              <a:t> </a:t>
            </a:r>
            <a:r>
              <a:rPr dirty="0" sz="2950" spc="-185">
                <a:latin typeface="Arial MT"/>
                <a:cs typeface="Arial MT"/>
              </a:rPr>
              <a:t>car</a:t>
            </a:r>
            <a:r>
              <a:rPr dirty="0" sz="2950" spc="-70">
                <a:latin typeface="Arial MT"/>
                <a:cs typeface="Arial MT"/>
              </a:rPr>
              <a:t> </a:t>
            </a:r>
            <a:r>
              <a:rPr dirty="0" sz="2950" spc="-155">
                <a:latin typeface="Arial MT"/>
                <a:cs typeface="Arial MT"/>
              </a:rPr>
              <a:t>must </a:t>
            </a:r>
            <a:r>
              <a:rPr dirty="0" sz="2950" spc="-215">
                <a:latin typeface="Arial MT"/>
                <a:cs typeface="Arial MT"/>
              </a:rPr>
              <a:t>have</a:t>
            </a:r>
            <a:r>
              <a:rPr dirty="0" sz="2950" spc="15">
                <a:latin typeface="Arial MT"/>
                <a:cs typeface="Arial MT"/>
              </a:rPr>
              <a:t> </a:t>
            </a:r>
            <a:r>
              <a:rPr dirty="0" sz="2950" spc="-60">
                <a:latin typeface="Arial MT"/>
                <a:cs typeface="Arial MT"/>
              </a:rPr>
              <a:t>brakes.“</a:t>
            </a:r>
            <a:endParaRPr sz="2950">
              <a:latin typeface="Arial MT"/>
              <a:cs typeface="Arial MT"/>
            </a:endParaRPr>
          </a:p>
          <a:p>
            <a:pPr marL="319405" indent="-306705">
              <a:lnSpc>
                <a:spcPct val="100000"/>
              </a:lnSpc>
              <a:spcBef>
                <a:spcPts val="210"/>
              </a:spcBef>
              <a:buClr>
                <a:srgbClr val="36597C"/>
              </a:buClr>
              <a:buChar char="•"/>
              <a:tabLst>
                <a:tab pos="319405" algn="l"/>
              </a:tabLst>
            </a:pPr>
            <a:r>
              <a:rPr dirty="0" sz="2850" spc="-90">
                <a:latin typeface="Arial MT"/>
                <a:cs typeface="Arial MT"/>
              </a:rPr>
              <a:t>Focus:</a:t>
            </a:r>
            <a:r>
              <a:rPr dirty="0" sz="2850" spc="-110">
                <a:latin typeface="Arial MT"/>
                <a:cs typeface="Arial MT"/>
              </a:rPr>
              <a:t> </a:t>
            </a:r>
            <a:r>
              <a:rPr dirty="0" sz="2850" spc="-125">
                <a:latin typeface="Arial MT"/>
                <a:cs typeface="Arial MT"/>
              </a:rPr>
              <a:t>Existence</a:t>
            </a:r>
            <a:r>
              <a:rPr dirty="0" sz="2850" spc="-7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of</a:t>
            </a:r>
            <a:r>
              <a:rPr dirty="0" sz="2850" spc="-85">
                <a:latin typeface="Arial MT"/>
                <a:cs typeface="Arial MT"/>
              </a:rPr>
              <a:t> </a:t>
            </a:r>
            <a:r>
              <a:rPr dirty="0" sz="2850" spc="-35">
                <a:latin typeface="Arial MT"/>
                <a:cs typeface="Arial MT"/>
              </a:rPr>
              <a:t>function.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48768" y="7894814"/>
            <a:ext cx="8239759" cy="8743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335">
              <a:lnSpc>
                <a:spcPts val="3320"/>
              </a:lnSpc>
              <a:spcBef>
                <a:spcPts val="135"/>
              </a:spcBef>
            </a:pPr>
            <a:r>
              <a:rPr dirty="0" sz="2950" spc="-310">
                <a:latin typeface="Arial MT"/>
                <a:cs typeface="Arial MT"/>
              </a:rPr>
              <a:t>FRD</a:t>
            </a:r>
            <a:r>
              <a:rPr dirty="0" sz="2950" spc="-85">
                <a:latin typeface="Arial MT"/>
                <a:cs typeface="Arial MT"/>
              </a:rPr>
              <a:t> </a:t>
            </a:r>
            <a:r>
              <a:rPr dirty="0" sz="2950" spc="-20">
                <a:latin typeface="Arial MT"/>
                <a:cs typeface="Arial MT"/>
              </a:rPr>
              <a:t>tells</a:t>
            </a:r>
            <a:r>
              <a:rPr dirty="0" sz="2950" spc="-19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the</a:t>
            </a:r>
            <a:r>
              <a:rPr dirty="0" sz="2950" spc="-204">
                <a:latin typeface="Arial MT"/>
                <a:cs typeface="Arial MT"/>
              </a:rPr>
              <a:t> </a:t>
            </a:r>
            <a:r>
              <a:rPr dirty="0" sz="2950" spc="-80">
                <a:latin typeface="Arial MT"/>
                <a:cs typeface="Arial MT"/>
              </a:rPr>
              <a:t>developer</a:t>
            </a:r>
            <a:r>
              <a:rPr dirty="0" sz="2950" spc="-105">
                <a:latin typeface="Arial MT"/>
                <a:cs typeface="Arial MT"/>
              </a:rPr>
              <a:t> </a:t>
            </a:r>
            <a:r>
              <a:rPr dirty="0" sz="2950" i="1">
                <a:latin typeface="Arial"/>
                <a:cs typeface="Arial"/>
              </a:rPr>
              <a:t>what</a:t>
            </a:r>
            <a:r>
              <a:rPr dirty="0" sz="2950" spc="-60" i="1">
                <a:latin typeface="Arial"/>
                <a:cs typeface="Arial"/>
              </a:rPr>
              <a:t> </a:t>
            </a:r>
            <a:r>
              <a:rPr dirty="0" sz="2950">
                <a:latin typeface="Arial MT"/>
                <a:cs typeface="Arial MT"/>
              </a:rPr>
              <a:t>to</a:t>
            </a:r>
            <a:r>
              <a:rPr dirty="0" sz="2950" spc="-185">
                <a:latin typeface="Arial MT"/>
                <a:cs typeface="Arial MT"/>
              </a:rPr>
              <a:t> </a:t>
            </a:r>
            <a:r>
              <a:rPr dirty="0" sz="2950" spc="-65">
                <a:latin typeface="Arial MT"/>
                <a:cs typeface="Arial MT"/>
              </a:rPr>
              <a:t>build.</a:t>
            </a:r>
            <a:r>
              <a:rPr dirty="0" sz="2950" spc="-170">
                <a:latin typeface="Arial MT"/>
                <a:cs typeface="Arial MT"/>
              </a:rPr>
              <a:t> </a:t>
            </a:r>
            <a:r>
              <a:rPr dirty="0" sz="2950" spc="-340">
                <a:latin typeface="Arial MT"/>
                <a:cs typeface="Arial MT"/>
              </a:rPr>
              <a:t>FRS</a:t>
            </a:r>
            <a:r>
              <a:rPr dirty="0" sz="2950" spc="-2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tells</a:t>
            </a:r>
            <a:r>
              <a:rPr dirty="0" sz="2950" spc="-90">
                <a:latin typeface="Arial MT"/>
                <a:cs typeface="Arial MT"/>
              </a:rPr>
              <a:t> </a:t>
            </a:r>
            <a:r>
              <a:rPr dirty="0" sz="2950" spc="-50">
                <a:latin typeface="Arial MT"/>
                <a:cs typeface="Arial MT"/>
              </a:rPr>
              <a:t>them</a:t>
            </a:r>
            <a:endParaRPr sz="2950">
              <a:latin typeface="Arial MT"/>
              <a:cs typeface="Arial MT"/>
            </a:endParaRPr>
          </a:p>
          <a:p>
            <a:pPr marL="12700">
              <a:lnSpc>
                <a:spcPts val="3320"/>
              </a:lnSpc>
            </a:pPr>
            <a:r>
              <a:rPr dirty="0" sz="2950" spc="-30" i="1">
                <a:latin typeface="Arial"/>
                <a:cs typeface="Arial"/>
              </a:rPr>
              <a:t>exactly</a:t>
            </a:r>
            <a:r>
              <a:rPr dirty="0" sz="2950" spc="-175" i="1">
                <a:latin typeface="Arial"/>
                <a:cs typeface="Arial"/>
              </a:rPr>
              <a:t> </a:t>
            </a:r>
            <a:r>
              <a:rPr dirty="0" sz="2950" spc="-30">
                <a:latin typeface="Arial MT"/>
                <a:cs typeface="Arial MT"/>
              </a:rPr>
              <a:t>how</a:t>
            </a:r>
            <a:r>
              <a:rPr dirty="0" sz="2950" spc="-60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it</a:t>
            </a:r>
            <a:r>
              <a:rPr dirty="0" sz="2950" spc="-140">
                <a:latin typeface="Arial MT"/>
                <a:cs typeface="Arial MT"/>
              </a:rPr>
              <a:t> </a:t>
            </a:r>
            <a:r>
              <a:rPr dirty="0" sz="2950" spc="-50">
                <a:latin typeface="Arial MT"/>
                <a:cs typeface="Arial MT"/>
              </a:rPr>
              <a:t>must</a:t>
            </a:r>
            <a:r>
              <a:rPr dirty="0" sz="2950" spc="-15">
                <a:latin typeface="Arial MT"/>
                <a:cs typeface="Arial MT"/>
              </a:rPr>
              <a:t> </a:t>
            </a:r>
            <a:r>
              <a:rPr dirty="0" sz="2950" spc="-120">
                <a:latin typeface="Arial MT"/>
                <a:cs typeface="Arial MT"/>
              </a:rPr>
              <a:t>behave</a:t>
            </a:r>
            <a:r>
              <a:rPr dirty="0" sz="2950" spc="-45">
                <a:latin typeface="Arial MT"/>
                <a:cs typeface="Arial MT"/>
              </a:rPr>
              <a:t> </a:t>
            </a:r>
            <a:r>
              <a:rPr dirty="0" sz="2950">
                <a:latin typeface="Arial MT"/>
                <a:cs typeface="Arial MT"/>
              </a:rPr>
              <a:t>to</a:t>
            </a:r>
            <a:r>
              <a:rPr dirty="0" sz="2950" spc="-204">
                <a:latin typeface="Arial MT"/>
                <a:cs typeface="Arial MT"/>
              </a:rPr>
              <a:t> </a:t>
            </a:r>
            <a:r>
              <a:rPr dirty="0" sz="2950" spc="-105">
                <a:latin typeface="Arial MT"/>
                <a:cs typeface="Arial MT"/>
              </a:rPr>
              <a:t>pass</a:t>
            </a:r>
            <a:r>
              <a:rPr dirty="0" sz="2950" spc="-100">
                <a:latin typeface="Arial MT"/>
                <a:cs typeface="Arial MT"/>
              </a:rPr>
              <a:t> </a:t>
            </a:r>
            <a:r>
              <a:rPr dirty="0" sz="2950" spc="-10">
                <a:latin typeface="Arial MT"/>
                <a:cs typeface="Arial MT"/>
              </a:rPr>
              <a:t>testing.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116681" y="4502502"/>
            <a:ext cx="21437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>
                <a:latin typeface="Arial MT"/>
                <a:cs typeface="Arial MT"/>
              </a:rPr>
              <a:t>30&lt;</a:t>
            </a:r>
            <a:r>
              <a:rPr dirty="0" sz="1600" spc="254">
                <a:latin typeface="Arial MT"/>
                <a:cs typeface="Arial MT"/>
              </a:rPr>
              <a:t> </a:t>
            </a:r>
            <a:r>
              <a:rPr dirty="0" sz="1600" spc="-265">
                <a:latin typeface="Arial MT"/>
                <a:cs typeface="Arial MT"/>
              </a:rPr>
              <a:t>STOPPING</a:t>
            </a:r>
            <a:r>
              <a:rPr dirty="0" sz="1600" spc="375">
                <a:latin typeface="Arial MT"/>
                <a:cs typeface="Arial MT"/>
              </a:rPr>
              <a:t> </a:t>
            </a:r>
            <a:r>
              <a:rPr dirty="0" sz="1600" spc="-265">
                <a:latin typeface="Arial MT"/>
                <a:cs typeface="Arial MT"/>
              </a:rPr>
              <a:t>0FSTAPCE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918779" y="3708047"/>
            <a:ext cx="73088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75">
                <a:latin typeface="Consolas"/>
                <a:cs typeface="Consolas"/>
              </a:rPr>
              <a:t>60mph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138717" y="4273902"/>
            <a:ext cx="610235" cy="487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9055">
              <a:lnSpc>
                <a:spcPts val="1785"/>
              </a:lnSpc>
              <a:spcBef>
                <a:spcPts val="95"/>
              </a:spcBef>
            </a:pPr>
            <a:r>
              <a:rPr dirty="0" sz="1600" spc="-365">
                <a:latin typeface="Arial MT"/>
                <a:cs typeface="Arial MT"/>
              </a:rPr>
              <a:t>FORCE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845"/>
              </a:lnSpc>
            </a:pPr>
            <a:r>
              <a:rPr dirty="0" sz="1650" spc="-310">
                <a:latin typeface="Arial MT"/>
                <a:cs typeface="Arial MT"/>
              </a:rPr>
              <a:t>¥ECT0R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584787" y="5156905"/>
            <a:ext cx="5405755" cy="2366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">
              <a:lnSpc>
                <a:spcPts val="5195"/>
              </a:lnSpc>
              <a:spcBef>
                <a:spcPts val="95"/>
              </a:spcBef>
            </a:pPr>
            <a:r>
              <a:rPr dirty="0" sz="4450" spc="-25">
                <a:solidFill>
                  <a:srgbClr val="051F33"/>
                </a:solidFill>
                <a:latin typeface="Cambria"/>
                <a:cs typeface="Cambria"/>
              </a:rPr>
              <a:t>FRS</a:t>
            </a:r>
            <a:endParaRPr sz="4450">
              <a:latin typeface="Cambria"/>
              <a:cs typeface="Cambria"/>
            </a:endParaRPr>
          </a:p>
          <a:p>
            <a:pPr marL="24765" marR="5080" indent="-2540">
              <a:lnSpc>
                <a:spcPct val="76800"/>
              </a:lnSpc>
              <a:spcBef>
                <a:spcPts val="745"/>
              </a:spcBef>
            </a:pPr>
            <a:r>
              <a:rPr dirty="0" sz="3200" spc="-280">
                <a:latin typeface="Arial MT"/>
                <a:cs typeface="Arial MT"/>
              </a:rPr>
              <a:t>The</a:t>
            </a:r>
            <a:r>
              <a:rPr dirty="0" sz="3200" spc="-320">
                <a:latin typeface="Arial MT"/>
                <a:cs typeface="Arial MT"/>
              </a:rPr>
              <a:t> </a:t>
            </a:r>
            <a:r>
              <a:rPr dirty="0" sz="3200" spc="-175">
                <a:latin typeface="Arial MT"/>
                <a:cs typeface="Arial MT"/>
              </a:rPr>
              <a:t>Logic:"The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305">
                <a:latin typeface="Arial MT"/>
                <a:cs typeface="Arial MT"/>
              </a:rPr>
              <a:t>brakes</a:t>
            </a:r>
            <a:r>
              <a:rPr dirty="0" sz="3200" spc="55">
                <a:latin typeface="Arial MT"/>
                <a:cs typeface="Arial MT"/>
              </a:rPr>
              <a:t> </a:t>
            </a:r>
            <a:r>
              <a:rPr dirty="0" sz="3200" spc="-335">
                <a:latin typeface="Arial MT"/>
                <a:cs typeface="Arial MT"/>
              </a:rPr>
              <a:t>must</a:t>
            </a:r>
            <a:r>
              <a:rPr dirty="0" sz="3200" spc="65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stop </a:t>
            </a:r>
            <a:r>
              <a:rPr dirty="0" sz="3200" spc="-204">
                <a:latin typeface="Arial MT"/>
                <a:cs typeface="Arial MT"/>
              </a:rPr>
              <a:t>the</a:t>
            </a:r>
            <a:r>
              <a:rPr dirty="0" sz="3200" spc="-210">
                <a:latin typeface="Arial MT"/>
                <a:cs typeface="Arial MT"/>
              </a:rPr>
              <a:t> </a:t>
            </a:r>
            <a:r>
              <a:rPr dirty="0" sz="3200" spc="-285">
                <a:latin typeface="Arial MT"/>
                <a:cs typeface="Arial MT"/>
              </a:rPr>
              <a:t>car</a:t>
            </a:r>
            <a:r>
              <a:rPr dirty="0" sz="3200" spc="55">
                <a:latin typeface="Arial MT"/>
                <a:cs typeface="Arial MT"/>
              </a:rPr>
              <a:t> </a:t>
            </a:r>
            <a:r>
              <a:rPr dirty="0" sz="3200" spc="-229">
                <a:latin typeface="Arial MT"/>
                <a:cs typeface="Arial MT"/>
              </a:rPr>
              <a:t>within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240">
                <a:latin typeface="Arial MT"/>
                <a:cs typeface="Arial MT"/>
              </a:rPr>
              <a:t>30</a:t>
            </a:r>
            <a:r>
              <a:rPr dirty="0" sz="3200" spc="-140">
                <a:latin typeface="Arial MT"/>
                <a:cs typeface="Arial MT"/>
              </a:rPr>
              <a:t> </a:t>
            </a:r>
            <a:r>
              <a:rPr dirty="0" sz="3200" spc="-295">
                <a:latin typeface="Arial MT"/>
                <a:cs typeface="Arial MT"/>
              </a:rPr>
              <a:t>meters</a:t>
            </a:r>
            <a:r>
              <a:rPr dirty="0" sz="3200" spc="20">
                <a:latin typeface="Arial MT"/>
                <a:cs typeface="Arial MT"/>
              </a:rPr>
              <a:t> </a:t>
            </a:r>
            <a:r>
              <a:rPr dirty="0" sz="3200" spc="-210">
                <a:latin typeface="Arial MT"/>
                <a:cs typeface="Arial MT"/>
              </a:rPr>
              <a:t>at</a:t>
            </a:r>
            <a:r>
              <a:rPr dirty="0" sz="3200" spc="-140">
                <a:latin typeface="Arial MT"/>
                <a:cs typeface="Arial MT"/>
              </a:rPr>
              <a:t> </a:t>
            </a:r>
            <a:r>
              <a:rPr dirty="0" sz="3200" spc="-295">
                <a:latin typeface="Arial MT"/>
                <a:cs typeface="Arial MT"/>
              </a:rPr>
              <a:t>60mph.”</a:t>
            </a:r>
            <a:endParaRPr sz="3200">
              <a:latin typeface="Arial MT"/>
              <a:cs typeface="Arial MT"/>
            </a:endParaRPr>
          </a:p>
          <a:p>
            <a:pPr marL="332105" indent="-319405">
              <a:lnSpc>
                <a:spcPts val="3240"/>
              </a:lnSpc>
              <a:spcBef>
                <a:spcPts val="110"/>
              </a:spcBef>
              <a:buClr>
                <a:srgbClr val="31546E"/>
              </a:buClr>
              <a:buChar char="•"/>
              <a:tabLst>
                <a:tab pos="332105" algn="l"/>
              </a:tabLst>
            </a:pPr>
            <a:r>
              <a:rPr dirty="0" sz="2900" spc="-135">
                <a:latin typeface="Arial MT"/>
                <a:cs typeface="Arial MT"/>
              </a:rPr>
              <a:t>Focus:</a:t>
            </a:r>
            <a:r>
              <a:rPr dirty="0" sz="2900" spc="-65">
                <a:latin typeface="Arial MT"/>
                <a:cs typeface="Arial MT"/>
              </a:rPr>
              <a:t> </a:t>
            </a:r>
            <a:r>
              <a:rPr dirty="0" sz="2900" spc="-100">
                <a:latin typeface="Arial MT"/>
                <a:cs typeface="Arial MT"/>
              </a:rPr>
              <a:t>Specific</a:t>
            </a:r>
            <a:r>
              <a:rPr dirty="0" sz="2900" spc="-95">
                <a:latin typeface="Arial MT"/>
                <a:cs typeface="Arial MT"/>
              </a:rPr>
              <a:t> </a:t>
            </a:r>
            <a:r>
              <a:rPr dirty="0" sz="2900" spc="-125">
                <a:latin typeface="Arial MT"/>
                <a:cs typeface="Arial MT"/>
              </a:rPr>
              <a:t>behavior</a:t>
            </a:r>
            <a:r>
              <a:rPr dirty="0" sz="2900" spc="5">
                <a:latin typeface="Arial MT"/>
                <a:cs typeface="Arial MT"/>
              </a:rPr>
              <a:t> </a:t>
            </a:r>
            <a:r>
              <a:rPr dirty="0" sz="2900" spc="-480">
                <a:latin typeface="Arial MT"/>
                <a:cs typeface="Arial MT"/>
              </a:rPr>
              <a:t>&amp;</a:t>
            </a:r>
            <a:endParaRPr sz="2900">
              <a:latin typeface="Arial MT"/>
              <a:cs typeface="Arial MT"/>
            </a:endParaRPr>
          </a:p>
          <a:p>
            <a:pPr marL="1440180">
              <a:lnSpc>
                <a:spcPts val="3240"/>
              </a:lnSpc>
            </a:pPr>
            <a:r>
              <a:rPr dirty="0" sz="2900" spc="-25">
                <a:latin typeface="Arial MT"/>
                <a:cs typeface="Arial MT"/>
              </a:rPr>
              <a:t>constraints.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00" y="9144000"/>
            <a:ext cx="1790700" cy="139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6807200"/>
            <a:ext cx="114300" cy="1905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9200" y="8001000"/>
            <a:ext cx="533400" cy="673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" y="482600"/>
            <a:ext cx="723900" cy="22606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98500" y="482600"/>
            <a:ext cx="3441700" cy="6096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560916" y="457200"/>
            <a:ext cx="0" cy="8873490"/>
          </a:xfrm>
          <a:custGeom>
            <a:avLst/>
            <a:gdLst/>
            <a:ahLst/>
            <a:cxnLst/>
            <a:rect l="l" t="t" r="r" b="b"/>
            <a:pathLst>
              <a:path w="0" h="8873490">
                <a:moveTo>
                  <a:pt x="0" y="8873067"/>
                </a:moveTo>
                <a:lnTo>
                  <a:pt x="0" y="0"/>
                </a:lnTo>
              </a:path>
            </a:pathLst>
          </a:custGeom>
          <a:ln w="21166">
            <a:solidFill>
              <a:srgbClr val="3B443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550333" y="457200"/>
            <a:ext cx="16645890" cy="8873490"/>
            <a:chOff x="550333" y="457200"/>
            <a:chExt cx="16645890" cy="8873490"/>
          </a:xfrm>
        </p:grpSpPr>
        <p:sp>
          <p:nvSpPr>
            <p:cNvPr id="9" name="object 9" descr=""/>
            <p:cNvSpPr/>
            <p:nvPr/>
          </p:nvSpPr>
          <p:spPr>
            <a:xfrm>
              <a:off x="17185212" y="457200"/>
              <a:ext cx="0" cy="8873490"/>
            </a:xfrm>
            <a:custGeom>
              <a:avLst/>
              <a:gdLst/>
              <a:ahLst/>
              <a:cxnLst/>
              <a:rect l="l" t="t" r="r" b="b"/>
              <a:pathLst>
                <a:path w="0" h="8873490">
                  <a:moveTo>
                    <a:pt x="0" y="8873067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B44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50333" y="467783"/>
              <a:ext cx="16645890" cy="0"/>
            </a:xfrm>
            <a:custGeom>
              <a:avLst/>
              <a:gdLst/>
              <a:ahLst/>
              <a:cxnLst/>
              <a:rect l="l" t="t" r="r" b="b"/>
              <a:pathLst>
                <a:path w="16645890" h="0">
                  <a:moveTo>
                    <a:pt x="0" y="0"/>
                  </a:moveTo>
                  <a:lnTo>
                    <a:pt x="16645467" y="0"/>
                  </a:lnTo>
                </a:path>
              </a:pathLst>
            </a:custGeom>
            <a:ln w="21166">
              <a:solidFill>
                <a:srgbClr val="3B44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50333" y="9319683"/>
              <a:ext cx="16315690" cy="0"/>
            </a:xfrm>
            <a:custGeom>
              <a:avLst/>
              <a:gdLst/>
              <a:ahLst/>
              <a:cxnLst/>
              <a:rect l="l" t="t" r="r" b="b"/>
              <a:pathLst>
                <a:path w="16315690" h="0">
                  <a:moveTo>
                    <a:pt x="0" y="0"/>
                  </a:moveTo>
                  <a:lnTo>
                    <a:pt x="16315267" y="0"/>
                  </a:lnTo>
                </a:path>
              </a:pathLst>
            </a:custGeom>
            <a:ln w="21166">
              <a:solidFill>
                <a:srgbClr val="3B44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4200" y="9474200"/>
            <a:ext cx="25400" cy="1651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0549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dirty="0" sz="7500" spc="-220">
                <a:solidFill>
                  <a:srgbClr val="0F1F36"/>
                </a:solidFill>
                <a:latin typeface="Calibri"/>
                <a:cs typeface="Calibri"/>
              </a:rPr>
              <a:t>At</a:t>
            </a:r>
            <a:r>
              <a:rPr dirty="0" sz="7500" spc="-440">
                <a:solidFill>
                  <a:srgbClr val="0F1F36"/>
                </a:solidFill>
                <a:latin typeface="Calibri"/>
                <a:cs typeface="Calibri"/>
              </a:rPr>
              <a:t> </a:t>
            </a:r>
            <a:r>
              <a:rPr dirty="0" sz="7500" spc="175">
                <a:solidFill>
                  <a:srgbClr val="0F243A"/>
                </a:solidFill>
                <a:latin typeface="Calibri"/>
                <a:cs typeface="Calibri"/>
              </a:rPr>
              <a:t>a</a:t>
            </a:r>
            <a:r>
              <a:rPr dirty="0" sz="7500" spc="-565">
                <a:solidFill>
                  <a:srgbClr val="0F243A"/>
                </a:solidFill>
                <a:latin typeface="Calibri"/>
                <a:cs typeface="Calibri"/>
              </a:rPr>
              <a:t> </a:t>
            </a:r>
            <a:r>
              <a:rPr dirty="0" sz="7500" spc="-160">
                <a:solidFill>
                  <a:srgbClr val="0F263D"/>
                </a:solidFill>
                <a:latin typeface="Calibri"/>
                <a:cs typeface="Calibri"/>
              </a:rPr>
              <a:t>Glance:</a:t>
            </a:r>
            <a:r>
              <a:rPr dirty="0" sz="7500" spc="-40">
                <a:solidFill>
                  <a:srgbClr val="0F263D"/>
                </a:solidFill>
                <a:latin typeface="Calibri"/>
                <a:cs typeface="Calibri"/>
              </a:rPr>
              <a:t> </a:t>
            </a:r>
            <a:r>
              <a:rPr dirty="0" sz="7500" spc="-160">
                <a:solidFill>
                  <a:srgbClr val="0C263B"/>
                </a:solidFill>
                <a:latin typeface="Calibri"/>
                <a:cs typeface="Calibri"/>
              </a:rPr>
              <a:t>The</a:t>
            </a:r>
            <a:r>
              <a:rPr dirty="0" sz="7500" spc="-540">
                <a:solidFill>
                  <a:srgbClr val="0C263B"/>
                </a:solidFill>
                <a:latin typeface="Calibri"/>
                <a:cs typeface="Calibri"/>
              </a:rPr>
              <a:t> </a:t>
            </a:r>
            <a:r>
              <a:rPr dirty="0" sz="7500" spc="-300">
                <a:solidFill>
                  <a:srgbClr val="1D1D1D"/>
                </a:solidFill>
                <a:latin typeface="Calibri"/>
                <a:cs typeface="Calibri"/>
              </a:rPr>
              <a:t>Documentation</a:t>
            </a:r>
            <a:r>
              <a:rPr dirty="0" sz="7500" spc="145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7500" spc="-285">
                <a:solidFill>
                  <a:srgbClr val="0C1F34"/>
                </a:solidFill>
                <a:latin typeface="Calibri"/>
                <a:cs typeface="Calibri"/>
              </a:rPr>
              <a:t>Matrix</a:t>
            </a:r>
            <a:endParaRPr sz="7500">
              <a:latin typeface="Calibri"/>
              <a:cs typeface="Calibri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1109133" y="2451100"/>
          <a:ext cx="15274290" cy="6259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5955"/>
                <a:gridCol w="4381500"/>
                <a:gridCol w="4017645"/>
                <a:gridCol w="3581400"/>
              </a:tblGrid>
              <a:tr h="1032510">
                <a:tc>
                  <a:txBody>
                    <a:bodyPr/>
                    <a:lstStyle/>
                    <a:p>
                      <a:pPr marL="57150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4650" spc="-10">
                          <a:latin typeface="Calibri"/>
                          <a:cs typeface="Calibri"/>
                        </a:rPr>
                        <a:t>Acronym</a:t>
                      </a:r>
                      <a:endParaRPr sz="46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4650" spc="-70">
                          <a:latin typeface="Calibri"/>
                          <a:cs typeface="Calibri"/>
                        </a:rPr>
                        <a:t>Simple</a:t>
                      </a:r>
                      <a:r>
                        <a:rPr dirty="0" sz="4650" spc="-229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650" spc="-10">
                          <a:latin typeface="Calibri"/>
                          <a:cs typeface="Calibri"/>
                        </a:rPr>
                        <a:t>Meaning</a:t>
                      </a:r>
                      <a:endParaRPr sz="46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4650" spc="-1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4650" spc="-2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650" spc="-10">
                          <a:latin typeface="Calibri"/>
                          <a:cs typeface="Calibri"/>
                        </a:rPr>
                        <a:t>Question</a:t>
                      </a:r>
                      <a:endParaRPr sz="46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4650" spc="-10">
                          <a:latin typeface="Calibri"/>
                          <a:cs typeface="Calibri"/>
                        </a:rPr>
                        <a:t>Audience</a:t>
                      </a:r>
                      <a:endParaRPr sz="46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</a:tr>
              <a:tr h="1041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4200" spc="-25">
                          <a:latin typeface="Calibri"/>
                          <a:cs typeface="Calibri"/>
                        </a:rPr>
                        <a:t>BRD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4200" spc="-110">
                          <a:latin typeface="Calibri"/>
                          <a:cs typeface="Calibri"/>
                        </a:rPr>
                        <a:t>Business</a:t>
                      </a:r>
                      <a:r>
                        <a:rPr dirty="0" sz="42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20">
                          <a:latin typeface="Calibri"/>
                          <a:cs typeface="Calibri"/>
                        </a:rPr>
                        <a:t>Need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6034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4200" spc="-345">
                          <a:latin typeface="Calibri"/>
                          <a:cs typeface="Calibri"/>
                        </a:rPr>
                        <a:t>Why?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302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4200" spc="-90">
                          <a:latin typeface="Calibri"/>
                          <a:cs typeface="Calibri"/>
                        </a:rPr>
                        <a:t>Business</a:t>
                      </a:r>
                      <a:r>
                        <a:rPr dirty="0" sz="42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54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420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380">
                          <a:latin typeface="Calibri"/>
                          <a:cs typeface="Calibri"/>
                        </a:rPr>
                        <a:t>PM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</a:tr>
              <a:tr h="1041400">
                <a:tc>
                  <a:txBody>
                    <a:bodyPr/>
                    <a:lstStyle/>
                    <a:p>
                      <a:pPr algn="ctr" marR="9017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 spc="-300">
                          <a:latin typeface="Calibri"/>
                          <a:cs typeface="Calibri"/>
                        </a:rPr>
                        <a:t>FRD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081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 spc="-114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415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150" spc="-45">
                          <a:latin typeface="Calibri"/>
                          <a:cs typeface="Calibri"/>
                        </a:rPr>
                        <a:t>Features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 spc="-310">
                          <a:latin typeface="Calibri"/>
                          <a:cs typeface="Calibri"/>
                        </a:rPr>
                        <a:t>What?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>
                          <a:latin typeface="Calibri"/>
                          <a:cs typeface="Calibri"/>
                        </a:rPr>
                        <a:t>BA</a:t>
                      </a:r>
                      <a:r>
                        <a:rPr dirty="0" sz="415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150" spc="-515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415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150" spc="-50">
                          <a:latin typeface="Calibri"/>
                          <a:cs typeface="Calibri"/>
                        </a:rPr>
                        <a:t>Dev</a:t>
                      </a:r>
                      <a:r>
                        <a:rPr dirty="0" sz="4150" spc="-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150" spc="-625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41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150" spc="-370">
                          <a:latin typeface="Calibri"/>
                          <a:cs typeface="Calibri"/>
                        </a:rPr>
                        <a:t>QA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algn="ctr" marR="13525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dirty="0" sz="4200" spc="-300">
                          <a:latin typeface="Calibri"/>
                          <a:cs typeface="Calibri"/>
                        </a:rPr>
                        <a:t>FRS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498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02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4200" spc="-200">
                          <a:latin typeface="Calibri"/>
                          <a:cs typeface="Calibri"/>
                        </a:rPr>
                        <a:t>Detailed</a:t>
                      </a:r>
                      <a:r>
                        <a:rPr dirty="0" sz="4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65">
                          <a:latin typeface="Calibri"/>
                          <a:cs typeface="Calibri"/>
                        </a:rPr>
                        <a:t>Functions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4200" spc="-360">
                          <a:latin typeface="Calibri"/>
                          <a:cs typeface="Calibri"/>
                        </a:rPr>
                        <a:t>What</a:t>
                      </a:r>
                      <a:r>
                        <a:rPr dirty="0" sz="420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10">
                          <a:latin typeface="Calibri"/>
                          <a:cs typeface="Calibri"/>
                        </a:rPr>
                        <a:t>Exactly?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4200" spc="-100">
                          <a:latin typeface="Calibri"/>
                          <a:cs typeface="Calibri"/>
                        </a:rPr>
                        <a:t>Dev</a:t>
                      </a:r>
                      <a:r>
                        <a:rPr dirty="0" sz="42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65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42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400">
                          <a:latin typeface="Calibri"/>
                          <a:cs typeface="Calibri"/>
                        </a:rPr>
                        <a:t>QA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</a:tr>
              <a:tr h="1045210">
                <a:tc>
                  <a:txBody>
                    <a:bodyPr/>
                    <a:lstStyle/>
                    <a:p>
                      <a:pPr algn="ctr" marR="1409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4200" spc="-320">
                          <a:latin typeface="Calibri"/>
                          <a:cs typeface="Calibri"/>
                        </a:rPr>
                        <a:t>SRS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62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98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4200" spc="-185">
                          <a:latin typeface="Calibri"/>
                          <a:cs typeface="Calibri"/>
                        </a:rPr>
                        <a:t>Software</a:t>
                      </a:r>
                      <a:r>
                        <a:rPr dirty="0" sz="4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10">
                          <a:latin typeface="Calibri"/>
                          <a:cs typeface="Calibri"/>
                        </a:rPr>
                        <a:t>Rules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62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4200" spc="-320">
                          <a:latin typeface="Calibri"/>
                          <a:cs typeface="Calibri"/>
                        </a:rPr>
                        <a:t>How</a:t>
                      </a:r>
                      <a:r>
                        <a:rPr dirty="0" sz="4200" spc="1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105">
                          <a:latin typeface="Calibri"/>
                          <a:cs typeface="Calibri"/>
                        </a:rPr>
                        <a:t>(Technical)?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62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4200" spc="-145">
                          <a:latin typeface="Calibri"/>
                          <a:cs typeface="Calibri"/>
                        </a:rPr>
                        <a:t>Dev</a:t>
                      </a:r>
                      <a:r>
                        <a:rPr dirty="0" sz="42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54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4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200" spc="-80">
                          <a:latin typeface="Calibri"/>
                          <a:cs typeface="Calibri"/>
                        </a:rPr>
                        <a:t>Architect</a:t>
                      </a:r>
                      <a:endParaRPr sz="4200">
                        <a:latin typeface="Calibri"/>
                        <a:cs typeface="Calibri"/>
                      </a:endParaRPr>
                    </a:p>
                  </a:txBody>
                  <a:tcPr marL="0" marR="0" marB="0" marT="116205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algn="ctr" marR="11430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 spc="-285">
                          <a:latin typeface="Calibri"/>
                          <a:cs typeface="Calibri"/>
                        </a:rPr>
                        <a:t>SAD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9539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 spc="-95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415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150" spc="-10">
                          <a:latin typeface="Calibri"/>
                          <a:cs typeface="Calibri"/>
                        </a:rPr>
                        <a:t>Design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 spc="-265">
                          <a:latin typeface="Calibri"/>
                          <a:cs typeface="Calibri"/>
                        </a:rPr>
                        <a:t>How</a:t>
                      </a:r>
                      <a:r>
                        <a:rPr dirty="0" sz="415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4150" spc="-60">
                          <a:latin typeface="Calibri"/>
                          <a:cs typeface="Calibri"/>
                        </a:rPr>
                        <a:t>(Connects)?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dirty="0" sz="4150" spc="-70">
                          <a:latin typeface="Calibri"/>
                          <a:cs typeface="Calibri"/>
                        </a:rPr>
                        <a:t>Architect</a:t>
                      </a:r>
                      <a:endParaRPr sz="415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233438"/>
                      </a:solidFill>
                      <a:prstDash val="solid"/>
                    </a:lnL>
                    <a:lnR w="28575">
                      <a:solidFill>
                        <a:srgbClr val="233438"/>
                      </a:solidFill>
                      <a:prstDash val="solid"/>
                    </a:lnR>
                    <a:lnT w="28575">
                      <a:solidFill>
                        <a:srgbClr val="233438"/>
                      </a:solidFill>
                      <a:prstDash val="solid"/>
                    </a:lnT>
                    <a:lnB w="28575">
                      <a:solidFill>
                        <a:srgbClr val="23343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 descr=""/>
          <p:cNvSpPr txBox="1"/>
          <p:nvPr/>
        </p:nvSpPr>
        <p:spPr>
          <a:xfrm>
            <a:off x="16107677" y="9413522"/>
            <a:ext cx="12325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05">
                <a:latin typeface="Calibri"/>
                <a:cs typeface="Calibri"/>
              </a:rPr>
              <a:t>  </a:t>
            </a:r>
            <a:r>
              <a:rPr dirty="0" sz="1500" spc="-50">
                <a:latin typeface="Calibri"/>
                <a:cs typeface="Calibri"/>
              </a:rPr>
              <a:t>hJotebookLM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27000"/>
            <a:ext cx="17018000" cy="9283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200" y="9486900"/>
            <a:ext cx="25400" cy="1524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627008" y="688622"/>
            <a:ext cx="10177780" cy="1591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250" spc="-300">
                <a:solidFill>
                  <a:srgbClr val="0C2442"/>
                </a:solidFill>
                <a:latin typeface="Arial MT"/>
                <a:cs typeface="Arial MT"/>
              </a:rPr>
              <a:t>The</a:t>
            </a:r>
            <a:r>
              <a:rPr dirty="0" sz="10250" spc="-795">
                <a:solidFill>
                  <a:srgbClr val="0C2442"/>
                </a:solidFill>
                <a:latin typeface="Arial MT"/>
                <a:cs typeface="Arial MT"/>
              </a:rPr>
              <a:t> </a:t>
            </a:r>
            <a:r>
              <a:rPr dirty="0" sz="10250" spc="-55">
                <a:solidFill>
                  <a:srgbClr val="0C213B"/>
                </a:solidFill>
                <a:latin typeface="Arial MT"/>
                <a:cs typeface="Arial MT"/>
              </a:rPr>
              <a:t>Memory</a:t>
            </a:r>
            <a:r>
              <a:rPr dirty="0" sz="10250" spc="-605">
                <a:solidFill>
                  <a:srgbClr val="0C213B"/>
                </a:solidFill>
                <a:latin typeface="Arial MT"/>
                <a:cs typeface="Arial MT"/>
              </a:rPr>
              <a:t> </a:t>
            </a:r>
            <a:r>
              <a:rPr dirty="0" sz="10250" spc="-10">
                <a:solidFill>
                  <a:srgbClr val="0A1D36"/>
                </a:solidFill>
                <a:latin typeface="Arial MT"/>
                <a:cs typeface="Arial MT"/>
              </a:rPr>
              <a:t>Trick</a:t>
            </a:r>
            <a:endParaRPr sz="102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43742" y="2299052"/>
            <a:ext cx="7096759" cy="284289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060"/>
              </a:lnSpc>
              <a:spcBef>
                <a:spcPts val="95"/>
              </a:spcBef>
            </a:pPr>
            <a:r>
              <a:rPr dirty="0" sz="10350" spc="-955">
                <a:solidFill>
                  <a:srgbClr val="081F3B"/>
                </a:solidFill>
              </a:rPr>
              <a:t>BRD</a:t>
            </a:r>
            <a:r>
              <a:rPr dirty="0" sz="10350" spc="-725">
                <a:solidFill>
                  <a:srgbClr val="081F3B"/>
                </a:solidFill>
              </a:rPr>
              <a:t> </a:t>
            </a:r>
            <a:r>
              <a:rPr dirty="0" sz="10350" spc="-670">
                <a:solidFill>
                  <a:srgbClr val="01132B"/>
                </a:solidFill>
              </a:rPr>
              <a:t>=</a:t>
            </a:r>
            <a:r>
              <a:rPr dirty="0" sz="10350" spc="-650">
                <a:solidFill>
                  <a:srgbClr val="01132B"/>
                </a:solidFill>
              </a:rPr>
              <a:t> </a:t>
            </a:r>
            <a:r>
              <a:rPr dirty="0" sz="10350" spc="-925">
                <a:solidFill>
                  <a:srgbClr val="FF4F03"/>
                </a:solidFill>
              </a:rPr>
              <a:t>WHY</a:t>
            </a:r>
            <a:endParaRPr sz="10350"/>
          </a:p>
          <a:p>
            <a:pPr marL="101600">
              <a:lnSpc>
                <a:spcPts val="11120"/>
              </a:lnSpc>
            </a:pPr>
            <a:r>
              <a:rPr dirty="0" sz="10400" spc="-1005">
                <a:solidFill>
                  <a:srgbClr val="0A1D36"/>
                </a:solidFill>
              </a:rPr>
              <a:t>FRD</a:t>
            </a:r>
            <a:r>
              <a:rPr dirty="0" sz="10400" spc="-620">
                <a:solidFill>
                  <a:srgbClr val="0A1D36"/>
                </a:solidFill>
              </a:rPr>
              <a:t> </a:t>
            </a:r>
            <a:r>
              <a:rPr dirty="0" sz="10400" spc="-670">
                <a:solidFill>
                  <a:srgbClr val="0A1F3F"/>
                </a:solidFill>
              </a:rPr>
              <a:t>=</a:t>
            </a:r>
            <a:r>
              <a:rPr dirty="0" sz="10400" spc="-650">
                <a:solidFill>
                  <a:srgbClr val="0A1F3F"/>
                </a:solidFill>
              </a:rPr>
              <a:t> </a:t>
            </a:r>
            <a:r>
              <a:rPr dirty="0" sz="10400" spc="-1025">
                <a:solidFill>
                  <a:srgbClr val="F94D01"/>
                </a:solidFill>
              </a:rPr>
              <a:t>WHAT</a:t>
            </a:r>
            <a:endParaRPr sz="10400"/>
          </a:p>
        </p:txBody>
      </p:sp>
      <p:sp>
        <p:nvSpPr>
          <p:cNvPr id="6" name="object 6" descr=""/>
          <p:cNvSpPr txBox="1"/>
          <p:nvPr/>
        </p:nvSpPr>
        <p:spPr>
          <a:xfrm>
            <a:off x="2418260" y="4797072"/>
            <a:ext cx="13582015" cy="4053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9705">
              <a:lnSpc>
                <a:spcPts val="11100"/>
              </a:lnSpc>
              <a:spcBef>
                <a:spcPts val="125"/>
              </a:spcBef>
              <a:tabLst>
                <a:tab pos="7767955" algn="l"/>
              </a:tabLst>
            </a:pPr>
            <a:r>
              <a:rPr dirty="0" sz="10250" spc="-520">
                <a:solidFill>
                  <a:srgbClr val="0A1F3A"/>
                </a:solidFill>
                <a:latin typeface="Arial MT"/>
                <a:cs typeface="Arial MT"/>
              </a:rPr>
              <a:t>FR</a:t>
            </a:r>
            <a:r>
              <a:rPr dirty="0" sz="10250" spc="-520">
                <a:solidFill>
                  <a:srgbClr val="0A1F3A"/>
                </a:solidFill>
                <a:latin typeface="Arial MT"/>
                <a:cs typeface="Arial MT"/>
              </a:rPr>
              <a:t>S</a:t>
            </a:r>
            <a:r>
              <a:rPr dirty="0" sz="10250" spc="-1585">
                <a:solidFill>
                  <a:srgbClr val="0A1F3A"/>
                </a:solidFill>
                <a:latin typeface="Arial MT"/>
                <a:cs typeface="Arial MT"/>
              </a:rPr>
              <a:t> </a:t>
            </a:r>
            <a:r>
              <a:rPr dirty="0" sz="10250" spc="-540">
                <a:solidFill>
                  <a:srgbClr val="081C38"/>
                </a:solidFill>
                <a:latin typeface="Arial MT"/>
                <a:cs typeface="Arial MT"/>
              </a:rPr>
              <a:t>=</a:t>
            </a:r>
            <a:r>
              <a:rPr dirty="0" sz="10250" spc="-755">
                <a:solidFill>
                  <a:srgbClr val="081C38"/>
                </a:solidFill>
                <a:latin typeface="Arial MT"/>
                <a:cs typeface="Arial MT"/>
              </a:rPr>
              <a:t> </a:t>
            </a:r>
            <a:r>
              <a:rPr dirty="0" sz="10250" spc="-860">
                <a:solidFill>
                  <a:srgbClr val="FF4D01"/>
                </a:solidFill>
                <a:latin typeface="Arial MT"/>
                <a:cs typeface="Arial MT"/>
              </a:rPr>
              <a:t>WHAT</a:t>
            </a:r>
            <a:r>
              <a:rPr dirty="0" sz="10250">
                <a:solidFill>
                  <a:srgbClr val="FF4D01"/>
                </a:solidFill>
                <a:latin typeface="Arial MT"/>
                <a:cs typeface="Arial MT"/>
              </a:rPr>
              <a:t>	</a:t>
            </a:r>
            <a:r>
              <a:rPr dirty="0" sz="10250" spc="-540">
                <a:solidFill>
                  <a:srgbClr val="FD4D01"/>
                </a:solidFill>
                <a:latin typeface="Arial MT"/>
                <a:cs typeface="Arial MT"/>
              </a:rPr>
              <a:t>Detail</a:t>
            </a:r>
            <a:endParaRPr sz="10250">
              <a:latin typeface="Arial MT"/>
              <a:cs typeface="Arial MT"/>
            </a:endParaRPr>
          </a:p>
          <a:p>
            <a:pPr marL="114300">
              <a:lnSpc>
                <a:spcPts val="9635"/>
              </a:lnSpc>
            </a:pPr>
            <a:r>
              <a:rPr dirty="0" sz="10100" spc="-700">
                <a:solidFill>
                  <a:srgbClr val="0A1F3B"/>
                </a:solidFill>
                <a:latin typeface="Arial MT"/>
                <a:cs typeface="Arial MT"/>
              </a:rPr>
              <a:t>SRS</a:t>
            </a:r>
            <a:r>
              <a:rPr dirty="0" sz="10100" spc="-760">
                <a:solidFill>
                  <a:srgbClr val="0A1F3B"/>
                </a:solidFill>
                <a:latin typeface="Arial MT"/>
                <a:cs typeface="Arial MT"/>
              </a:rPr>
              <a:t> </a:t>
            </a:r>
            <a:r>
              <a:rPr dirty="0" sz="10100" spc="-475">
                <a:solidFill>
                  <a:srgbClr val="0A2141"/>
                </a:solidFill>
                <a:latin typeface="Arial MT"/>
                <a:cs typeface="Arial MT"/>
              </a:rPr>
              <a:t>=</a:t>
            </a:r>
            <a:r>
              <a:rPr dirty="0" sz="10100" spc="-900">
                <a:solidFill>
                  <a:srgbClr val="0A2141"/>
                </a:solidFill>
                <a:latin typeface="Arial MT"/>
                <a:cs typeface="Arial MT"/>
              </a:rPr>
              <a:t> </a:t>
            </a:r>
            <a:r>
              <a:rPr dirty="0" sz="10100" spc="-555">
                <a:solidFill>
                  <a:srgbClr val="FD4900"/>
                </a:solidFill>
                <a:latin typeface="Arial MT"/>
                <a:cs typeface="Arial MT"/>
              </a:rPr>
              <a:t>HOW(Ruies</a:t>
            </a:r>
            <a:endParaRPr sz="10100">
              <a:latin typeface="Arial MT"/>
              <a:cs typeface="Arial MT"/>
            </a:endParaRPr>
          </a:p>
          <a:p>
            <a:pPr marL="12700">
              <a:lnSpc>
                <a:spcPts val="10955"/>
              </a:lnSpc>
            </a:pPr>
            <a:r>
              <a:rPr dirty="0" sz="10200" spc="-495">
                <a:solidFill>
                  <a:srgbClr val="0E233D"/>
                </a:solidFill>
                <a:latin typeface="Arial MT"/>
                <a:cs typeface="Arial MT"/>
              </a:rPr>
              <a:t>SAD</a:t>
            </a:r>
            <a:r>
              <a:rPr dirty="0" sz="10200" spc="-760">
                <a:solidFill>
                  <a:srgbClr val="0E233D"/>
                </a:solidFill>
                <a:latin typeface="Arial MT"/>
                <a:cs typeface="Arial MT"/>
              </a:rPr>
              <a:t> </a:t>
            </a:r>
            <a:r>
              <a:rPr dirty="0" sz="10200" spc="-600">
                <a:solidFill>
                  <a:srgbClr val="081C38"/>
                </a:solidFill>
                <a:latin typeface="Arial MT"/>
                <a:cs typeface="Arial MT"/>
              </a:rPr>
              <a:t>=</a:t>
            </a:r>
            <a:r>
              <a:rPr dirty="0" sz="10200" spc="-905">
                <a:solidFill>
                  <a:srgbClr val="081C38"/>
                </a:solidFill>
                <a:latin typeface="Arial MT"/>
                <a:cs typeface="Arial MT"/>
              </a:rPr>
              <a:t> </a:t>
            </a:r>
            <a:r>
              <a:rPr dirty="0" sz="10200" spc="-330">
                <a:solidFill>
                  <a:srgbClr val="F94901"/>
                </a:solidFill>
                <a:latin typeface="Arial MT"/>
                <a:cs typeface="Arial MT"/>
              </a:rPr>
              <a:t>HOW(Architecture</a:t>
            </a:r>
            <a:endParaRPr sz="10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106444" y="9422341"/>
            <a:ext cx="123444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Arial MT"/>
                <a:cs typeface="Arial MT"/>
              </a:rPr>
              <a:t>G</a:t>
            </a:r>
            <a:r>
              <a:rPr dirty="0" sz="1450" spc="320">
                <a:latin typeface="Arial MT"/>
                <a:cs typeface="Arial MT"/>
              </a:rPr>
              <a:t> </a:t>
            </a:r>
            <a:r>
              <a:rPr dirty="0" sz="1450" spc="-95">
                <a:latin typeface="Arial MT"/>
                <a:cs typeface="Arial MT"/>
              </a:rPr>
              <a:t>Nc•tebookLM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1866900"/>
            <a:ext cx="14351000" cy="6629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16300" y="8394700"/>
            <a:ext cx="1231900" cy="12319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6916400" y="505883"/>
            <a:ext cx="423545" cy="0"/>
          </a:xfrm>
          <a:custGeom>
            <a:avLst/>
            <a:gdLst/>
            <a:ahLst/>
            <a:cxnLst/>
            <a:rect l="l" t="t" r="r" b="b"/>
            <a:pathLst>
              <a:path w="423544" h="0">
                <a:moveTo>
                  <a:pt x="0" y="0"/>
                </a:moveTo>
                <a:lnTo>
                  <a:pt x="423333" y="0"/>
                </a:lnTo>
              </a:path>
            </a:pathLst>
          </a:custGeom>
          <a:ln w="29633">
            <a:solidFill>
              <a:srgbClr val="77778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94900" y="2997200"/>
            <a:ext cx="1816100" cy="9779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1869" rIns="0" bIns="0" rtlCol="0" vert="horz">
            <a:spAutoFit/>
          </a:bodyPr>
          <a:lstStyle/>
          <a:p>
            <a:pPr marL="836930">
              <a:lnSpc>
                <a:spcPct val="100000"/>
              </a:lnSpc>
              <a:spcBef>
                <a:spcPts val="95"/>
              </a:spcBef>
            </a:pPr>
            <a:r>
              <a:rPr dirty="0" spc="-180">
                <a:solidFill>
                  <a:srgbClr val="051A49"/>
                </a:solidFill>
              </a:rPr>
              <a:t>Great</a:t>
            </a:r>
            <a:r>
              <a:rPr dirty="0" spc="-220">
                <a:solidFill>
                  <a:srgbClr val="051A49"/>
                </a:solidFill>
              </a:rPr>
              <a:t> </a:t>
            </a:r>
            <a:r>
              <a:rPr dirty="0" spc="-30"/>
              <a:t>Documentation</a:t>
            </a:r>
            <a:r>
              <a:rPr dirty="0" spc="-229"/>
              <a:t> </a:t>
            </a:r>
            <a:r>
              <a:rPr dirty="0" spc="-75">
                <a:solidFill>
                  <a:srgbClr val="03133B"/>
                </a:solidFill>
              </a:rPr>
              <a:t>Builds</a:t>
            </a:r>
            <a:r>
              <a:rPr dirty="0" spc="-325">
                <a:solidFill>
                  <a:srgbClr val="03133B"/>
                </a:solidFill>
              </a:rPr>
              <a:t> </a:t>
            </a:r>
            <a:r>
              <a:rPr dirty="0" spc="-210">
                <a:solidFill>
                  <a:srgbClr val="051644"/>
                </a:solidFill>
              </a:rPr>
              <a:t>Great</a:t>
            </a:r>
            <a:r>
              <a:rPr dirty="0" spc="-190">
                <a:solidFill>
                  <a:srgbClr val="051644"/>
                </a:solidFill>
              </a:rPr>
              <a:t> </a:t>
            </a:r>
            <a:r>
              <a:rPr dirty="0" spc="-10">
                <a:solidFill>
                  <a:srgbClr val="051642"/>
                </a:solidFill>
              </a:rPr>
              <a:t>Products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447102" y="3793419"/>
            <a:ext cx="553085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50" spc="-335">
                <a:solidFill>
                  <a:srgbClr val="97CD4B"/>
                </a:solidFill>
                <a:latin typeface="Arial MT"/>
                <a:cs typeface="Arial MT"/>
              </a:rPr>
              <a:t>›*?'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22102" y="7067197"/>
            <a:ext cx="14186535" cy="235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6370">
              <a:lnSpc>
                <a:spcPts val="3965"/>
              </a:lnSpc>
              <a:spcBef>
                <a:spcPts val="100"/>
              </a:spcBef>
            </a:pPr>
            <a:r>
              <a:rPr dirty="0" sz="3400" spc="-95">
                <a:solidFill>
                  <a:srgbClr val="070C2B"/>
                </a:solidFill>
                <a:latin typeface="Arial MT"/>
                <a:cs typeface="Arial MT"/>
              </a:rPr>
              <a:t>You</a:t>
            </a:r>
            <a:r>
              <a:rPr dirty="0" sz="3400" spc="155">
                <a:solidFill>
                  <a:srgbClr val="070C2B"/>
                </a:solidFill>
                <a:latin typeface="Arial MT"/>
                <a:cs typeface="Arial MT"/>
              </a:rPr>
              <a:t> </a:t>
            </a:r>
            <a:r>
              <a:rPr dirty="0" sz="3400">
                <a:solidFill>
                  <a:srgbClr val="05113B"/>
                </a:solidFill>
                <a:latin typeface="Arial MT"/>
                <a:cs typeface="Arial MT"/>
              </a:rPr>
              <a:t>wouldn't</a:t>
            </a:r>
            <a:r>
              <a:rPr dirty="0" sz="3400" spc="245">
                <a:solidFill>
                  <a:srgbClr val="05113B"/>
                </a:solidFill>
                <a:latin typeface="Arial MT"/>
                <a:cs typeface="Arial MT"/>
              </a:rPr>
              <a:t> </a:t>
            </a:r>
            <a:r>
              <a:rPr dirty="0" sz="3400">
                <a:solidFill>
                  <a:srgbClr val="0A133D"/>
                </a:solidFill>
                <a:latin typeface="Arial MT"/>
                <a:cs typeface="Arial MT"/>
              </a:rPr>
              <a:t>build</a:t>
            </a:r>
            <a:r>
              <a:rPr dirty="0" sz="3400" spc="130">
                <a:solidFill>
                  <a:srgbClr val="0A133D"/>
                </a:solidFill>
                <a:latin typeface="Arial MT"/>
                <a:cs typeface="Arial MT"/>
              </a:rPr>
              <a:t> </a:t>
            </a:r>
            <a:r>
              <a:rPr dirty="0" sz="3400" spc="-305">
                <a:solidFill>
                  <a:srgbClr val="0A1634"/>
                </a:solidFill>
                <a:latin typeface="Arial MT"/>
                <a:cs typeface="Arial MT"/>
              </a:rPr>
              <a:t>a</a:t>
            </a:r>
            <a:r>
              <a:rPr dirty="0" sz="3400" spc="70">
                <a:solidFill>
                  <a:srgbClr val="0A1634"/>
                </a:solidFill>
                <a:latin typeface="Arial MT"/>
                <a:cs typeface="Arial MT"/>
              </a:rPr>
              <a:t> </a:t>
            </a:r>
            <a:r>
              <a:rPr dirty="0" sz="3400">
                <a:solidFill>
                  <a:srgbClr val="03082D"/>
                </a:solidFill>
                <a:latin typeface="Arial MT"/>
                <a:cs typeface="Arial MT"/>
              </a:rPr>
              <a:t>home</a:t>
            </a:r>
            <a:r>
              <a:rPr dirty="0" sz="3400" spc="250">
                <a:solidFill>
                  <a:srgbClr val="03082D"/>
                </a:solidFill>
                <a:latin typeface="Arial MT"/>
                <a:cs typeface="Arial MT"/>
              </a:rPr>
              <a:t> </a:t>
            </a:r>
            <a:r>
              <a:rPr dirty="0" sz="3400">
                <a:solidFill>
                  <a:srgbClr val="08113A"/>
                </a:solidFill>
                <a:latin typeface="Arial MT"/>
                <a:cs typeface="Arial MT"/>
              </a:rPr>
              <a:t>without</a:t>
            </a:r>
            <a:r>
              <a:rPr dirty="0" sz="3400" spc="260">
                <a:solidFill>
                  <a:srgbClr val="08113A"/>
                </a:solidFill>
                <a:latin typeface="Arial MT"/>
                <a:cs typeface="Arial MT"/>
              </a:rPr>
              <a:t> </a:t>
            </a:r>
            <a:r>
              <a:rPr dirty="0" sz="3400">
                <a:solidFill>
                  <a:srgbClr val="010726"/>
                </a:solidFill>
                <a:latin typeface="Arial MT"/>
                <a:cs typeface="Arial MT"/>
              </a:rPr>
              <a:t>a</a:t>
            </a:r>
            <a:r>
              <a:rPr dirty="0" sz="3400" spc="60">
                <a:solidFill>
                  <a:srgbClr val="010726"/>
                </a:solidFill>
                <a:latin typeface="Arial MT"/>
                <a:cs typeface="Arial MT"/>
              </a:rPr>
              <a:t> </a:t>
            </a:r>
            <a:r>
              <a:rPr dirty="0" sz="3400" spc="-10">
                <a:solidFill>
                  <a:srgbClr val="242424"/>
                </a:solidFill>
                <a:latin typeface="Arial MT"/>
                <a:cs typeface="Arial MT"/>
              </a:rPr>
              <a:t>blueprint.</a:t>
            </a:r>
            <a:endParaRPr sz="3400">
              <a:latin typeface="Arial MT"/>
              <a:cs typeface="Arial MT"/>
            </a:endParaRPr>
          </a:p>
          <a:p>
            <a:pPr algn="ctr" marL="167005">
              <a:lnSpc>
                <a:spcPts val="4025"/>
              </a:lnSpc>
            </a:pPr>
            <a:r>
              <a:rPr dirty="0" sz="3450">
                <a:solidFill>
                  <a:srgbClr val="081136"/>
                </a:solidFill>
                <a:latin typeface="Arial MT"/>
                <a:cs typeface="Arial MT"/>
              </a:rPr>
              <a:t>Don't</a:t>
            </a:r>
            <a:r>
              <a:rPr dirty="0" sz="3450" spc="145">
                <a:solidFill>
                  <a:srgbClr val="081136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0E163D"/>
                </a:solidFill>
                <a:latin typeface="Arial MT"/>
                <a:cs typeface="Arial MT"/>
              </a:rPr>
              <a:t>build</a:t>
            </a:r>
            <a:r>
              <a:rPr dirty="0" sz="3450" spc="145">
                <a:solidFill>
                  <a:srgbClr val="0E163D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111111"/>
                </a:solidFill>
                <a:latin typeface="Arial MT"/>
                <a:cs typeface="Arial MT"/>
              </a:rPr>
              <a:t>software</a:t>
            </a:r>
            <a:r>
              <a:rPr dirty="0" sz="3450" spc="1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030C2D"/>
                </a:solidFill>
                <a:latin typeface="Arial MT"/>
                <a:cs typeface="Arial MT"/>
              </a:rPr>
              <a:t>without</a:t>
            </a:r>
            <a:r>
              <a:rPr dirty="0" sz="3450" spc="254">
                <a:solidFill>
                  <a:srgbClr val="030C2D"/>
                </a:solidFill>
                <a:latin typeface="Arial MT"/>
                <a:cs typeface="Arial MT"/>
              </a:rPr>
              <a:t> </a:t>
            </a:r>
            <a:r>
              <a:rPr dirty="0" sz="3450" spc="-20">
                <a:solidFill>
                  <a:srgbClr val="181818"/>
                </a:solidFill>
                <a:latin typeface="Arial MT"/>
                <a:cs typeface="Arial MT"/>
              </a:rPr>
              <a:t>one.</a:t>
            </a:r>
            <a:endParaRPr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3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4150">
                <a:solidFill>
                  <a:srgbClr val="DD5D16"/>
                </a:solidFill>
                <a:latin typeface="Arial MT"/>
                <a:cs typeface="Arial MT"/>
              </a:rPr>
              <a:t>Use</a:t>
            </a:r>
            <a:r>
              <a:rPr dirty="0" sz="4150" spc="-70">
                <a:solidFill>
                  <a:srgbClr val="DD5D16"/>
                </a:solidFill>
                <a:latin typeface="Arial MT"/>
                <a:cs typeface="Arial MT"/>
              </a:rPr>
              <a:t> </a:t>
            </a:r>
            <a:r>
              <a:rPr dirty="0" sz="4150" spc="150">
                <a:solidFill>
                  <a:srgbClr val="D85213"/>
                </a:solidFill>
                <a:latin typeface="Arial MT"/>
                <a:cs typeface="Arial MT"/>
              </a:rPr>
              <a:t>the</a:t>
            </a:r>
            <a:r>
              <a:rPr dirty="0" sz="4150" spc="-90">
                <a:solidFill>
                  <a:srgbClr val="D85213"/>
                </a:solidFill>
                <a:latin typeface="Arial MT"/>
                <a:cs typeface="Arial MT"/>
              </a:rPr>
              <a:t> </a:t>
            </a:r>
            <a:r>
              <a:rPr dirty="0" sz="4150" spc="170">
                <a:solidFill>
                  <a:srgbClr val="D15216"/>
                </a:solidFill>
                <a:latin typeface="Arial MT"/>
                <a:cs typeface="Arial MT"/>
              </a:rPr>
              <a:t>right</a:t>
            </a:r>
            <a:r>
              <a:rPr dirty="0" sz="4150" spc="75">
                <a:solidFill>
                  <a:srgbClr val="D15216"/>
                </a:solidFill>
                <a:latin typeface="Arial MT"/>
                <a:cs typeface="Arial MT"/>
              </a:rPr>
              <a:t> </a:t>
            </a:r>
            <a:r>
              <a:rPr dirty="0" sz="4150" spc="135">
                <a:solidFill>
                  <a:srgbClr val="D84F0E"/>
                </a:solidFill>
                <a:latin typeface="Arial MT"/>
                <a:cs typeface="Arial MT"/>
              </a:rPr>
              <a:t>blueprint</a:t>
            </a:r>
            <a:r>
              <a:rPr dirty="0" sz="4150" spc="370">
                <a:solidFill>
                  <a:srgbClr val="D84F0E"/>
                </a:solidFill>
                <a:latin typeface="Arial MT"/>
                <a:cs typeface="Arial MT"/>
              </a:rPr>
              <a:t> </a:t>
            </a:r>
            <a:r>
              <a:rPr dirty="0" sz="4150" spc="110">
                <a:solidFill>
                  <a:srgbClr val="D85615"/>
                </a:solidFill>
                <a:latin typeface="Arial MT"/>
                <a:cs typeface="Arial MT"/>
              </a:rPr>
              <a:t>for</a:t>
            </a:r>
            <a:r>
              <a:rPr dirty="0" sz="4150" spc="120">
                <a:solidFill>
                  <a:srgbClr val="D85615"/>
                </a:solidFill>
                <a:latin typeface="Arial MT"/>
                <a:cs typeface="Arial MT"/>
              </a:rPr>
              <a:t> </a:t>
            </a:r>
            <a:r>
              <a:rPr dirty="0" sz="4150" spc="150">
                <a:solidFill>
                  <a:srgbClr val="D44D0F"/>
                </a:solidFill>
                <a:latin typeface="Arial MT"/>
                <a:cs typeface="Arial MT"/>
              </a:rPr>
              <a:t>the</a:t>
            </a:r>
            <a:r>
              <a:rPr dirty="0" sz="4150" spc="-90">
                <a:solidFill>
                  <a:srgbClr val="D44D0F"/>
                </a:solidFill>
                <a:latin typeface="Arial MT"/>
                <a:cs typeface="Arial MT"/>
              </a:rPr>
              <a:t> </a:t>
            </a:r>
            <a:r>
              <a:rPr dirty="0" sz="4150" spc="170">
                <a:solidFill>
                  <a:srgbClr val="D45416"/>
                </a:solidFill>
                <a:latin typeface="Arial MT"/>
                <a:cs typeface="Arial MT"/>
              </a:rPr>
              <a:t>right</a:t>
            </a:r>
            <a:r>
              <a:rPr dirty="0" sz="4150" spc="120">
                <a:solidFill>
                  <a:srgbClr val="D45416"/>
                </a:solidFill>
                <a:latin typeface="Arial MT"/>
                <a:cs typeface="Arial MT"/>
              </a:rPr>
              <a:t> </a:t>
            </a:r>
            <a:r>
              <a:rPr dirty="0" sz="4150" spc="95">
                <a:solidFill>
                  <a:srgbClr val="D45011"/>
                </a:solidFill>
                <a:latin typeface="Arial MT"/>
                <a:cs typeface="Arial MT"/>
              </a:rPr>
              <a:t>stage</a:t>
            </a:r>
            <a:r>
              <a:rPr dirty="0" sz="4150" spc="55">
                <a:solidFill>
                  <a:srgbClr val="D45011"/>
                </a:solidFill>
                <a:latin typeface="Arial MT"/>
                <a:cs typeface="Arial MT"/>
              </a:rPr>
              <a:t> </a:t>
            </a:r>
            <a:r>
              <a:rPr dirty="0" sz="4150" spc="65">
                <a:solidFill>
                  <a:srgbClr val="D85413"/>
                </a:solidFill>
                <a:latin typeface="Arial MT"/>
                <a:cs typeface="Arial MT"/>
              </a:rPr>
              <a:t>of</a:t>
            </a:r>
            <a:r>
              <a:rPr dirty="0" sz="4150" spc="125">
                <a:solidFill>
                  <a:srgbClr val="D85413"/>
                </a:solidFill>
                <a:latin typeface="Arial MT"/>
                <a:cs typeface="Arial MT"/>
              </a:rPr>
              <a:t> </a:t>
            </a:r>
            <a:r>
              <a:rPr dirty="0" sz="4150" spc="165">
                <a:solidFill>
                  <a:srgbClr val="D65211"/>
                </a:solidFill>
                <a:latin typeface="Arial MT"/>
                <a:cs typeface="Arial MT"/>
              </a:rPr>
              <a:t>construction.</a:t>
            </a:r>
            <a:endParaRPr sz="4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2026-01-28T12:35:30Z</dcterms:created>
  <dcterms:modified xsi:type="dcterms:W3CDTF">2026-01-28T12:35:30Z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LastSaved">
    <vt:filetime>2026-01-28T00:00:00Z</vt:filetime>
  </property>
</Properties>
</file>